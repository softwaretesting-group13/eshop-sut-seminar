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mn-lt"/>
              </a:defRPr>
            </a:pPr>
            <a:r>
              <a:rPr sz="1600" b="0" i="0" u="none" strike="noStrike">
                <a:solidFill>
                  <a:srgbClr val="000000"/>
                </a:solidFill>
                <a:latin typeface="+mn-lt"/>
              </a:rPr>
              <a:t>Thời gian (giây)</a:t>
            </a:r>
          </a:p>
        </c:rich>
      </c:tx>
      <c:layout/>
      <c:overlay val="0"/>
    </c:title>
    <c:autoTitleDeleted val="0"/>
    <c:plotArea>
      <c:layout/>
      <c:barChart>
        <c:barDir val="col"/>
        <c:grouping val="clustered"/>
        <c:varyColors val="0"/>
        <c:ser>
          <c:idx val="0"/>
          <c:order val="0"/>
          <c:tx>
            <c:strRef>
              <c:f>Sheet1!$B$1</c:f>
              <c:strCache>
                <c:ptCount val="1"/>
                <c:pt idx="0">
                  <c:v>Trước (không cache / đọc log thủ công)</c:v>
                </c:pt>
              </c:strCache>
            </c:strRef>
          </c:tx>
          <c:spPr>
            <a:solidFill>
              <a:srgbClr val="000000"/>
            </a:solidFill>
            <a:effectLst/>
          </c:spPr>
          <c:invertIfNegative val="0"/>
          <c:dLbls>
            <c:numFmt formatCode="#,##0" sourceLinked="0"/>
            <c:txPr>
              <a:bodyPr/>
              <a:lstStyle/>
              <a:p>
                <a:pPr>
                  <a:defRPr b="0" i="0" strike="noStrike" sz="1400" u="none">
                    <a:solidFill>
                      <a:srgbClr val="000000"/>
                    </a:solidFill>
                    <a:latin typeface="+mn-lt"/>
                  </a:defRPr>
                </a:pPr>
              </a:p>
            </c:txPr>
            <c:showLegendKey val="0"/>
            <c:showVal val="1"/>
            <c:showCatName val="0"/>
            <c:showSerName val="0"/>
            <c:showPercent val="0"/>
            <c:showBubbleSize val="0"/>
            <c:showLeaderLines val="0"/>
          </c:dLbls>
          <c:cat>
            <c:multiLvlStrRef>
              <c:f>Sheet1!$A$2:$A$3</c:f>
              <c:multiLvlStrCache>
                <c:ptCount val="2"/>
                <c:lvl>
                  <c:pt idx="0">
                    <c:v>Cài đặt dependency</c:v>
                  </c:pt>
                  <c:pt idx="1">
                    <c:v>Triage log lỗi</c:v>
                  </c:pt>
                </c:lvl>
              </c:multiLvlStrCache>
            </c:multiLvlStrRef>
          </c:cat>
          <c:val>
            <c:numRef>
              <c:f>Sheet1!$B$2:$B$3</c:f>
              <c:numCache>
                <c:formatCode>General</c:formatCode>
                <c:ptCount val="2"/>
                <c:pt idx="0">
                  <c:v>60</c:v>
                </c:pt>
                <c:pt idx="1">
                  <c:v>120</c:v>
                </c:pt>
              </c:numCache>
            </c:numRef>
          </c:val>
        </c:ser>
        <c:ser>
          <c:idx val="1"/>
          <c:order val="1"/>
          <c:tx>
            <c:strRef>
              <c:f>Sheet1!$C$1</c:f>
              <c:strCache>
                <c:ptCount val="1"/>
                <c:pt idx="0">
                  <c:v>Sau (có cache / AI Log Triage)</c:v>
                </c:pt>
              </c:strCache>
            </c:strRef>
          </c:tx>
          <c:spPr>
            <a:solidFill>
              <a:srgbClr val="A6A6A6"/>
            </a:solidFill>
            <a:effectLst/>
          </c:spPr>
          <c:invertIfNegative val="0"/>
          <c:dLbls>
            <c:numFmt formatCode="#,##0" sourceLinked="0"/>
            <c:txPr>
              <a:bodyPr/>
              <a:lstStyle/>
              <a:p>
                <a:pPr>
                  <a:defRPr b="0" i="0" strike="noStrike" sz="1400" u="none">
                    <a:solidFill>
                      <a:srgbClr val="000000"/>
                    </a:solidFill>
                    <a:latin typeface="+mn-lt"/>
                  </a:defRPr>
                </a:pPr>
              </a:p>
            </c:txPr>
            <c:showLegendKey val="0"/>
            <c:showVal val="1"/>
            <c:showCatName val="0"/>
            <c:showSerName val="0"/>
            <c:showPercent val="0"/>
            <c:showBubbleSize val="0"/>
            <c:showLeaderLines val="0"/>
          </c:dLbls>
          <c:cat>
            <c:multiLvlStrRef>
              <c:f>Sheet1!$A$2:$A$3</c:f>
              <c:multiLvlStrCache>
                <c:ptCount val="2"/>
                <c:lvl>
                  <c:pt idx="0">
                    <c:v>Cài đặt dependency</c:v>
                  </c:pt>
                  <c:pt idx="1">
                    <c:v>Triage log lỗi</c:v>
                  </c:pt>
                </c:lvl>
              </c:multiLvlStrCache>
            </c:multiLvlStrRef>
          </c:cat>
          <c:val>
            <c:numRef>
              <c:f>Sheet1!$C$2:$C$3</c:f>
              <c:numCache>
                <c:formatCode>General</c:formatCode>
                <c:ptCount val="2"/>
                <c:pt idx="0">
                  <c:v>5</c:v>
                </c:pt>
                <c:pt idx="1">
                  <c:v>15</c:v>
                </c:pt>
              </c:numCache>
            </c:numRef>
          </c:val>
        </c:ser>
        <c:dLbls>
          <c:numFmt formatCode="#,##0" sourceLinked="0"/>
          <c:txPr>
            <a:bodyPr/>
            <a:lstStyle/>
            <a:p>
              <a:pPr>
                <a:defRPr b="0" i="0" strike="noStrike" sz="14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140"/>
        </c:scaling>
        <c:delete val="0"/>
        <c:axPos val="l"/>
        <c:majorGridlines>
          <c:spPr>
            <a:ln w="6350"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0000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nhóm và chủ đề T07. Seminar áp dụng CI/CD như hạ tầng điều phối kiểm thử tự động cho hệ thống EShop.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bài toán Integration Hell, nguyên lý Shift-Left và vai trò của CI/CD như hạ tầng Test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thành phần của EShop. Seminar tập trung vào Backend API và module coupon (FR-09), kiểm thử bằng Jest.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thành phần kiến trúc của Test Harness và cách EShop hiện thực từng thành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pipeline từ commit đến merge. Quality Gate là chốt chặn: test fail hoặc coverage thấp thì Branch Protection khóa nút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Khảo sát theo 5 tiêu chí của môn học. Chọn GitHub Actions làm trọng tâm, Jest và LLM Log Triage làm công cụ hỗ trợ.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công cụ có ba kịch bản demo. Kịch bản test.each sẽ lộ lỗi coupon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thành phần kiểm thử áp dụng trong CI/CD của EShop: Record and Playback, Data-Driven,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Failure Mode 2: công thức coupon percent trong server.js dùng (1 - discount_value). Với SAVE10 (discount_value = 10) thì (1 - 10) = -9, nên discount_amount = 500,000 x (-9) = -4,500,000 và final_amount = 500,000 - (-4,500,000) = 5,000,000, lớn hơn cả tổng đơn. Công thức đúng theo FR-09: total_amount x discount_value / 100, cho giảm 50,000 và thành tiền 450,000. Lỗi này lộ ra khi test.each so sánh discount_amount với giá trị kỳ vọng; ca đơn lẻ không kiểm tra số tiền dễ bỏ sót.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 ca chia thành 6 nhóm: ngưỡng tổng đơn C3 (6 ca: SAVE10 và BIGBUY, mỗi mã 3 điểm quanh ngưỡng), hạn dùng C2 (3 ca), giá trị percent (4 ca), fixed so với tổng đơn (3 ca), tổng đơn bất thường (3 ca) và giới hạn int32 (2 ca). Một hàm test.each duy nhất chạy toàn bộ bảng dữ liệu trên POST /api/apply-coupon, tách logic kiểm thử khỏi dữ liệu. Với ca fixed 99,999: công thức cho final = -1, nên kỳ vọng là final không âm.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pipeline fail, ai_triage.py gửi 100 dòng log cuối cho LLM và nhận lại phân tích nguyên nhân. Thời gian ~2 phút và ~15 giây là ước tính theo kế hoạch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ước tính theo kế hoạch demo: cache 60s xuống 5s, triage thủ công 2 phút xuống 15 giây. Thay bằng số đo thực tế sau khi chạy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Gate yêu cầu line coverage module coupon trên 70%. Ca bổ sung kiểm tra phân quyền guest và user khi áp mã.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các mốc chính của video Demo_Screencast.mp4. Nhớ thay link thật vào khung bên phải.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bài học chính, các hạn chế và link repo. Mở phần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46304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3" name="Text 0"/>
          <p:cNvSpPr/>
          <p:nvPr>
            <p:ph idx="101" type="body" hasCustomPrompt="1"/>
          </p:nvPr>
        </p:nvSpPr>
        <p:spPr>
          <a:xfrm>
            <a:off x="731520" y="3200400"/>
            <a:ext cx="10698480" cy="822960"/>
          </a:xfrm>
          <a:prstGeom prst="rect">
            <a:avLst/>
          </a:prstGeom>
          <a:noFill/>
          <a:ln/>
        </p:spPr>
        <p:txBody>
          <a:bodyPr wrap="square" rtlCol="0"/>
          <a:lstStyle>
            <a:lvl1pPr algn="l" indent="0" marL="0">
              <a:buNone/>
              <a:defRPr lang="en-US" sz="2400" dirty="0">
                <a:solidFill>
                  <a:schemeClr val="tx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algn="l" indent="0" marL="0">
              <a:buNone/>
            </a:pPr>
            <a:r>
              <a:rPr lang="en-US" sz="1000" dirty="0">
                <a:solidFill>
                  <a:schemeClr val="tx1"/>
                </a:solidFill>
              </a:rPr>
              <a:t>Nhóm 13 – CI/CD &amp; Test Harness Engineering</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SoftwareTesting-Group13/eshop-sut-seminar" TargetMode="Externa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463040"/>
          </a:xfrm>
          <a:prstGeom prst="rect">
            <a:avLst/>
          </a:prstGeom>
          <a:noFill/>
          <a:ln/>
        </p:spPr>
        <p:txBody>
          <a:bodyPr wrap="square" rtlCol="0" anchor="b"/>
          <a:lstStyle/>
          <a:p>
            <a:pPr algn="l" indent="0" marL="0">
              <a:buNone/>
            </a:pPr>
            <a:r>
              <a:rPr lang="en-US" sz="4400" b="1" dirty="0">
                <a:solidFill>
                  <a:schemeClr val="tx1"/>
                </a:solidFill>
              </a:rPr>
              <a:t>CI/CD &amp; Test Harness Engineering</a:t>
            </a:r>
            <a:endParaRPr lang="en-US" sz="4400" dirty="0"/>
          </a:p>
        </p:txBody>
      </p:sp>
      <p:sp>
        <p:nvSpPr>
          <p:cNvPr id="3" name="Text 0"/>
          <p:cNvSpPr/>
          <p:nvPr>
            <p:ph idx="101" type="body" hasCustomPrompt="1"/>
          </p:nvPr>
        </p:nvSpPr>
        <p:spPr>
          <a:xfrm>
            <a:off x="731520" y="3200400"/>
            <a:ext cx="10698480" cy="822960"/>
          </a:xfrm>
          <a:prstGeom prst="rect">
            <a:avLst/>
          </a:prstGeom>
          <a:noFill/>
          <a:ln/>
        </p:spPr>
        <p:txBody>
          <a:bodyPr wrap="square" rtlCol="0" anchor="t"/>
          <a:lstStyle/>
          <a:p>
            <a:pPr algn="l" indent="0" marL="0">
              <a:buNone/>
            </a:pPr>
            <a:r>
              <a:rPr lang="en-US" sz="2400" dirty="0">
                <a:solidFill>
                  <a:schemeClr val="tx1"/>
                </a:solidFill>
              </a:rPr>
              <a:t>Seminar T07 – Kiểm thử tự động trên hệ thống EShop</a:t>
            </a:r>
            <a:endParaRPr lang="en-US" sz="2400" dirty="0"/>
          </a:p>
        </p:txBody>
      </p:sp>
      <p:sp>
        <p:nvSpPr>
          <p:cNvPr id="4" name="Text 2"/>
          <p:cNvSpPr txBox="1"/>
          <p:nvPr/>
        </p:nvSpPr>
        <p:spPr>
          <a:xfrm>
            <a:off x="731520" y="4297680"/>
            <a:ext cx="10698480" cy="173736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Môn Kiểm thử phần mềm – lớp Testing-CQ2023-3-LQVu</a:t>
            </a:r>
            <a:endParaRPr lang="en-US" sz="1600" dirty="0"/>
          </a:p>
          <a:p>
            <a:pPr indent="0" marL="0">
              <a:spcAft>
                <a:spcPts val="400"/>
              </a:spcAft>
              <a:buNone/>
            </a:pPr>
            <a:r>
              <a:rPr lang="en-US" sz="1600" dirty="0">
                <a:solidFill>
                  <a:schemeClr val="tx1"/>
                </a:solidFill>
              </a:rPr>
              <a:t>Nhóm 13: 23120102 Nguyễn Ngọc Minh Tuấn · 23120223 Dương Nhật Cường</a:t>
            </a:r>
            <a:endParaRPr lang="en-US" sz="1600" dirty="0"/>
          </a:p>
          <a:p>
            <a:pPr indent="0" marL="0">
              <a:spcAft>
                <a:spcPts val="400"/>
              </a:spcAft>
              <a:buNone/>
            </a:pPr>
            <a:r>
              <a:rPr lang="en-US" sz="1600" dirty="0">
                <a:solidFill>
                  <a:schemeClr val="tx1"/>
                </a:solidFill>
              </a:rPr>
              <a:t>23120225 Trần Gia Cường · 23120273 Nguyễn Gia Huy</a:t>
            </a:r>
            <a:endParaRPr lang="en-US" sz="1600" dirty="0"/>
          </a:p>
          <a:p>
            <a:pPr indent="0" marL="0">
              <a:spcAft>
                <a:spcPts val="400"/>
              </a:spcAft>
              <a:buNone/>
            </a:pPr>
            <a:r>
              <a:rPr lang="en-US" sz="1600" dirty="0">
                <a:solidFill>
                  <a:schemeClr val="tx1"/>
                </a:solidFill>
              </a:rPr>
              <a:t>Giảng viên: TS. Lâm Quang Vũ, TS. Trần Duy Hoàng, ThS. Trương Phước Lộc, ThS. Hồ Tuấn Thanh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Vì sao cần CI/CD trong kiểm thử</a:t>
            </a:r>
            <a:endParaRPr lang="en-US" sz="3600" dirty="0"/>
          </a:p>
        </p:txBody>
      </p:sp>
      <p:sp>
        <p:nvSpPr>
          <p:cNvPr id="4" name="Text 1"/>
          <p:cNvSpPr txBox="1"/>
          <p:nvPr/>
        </p:nvSpPr>
        <p:spPr>
          <a:xfrm>
            <a:off x="640080" y="1554480"/>
            <a:ext cx="731520" cy="731520"/>
          </a:xfrm>
          <a:prstGeom prst="ellipse">
            <a:avLst/>
          </a:prstGeom>
          <a:solidFill>
            <a:schemeClr val="tx1"/>
          </a:solid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5" name="Text 2"/>
          <p:cNvSpPr txBox="1"/>
          <p:nvPr/>
        </p:nvSpPr>
        <p:spPr>
          <a:xfrm>
            <a:off x="1645920" y="1463040"/>
            <a:ext cx="9875520" cy="914400"/>
          </a:xfrm>
          <a:prstGeom prst="rect">
            <a:avLst/>
          </a:prstGeom>
          <a:noFill/>
          <a:ln/>
        </p:spPr>
        <p:txBody>
          <a:bodyPr wrap="square" lIns="0" tIns="0" rIns="0" bIns="0" rtlCol="0" anchor="ctr"/>
          <a:lstStyle/>
          <a:p>
            <a:pPr indent="0" marL="0">
              <a:buNone/>
            </a:pPr>
            <a:r>
              <a:rPr lang="en-US" sz="2200" b="1" dirty="0">
                <a:solidFill>
                  <a:schemeClr val="tx1"/>
                </a:solidFill>
              </a:rPr>
              <a:t>Integration Hell</a:t>
            </a:r>
            <a:endParaRPr lang="en-US" sz="2200" dirty="0"/>
          </a:p>
          <a:p>
            <a:pPr indent="0" marL="0">
              <a:buNone/>
            </a:pPr>
            <a:r>
              <a:rPr lang="en-US" sz="1600" dirty="0">
                <a:solidFill>
                  <a:schemeClr val="tx1"/>
                </a:solidFill>
              </a:rPr>
              <a:t>Tích hợp muộn khiến lỗi dồn về cuối dự án, khó truy vết và tốn chi phí sửa.</a:t>
            </a:r>
            <a:endParaRPr lang="en-US" sz="2200" dirty="0"/>
          </a:p>
        </p:txBody>
      </p:sp>
      <p:sp>
        <p:nvSpPr>
          <p:cNvPr id="6" name="Text 3"/>
          <p:cNvSpPr txBox="1"/>
          <p:nvPr/>
        </p:nvSpPr>
        <p:spPr>
          <a:xfrm>
            <a:off x="640080" y="2743200"/>
            <a:ext cx="731520" cy="731520"/>
          </a:xfrm>
          <a:prstGeom prst="ellipse">
            <a:avLst/>
          </a:prstGeom>
          <a:solidFill>
            <a:schemeClr val="tx1"/>
          </a:solid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7" name="Text 4"/>
          <p:cNvSpPr txBox="1"/>
          <p:nvPr/>
        </p:nvSpPr>
        <p:spPr>
          <a:xfrm>
            <a:off x="1645920" y="2651760"/>
            <a:ext cx="9875520" cy="914400"/>
          </a:xfrm>
          <a:prstGeom prst="rect">
            <a:avLst/>
          </a:prstGeom>
          <a:noFill/>
          <a:ln/>
        </p:spPr>
        <p:txBody>
          <a:bodyPr wrap="square" lIns="0" tIns="0" rIns="0" bIns="0" rtlCol="0" anchor="ctr"/>
          <a:lstStyle/>
          <a:p>
            <a:pPr indent="0" marL="0">
              <a:buNone/>
            </a:pPr>
            <a:r>
              <a:rPr lang="en-US" sz="2200" b="1" dirty="0">
                <a:solidFill>
                  <a:schemeClr val="tx1"/>
                </a:solidFill>
              </a:rPr>
              <a:t>Shift-Left Testing</a:t>
            </a:r>
            <a:endParaRPr lang="en-US" sz="2200" dirty="0"/>
          </a:p>
          <a:p>
            <a:pPr indent="0" marL="0">
              <a:buNone/>
            </a:pPr>
            <a:r>
              <a:rPr lang="en-US" sz="1600" dirty="0">
                <a:solidFill>
                  <a:schemeClr val="tx1"/>
                </a:solidFill>
              </a:rPr>
              <a:t>Unit Test chạy tự động ở mỗi commit và Pull Request, lỗi bị chặn sớm (Fail-Fast).</a:t>
            </a:r>
            <a:endParaRPr lang="en-US" sz="2200" dirty="0"/>
          </a:p>
        </p:txBody>
      </p:sp>
      <p:sp>
        <p:nvSpPr>
          <p:cNvPr id="8" name="Text 5"/>
          <p:cNvSpPr txBox="1"/>
          <p:nvPr/>
        </p:nvSpPr>
        <p:spPr>
          <a:xfrm>
            <a:off x="640080" y="3931920"/>
            <a:ext cx="731520" cy="731520"/>
          </a:xfrm>
          <a:prstGeom prst="ellipse">
            <a:avLst/>
          </a:prstGeom>
          <a:solidFill>
            <a:schemeClr val="tx1"/>
          </a:solid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9" name="Text 6"/>
          <p:cNvSpPr txBox="1"/>
          <p:nvPr/>
        </p:nvSpPr>
        <p:spPr>
          <a:xfrm>
            <a:off x="1645920" y="3840480"/>
            <a:ext cx="9875520" cy="914400"/>
          </a:xfrm>
          <a:prstGeom prst="rect">
            <a:avLst/>
          </a:prstGeom>
          <a:noFill/>
          <a:ln/>
        </p:spPr>
        <p:txBody>
          <a:bodyPr wrap="square" lIns="0" tIns="0" rIns="0" bIns="0" rtlCol="0" anchor="ctr"/>
          <a:lstStyle/>
          <a:p>
            <a:pPr indent="0" marL="0">
              <a:buNone/>
            </a:pPr>
            <a:r>
              <a:rPr lang="en-US" sz="2200" b="1" dirty="0">
                <a:solidFill>
                  <a:schemeClr val="tx1"/>
                </a:solidFill>
              </a:rPr>
              <a:t>CI/CD là hạ tầng Test Harness</a:t>
            </a:r>
            <a:endParaRPr lang="en-US" sz="2200" dirty="0"/>
          </a:p>
          <a:p>
            <a:pPr indent="0" marL="0">
              <a:buNone/>
            </a:pPr>
            <a:r>
              <a:rPr lang="en-US" sz="1600" dirty="0">
                <a:solidFill>
                  <a:schemeClr val="tx1"/>
                </a:solidFill>
              </a:rPr>
              <a:t>Runner sạch, nạp fixtures, cô lập môi trường và điều phối việc chạy test.</a:t>
            </a:r>
            <a:endParaRPr lang="en-US" sz="2200" dirty="0"/>
          </a:p>
        </p:txBody>
      </p:sp>
      <p:sp>
        <p:nvSpPr>
          <p:cNvPr id="10" name="Text 7"/>
          <p:cNvSpPr txBox="1"/>
          <p:nvPr/>
        </p:nvSpPr>
        <p:spPr>
          <a:xfrm>
            <a:off x="640080" y="5212080"/>
            <a:ext cx="10881360" cy="868680"/>
          </a:xfrm>
          <a:prstGeom prst="rect">
            <a:avLst/>
          </a:prstGeom>
          <a:solidFill>
            <a:schemeClr val="bg2"/>
          </a:solidFill>
          <a:ln w="19050">
            <a:solidFill>
              <a:schemeClr val="tx1"/>
            </a:solidFill>
            <a:prstDash val="solid"/>
          </a:ln>
        </p:spPr>
        <p:txBody>
          <a:bodyPr wrap="square" lIns="76200" tIns="76200" rIns="76200" bIns="7620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Mục tiêu: dựng pipeline GitHub Actions + Jest + AI Log Triage cho backend EShop và chứng minh bằng demo</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Kiến trúc hệ thống EShop (SUT)</a:t>
            </a:r>
            <a:endParaRPr lang="en-US" sz="3600" dirty="0"/>
          </a:p>
        </p:txBody>
      </p:sp>
      <p:sp>
        <p:nvSpPr>
          <p:cNvPr id="4" name="Text 1"/>
          <p:cNvSpPr txBox="1"/>
          <p:nvPr/>
        </p:nvSpPr>
        <p:spPr>
          <a:xfrm>
            <a:off x="822960" y="1463040"/>
            <a:ext cx="3108960" cy="91440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400" dirty="0">
                <a:solidFill>
                  <a:schemeClr val="tx1"/>
                </a:solidFill>
                <a:latin typeface="Arial" pitchFamily="34" charset="0"/>
                <a:ea typeface="Arial" pitchFamily="34" charset="-122"/>
                <a:cs typeface="Arial" pitchFamily="34" charset="-120"/>
              </a:rPr>
              <a:t>Web</a:t>
            </a:r>
            <a:endParaRPr lang="en-US" sz="1400" dirty="0"/>
          </a:p>
          <a:p>
            <a:pPr algn="ctr" indent="0" marL="0">
              <a:buNone/>
            </a:pPr>
            <a:r>
              <a:rPr lang="en-US" sz="1400" dirty="0">
                <a:solidFill>
                  <a:schemeClr val="tx1"/>
                </a:solidFill>
                <a:latin typeface="Arial" pitchFamily="34" charset="0"/>
                <a:ea typeface="Arial" pitchFamily="34" charset="-122"/>
                <a:cs typeface="Arial" pitchFamily="34" charset="-120"/>
              </a:rPr>
              <a:t>React + Vite · :5173</a:t>
            </a:r>
            <a:endParaRPr lang="en-US" sz="1400" dirty="0"/>
          </a:p>
        </p:txBody>
      </p:sp>
      <p:sp>
        <p:nvSpPr>
          <p:cNvPr id="5" name="Text 2"/>
          <p:cNvSpPr txBox="1"/>
          <p:nvPr/>
        </p:nvSpPr>
        <p:spPr>
          <a:xfrm>
            <a:off x="4526280" y="1463040"/>
            <a:ext cx="3108960" cy="91440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400" dirty="0">
                <a:solidFill>
                  <a:schemeClr val="tx1"/>
                </a:solidFill>
                <a:latin typeface="Arial" pitchFamily="34" charset="0"/>
                <a:ea typeface="Arial" pitchFamily="34" charset="-122"/>
                <a:cs typeface="Arial" pitchFamily="34" charset="-120"/>
              </a:rPr>
              <a:t>Web Admin</a:t>
            </a:r>
            <a:endParaRPr lang="en-US" sz="1400" dirty="0"/>
          </a:p>
          <a:p>
            <a:pPr algn="ctr" indent="0" marL="0">
              <a:buNone/>
            </a:pPr>
            <a:r>
              <a:rPr lang="en-US" sz="1400" dirty="0">
                <a:solidFill>
                  <a:schemeClr val="tx1"/>
                </a:solidFill>
                <a:latin typeface="Arial" pitchFamily="34" charset="0"/>
                <a:ea typeface="Arial" pitchFamily="34" charset="-122"/>
                <a:cs typeface="Arial" pitchFamily="34" charset="-120"/>
              </a:rPr>
              <a:t>React + Vite · :5174</a:t>
            </a:r>
            <a:endParaRPr lang="en-US" sz="1400" dirty="0"/>
          </a:p>
        </p:txBody>
      </p:sp>
      <p:sp>
        <p:nvSpPr>
          <p:cNvPr id="6" name="Text 3"/>
          <p:cNvSpPr txBox="1"/>
          <p:nvPr/>
        </p:nvSpPr>
        <p:spPr>
          <a:xfrm>
            <a:off x="8229600" y="1463040"/>
            <a:ext cx="3108960" cy="91440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400" dirty="0">
                <a:solidFill>
                  <a:schemeClr val="tx1"/>
                </a:solidFill>
                <a:latin typeface="Arial" pitchFamily="34" charset="0"/>
                <a:ea typeface="Arial" pitchFamily="34" charset="-122"/>
                <a:cs typeface="Arial" pitchFamily="34" charset="-120"/>
              </a:rPr>
              <a:t>Mobile App</a:t>
            </a:r>
            <a:endParaRPr lang="en-US" sz="1400" dirty="0"/>
          </a:p>
          <a:p>
            <a:pPr algn="ctr" indent="0" marL="0">
              <a:buNone/>
            </a:pPr>
            <a:r>
              <a:rPr lang="en-US" sz="1400" dirty="0">
                <a:solidFill>
                  <a:schemeClr val="tx1"/>
                </a:solidFill>
                <a:latin typeface="Arial" pitchFamily="34" charset="0"/>
                <a:ea typeface="Arial" pitchFamily="34" charset="-122"/>
                <a:cs typeface="Arial" pitchFamily="34" charset="-120"/>
              </a:rPr>
              <a:t>React Native + Expo</a:t>
            </a:r>
            <a:endParaRPr lang="en-US" sz="1400" dirty="0"/>
          </a:p>
        </p:txBody>
      </p:sp>
      <p:sp>
        <p:nvSpPr>
          <p:cNvPr id="7" name="Text 4"/>
          <p:cNvSpPr txBox="1"/>
          <p:nvPr/>
        </p:nvSpPr>
        <p:spPr>
          <a:xfrm>
            <a:off x="3566160" y="3291840"/>
            <a:ext cx="5029200" cy="1097280"/>
          </a:xfrm>
          <a:prstGeom prst="rect">
            <a:avLst/>
          </a:prstGeom>
          <a:solidFill>
            <a:schemeClr val="bg2"/>
          </a:solidFill>
          <a:ln w="31750">
            <a:solidFill>
              <a:schemeClr val="tx1"/>
            </a:solidFill>
            <a:prstDash val="solid"/>
          </a:ln>
        </p:spPr>
        <p:txBody>
          <a:bodyPr wrap="square" lIns="76200" tIns="76200" rIns="76200" bIns="7620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Backend API</a:t>
            </a:r>
            <a:endParaRPr lang="en-US" sz="1600" dirty="0"/>
          </a:p>
          <a:p>
            <a:pPr algn="ctr" indent="0" marL="0">
              <a:buNone/>
            </a:pPr>
            <a:r>
              <a:rPr lang="en-US" sz="1600" b="1" dirty="0">
                <a:solidFill>
                  <a:schemeClr val="tx1"/>
                </a:solidFill>
                <a:latin typeface="Arial" pitchFamily="34" charset="0"/>
                <a:ea typeface="Arial" pitchFamily="34" charset="-122"/>
                <a:cs typeface="Arial" pitchFamily="34" charset="-120"/>
              </a:rPr>
              <a:t>Node.js + Express · :3000</a:t>
            </a:r>
            <a:endParaRPr lang="en-US" sz="1600" dirty="0"/>
          </a:p>
        </p:txBody>
      </p:sp>
      <p:sp>
        <p:nvSpPr>
          <p:cNvPr id="8" name="Shape 5"/>
          <p:cNvSpPr/>
          <p:nvPr/>
        </p:nvSpPr>
        <p:spPr>
          <a:xfrm>
            <a:off x="2377440" y="2377440"/>
            <a:ext cx="1920240" cy="914400"/>
          </a:xfrm>
          <a:prstGeom prst="line">
            <a:avLst/>
          </a:prstGeom>
          <a:noFill/>
          <a:ln w="22225">
            <a:solidFill>
              <a:schemeClr val="tx1"/>
            </a:solidFill>
            <a:prstDash val="solid"/>
            <a:tailEnd type="triangle"/>
          </a:ln>
        </p:spPr>
      </p:sp>
      <p:sp>
        <p:nvSpPr>
          <p:cNvPr id="9" name="Shape 6"/>
          <p:cNvSpPr/>
          <p:nvPr/>
        </p:nvSpPr>
        <p:spPr>
          <a:xfrm>
            <a:off x="6080760" y="2377440"/>
            <a:ext cx="0" cy="914400"/>
          </a:xfrm>
          <a:prstGeom prst="line">
            <a:avLst/>
          </a:prstGeom>
          <a:noFill/>
          <a:ln w="22225">
            <a:solidFill>
              <a:schemeClr val="tx1"/>
            </a:solidFill>
            <a:prstDash val="solid"/>
            <a:tailEnd type="triangle"/>
          </a:ln>
        </p:spPr>
      </p:sp>
      <p:sp>
        <p:nvSpPr>
          <p:cNvPr id="10" name="Shape 7"/>
          <p:cNvSpPr/>
          <p:nvPr/>
        </p:nvSpPr>
        <p:spPr>
          <a:xfrm flipH="1">
            <a:off x="7863840" y="2377440"/>
            <a:ext cx="1920240" cy="914400"/>
          </a:xfrm>
          <a:prstGeom prst="line">
            <a:avLst/>
          </a:prstGeom>
          <a:noFill/>
          <a:ln w="22225">
            <a:solidFill>
              <a:schemeClr val="tx1"/>
            </a:solidFill>
            <a:prstDash val="solid"/>
            <a:tailEnd type="triangle"/>
          </a:ln>
        </p:spPr>
      </p:sp>
      <p:sp>
        <p:nvSpPr>
          <p:cNvPr id="11" name="Text 8"/>
          <p:cNvSpPr txBox="1"/>
          <p:nvPr/>
        </p:nvSpPr>
        <p:spPr>
          <a:xfrm>
            <a:off x="4572000" y="5029200"/>
            <a:ext cx="3017520" cy="86868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400" dirty="0">
                <a:solidFill>
                  <a:schemeClr val="tx1"/>
                </a:solidFill>
                <a:latin typeface="Arial" pitchFamily="34" charset="0"/>
                <a:ea typeface="Arial" pitchFamily="34" charset="-122"/>
                <a:cs typeface="Arial" pitchFamily="34" charset="-120"/>
              </a:rPr>
              <a:t>SQLite</a:t>
            </a:r>
            <a:endParaRPr lang="en-US" sz="1400" dirty="0"/>
          </a:p>
          <a:p>
            <a:pPr algn="ctr" indent="0" marL="0">
              <a:buNone/>
            </a:pPr>
            <a:r>
              <a:rPr lang="en-US" sz="1400" dirty="0">
                <a:solidFill>
                  <a:schemeClr val="tx1"/>
                </a:solidFill>
                <a:latin typeface="Arial" pitchFamily="34" charset="0"/>
                <a:ea typeface="Arial" pitchFamily="34" charset="-122"/>
                <a:cs typeface="Arial" pitchFamily="34" charset="-120"/>
              </a:rPr>
              <a:t>database.sqlite</a:t>
            </a:r>
            <a:endParaRPr lang="en-US" sz="1400" dirty="0"/>
          </a:p>
        </p:txBody>
      </p:sp>
      <p:sp>
        <p:nvSpPr>
          <p:cNvPr id="12" name="Shape 9"/>
          <p:cNvSpPr/>
          <p:nvPr/>
        </p:nvSpPr>
        <p:spPr>
          <a:xfrm>
            <a:off x="6080760" y="4389120"/>
            <a:ext cx="0" cy="640080"/>
          </a:xfrm>
          <a:prstGeom prst="line">
            <a:avLst/>
          </a:prstGeom>
          <a:noFill/>
          <a:ln w="22225">
            <a:solidFill>
              <a:schemeClr val="tx1"/>
            </a:solidFill>
            <a:prstDash val="solid"/>
            <a:tailEnd type="triangle"/>
          </a:ln>
        </p:spPr>
      </p:sp>
      <p:sp>
        <p:nvSpPr>
          <p:cNvPr id="13" name="Text 10"/>
          <p:cNvSpPr txBox="1"/>
          <p:nvPr/>
        </p:nvSpPr>
        <p:spPr>
          <a:xfrm>
            <a:off x="9144000" y="3383280"/>
            <a:ext cx="2560320" cy="914400"/>
          </a:xfrm>
          <a:prstGeom prst="rect">
            <a:avLst/>
          </a:prstGeom>
          <a:solidFill>
            <a:schemeClr val="bg1"/>
          </a:solidFill>
          <a:ln w="19050">
            <a:solidFill>
              <a:schemeClr val="tx1"/>
            </a:solidFill>
            <a:prstDash val="dash"/>
          </a:ln>
        </p:spPr>
        <p:txBody>
          <a:bodyPr wrap="square" lIns="76200" tIns="76200" rIns="76200" bIns="76200" rtlCol="0" anchor="ctr"/>
          <a:lstStyle/>
          <a:p>
            <a:pPr algn="ctr" indent="0" marL="0">
              <a:buNone/>
            </a:pPr>
            <a:r>
              <a:rPr lang="en-US" sz="1400" dirty="0">
                <a:solidFill>
                  <a:schemeClr val="tx1"/>
                </a:solidFill>
                <a:latin typeface="Arial" pitchFamily="34" charset="0"/>
                <a:ea typeface="Arial" pitchFamily="34" charset="-122"/>
                <a:cs typeface="Arial" pitchFamily="34" charset="-120"/>
              </a:rPr>
              <a:t>Jest</a:t>
            </a:r>
            <a:endParaRPr lang="en-US" sz="1400" dirty="0"/>
          </a:p>
          <a:p>
            <a:pPr algn="ctr" indent="0" marL="0">
              <a:buNone/>
            </a:pPr>
            <a:r>
              <a:rPr lang="en-US" sz="1400" dirty="0">
                <a:solidFill>
                  <a:schemeClr val="tx1"/>
                </a:solidFill>
                <a:latin typeface="Arial" pitchFamily="34" charset="0"/>
                <a:ea typeface="Arial" pitchFamily="34" charset="-122"/>
                <a:cs typeface="Arial" pitchFamily="34" charset="-120"/>
              </a:rPr>
              <a:t>Unit Test (Backend)</a:t>
            </a:r>
            <a:endParaRPr lang="en-US" sz="1400" dirty="0"/>
          </a:p>
        </p:txBody>
      </p:sp>
      <p:sp>
        <p:nvSpPr>
          <p:cNvPr id="14" name="Shape 11"/>
          <p:cNvSpPr/>
          <p:nvPr/>
        </p:nvSpPr>
        <p:spPr>
          <a:xfrm flipH="1">
            <a:off x="8595360" y="3840480"/>
            <a:ext cx="548640" cy="0"/>
          </a:xfrm>
          <a:prstGeom prst="line">
            <a:avLst/>
          </a:prstGeom>
          <a:noFill/>
          <a:ln w="22225">
            <a:solidFill>
              <a:schemeClr val="tx1"/>
            </a:solidFill>
            <a:prstDash val="dash"/>
            <a:tailEnd type="triangle"/>
          </a:ln>
        </p:spPr>
      </p:sp>
      <p:sp>
        <p:nvSpPr>
          <p:cNvPr id="15" name="Text 12"/>
          <p:cNvSpPr txBox="1"/>
          <p:nvPr/>
        </p:nvSpPr>
        <p:spPr>
          <a:xfrm>
            <a:off x="548640" y="5806440"/>
            <a:ext cx="6400800" cy="365760"/>
          </a:xfrm>
          <a:prstGeom prst="rect">
            <a:avLst/>
          </a:prstGeom>
          <a:noFill/>
          <a:ln/>
        </p:spPr>
        <p:txBody>
          <a:bodyPr wrap="square" lIns="0" tIns="0" rIns="0" bIns="0" rtlCol="0" anchor="ctr"/>
          <a:lstStyle/>
          <a:p>
            <a:pPr indent="0" marL="0">
              <a:buNone/>
            </a:pPr>
            <a:r>
              <a:rPr lang="en-US" sz="1400" b="1" dirty="0">
                <a:solidFill>
                  <a:schemeClr val="tx1"/>
                </a:solidFill>
              </a:rPr>
              <a:t>Phạm vi seminar: Backend, module coupon (FR-09)</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Test Harness: 4 thành phần cốt lõi</a:t>
            </a:r>
            <a:endParaRPr lang="en-US" sz="3600" dirty="0"/>
          </a:p>
        </p:txBody>
      </p:sp>
      <p:sp>
        <p:nvSpPr>
          <p:cNvPr id="4" name="Text 1"/>
          <p:cNvSpPr txBox="1"/>
          <p:nvPr/>
        </p:nvSpPr>
        <p:spPr>
          <a:xfrm>
            <a:off x="548640" y="1463040"/>
            <a:ext cx="5394960" cy="2103120"/>
          </a:xfrm>
          <a:prstGeom prst="rect">
            <a:avLst/>
          </a:prstGeom>
          <a:solidFill>
            <a:schemeClr val="bg2"/>
          </a:solidFill>
          <a:ln w="12700">
            <a:solidFill>
              <a:schemeClr val="tx1"/>
            </a:solidFill>
            <a:prstDash val="solid"/>
          </a:ln>
        </p:spPr>
        <p:txBody>
          <a:bodyPr wrap="square" lIns="177800" tIns="177800" rIns="177800" bIns="177800" rtlCol="0" anchor="ctr"/>
          <a:lstStyle/>
          <a:p>
            <a:pPr algn="l" indent="0" marL="0">
              <a:spcAft>
                <a:spcPts val="600"/>
              </a:spcAft>
              <a:buNone/>
            </a:pPr>
            <a:r>
              <a:rPr lang="en-US" sz="2000" b="1" dirty="0">
                <a:solidFill>
                  <a:schemeClr val="tx1"/>
                </a:solidFill>
                <a:latin typeface="Arial" pitchFamily="34" charset="0"/>
                <a:ea typeface="Arial" pitchFamily="34" charset="-122"/>
                <a:cs typeface="Arial" pitchFamily="34" charset="-120"/>
              </a:rPr>
              <a:t>1. Test Execution Engine</a:t>
            </a:r>
            <a:endParaRPr lang="en-US" sz="1400" dirty="0"/>
          </a:p>
          <a:p>
            <a:pPr algn="l" indent="0" marL="0">
              <a:spcAft>
                <a:spcPts val="600"/>
              </a:spcAft>
              <a:buNone/>
            </a:pPr>
            <a:r>
              <a:rPr lang="en-US" sz="1600" dirty="0">
                <a:solidFill>
                  <a:schemeClr val="tx1"/>
                </a:solidFill>
                <a:latin typeface="Arial" pitchFamily="34" charset="0"/>
                <a:ea typeface="Arial" pitchFamily="34" charset="-122"/>
                <a:cs typeface="Arial" pitchFamily="34" charset="-120"/>
              </a:rPr>
              <a:t>Điều phối và thực thi bộ test.</a:t>
            </a:r>
            <a:endParaRPr lang="en-US" sz="1400" dirty="0"/>
          </a:p>
          <a:p>
            <a:pPr algn="l" indent="0" marL="0">
              <a:spcAft>
                <a:spcPts val="600"/>
              </a:spcAft>
              <a:buNone/>
            </a:pPr>
            <a:r>
              <a:rPr lang="en-US" sz="1400" i="1" dirty="0">
                <a:solidFill>
                  <a:schemeClr val="tx1"/>
                </a:solidFill>
                <a:latin typeface="Arial" pitchFamily="34" charset="0"/>
                <a:ea typeface="Arial" pitchFamily="34" charset="-122"/>
                <a:cs typeface="Arial" pitchFamily="34" charset="-120"/>
              </a:rPr>
              <a:t>EShop: Jest (--runInBand)</a:t>
            </a:r>
            <a:endParaRPr lang="en-US" sz="1400" dirty="0"/>
          </a:p>
        </p:txBody>
      </p:sp>
      <p:sp>
        <p:nvSpPr>
          <p:cNvPr id="5" name="Text 2"/>
          <p:cNvSpPr txBox="1"/>
          <p:nvPr/>
        </p:nvSpPr>
        <p:spPr>
          <a:xfrm>
            <a:off x="6217920" y="1463040"/>
            <a:ext cx="5394960" cy="2103120"/>
          </a:xfrm>
          <a:prstGeom prst="rect">
            <a:avLst/>
          </a:prstGeom>
          <a:solidFill>
            <a:schemeClr val="bg2"/>
          </a:solidFill>
          <a:ln w="12700">
            <a:solidFill>
              <a:schemeClr val="tx1"/>
            </a:solidFill>
            <a:prstDash val="solid"/>
          </a:ln>
        </p:spPr>
        <p:txBody>
          <a:bodyPr wrap="square" lIns="177800" tIns="177800" rIns="177800" bIns="177800" rtlCol="0" anchor="ctr"/>
          <a:lstStyle/>
          <a:p>
            <a:pPr algn="l" indent="0" marL="0">
              <a:spcAft>
                <a:spcPts val="600"/>
              </a:spcAft>
              <a:buNone/>
            </a:pPr>
            <a:r>
              <a:rPr lang="en-US" sz="2000" b="1" dirty="0">
                <a:solidFill>
                  <a:schemeClr val="tx1"/>
                </a:solidFill>
                <a:latin typeface="Arial" pitchFamily="34" charset="0"/>
                <a:ea typeface="Arial" pitchFamily="34" charset="-122"/>
                <a:cs typeface="Arial" pitchFamily="34" charset="-120"/>
              </a:rPr>
              <a:t>2. Test Data &amp; Fixtures</a:t>
            </a:r>
            <a:endParaRPr lang="en-US" sz="1400" dirty="0"/>
          </a:p>
          <a:p>
            <a:pPr algn="l" indent="0" marL="0">
              <a:spcAft>
                <a:spcPts val="600"/>
              </a:spcAft>
              <a:buNone/>
            </a:pPr>
            <a:r>
              <a:rPr lang="en-US" sz="1600" dirty="0">
                <a:solidFill>
                  <a:schemeClr val="tx1"/>
                </a:solidFill>
                <a:latin typeface="Arial" pitchFamily="34" charset="0"/>
                <a:ea typeface="Arial" pitchFamily="34" charset="-122"/>
                <a:cs typeface="Arial" pitchFamily="34" charset="-120"/>
              </a:rPr>
              <a:t>Dữ liệu và trạng thái ban đầu cho mỗi lần chạy.</a:t>
            </a:r>
            <a:endParaRPr lang="en-US" sz="1400" dirty="0"/>
          </a:p>
          <a:p>
            <a:pPr algn="l" indent="0" marL="0">
              <a:spcAft>
                <a:spcPts val="600"/>
              </a:spcAft>
              <a:buNone/>
            </a:pPr>
            <a:r>
              <a:rPr lang="en-US" sz="1400" i="1" dirty="0">
                <a:solidFill>
                  <a:schemeClr val="tx1"/>
                </a:solidFill>
                <a:latin typeface="Arial" pitchFamily="34" charset="0"/>
                <a:ea typeface="Arial" pitchFamily="34" charset="-122"/>
                <a:cs typeface="Arial" pitchFamily="34" charset="-120"/>
              </a:rPr>
              <a:t>EShop: initDatabase(), beforeAll / afterAll</a:t>
            </a:r>
            <a:endParaRPr lang="en-US" sz="1400" dirty="0"/>
          </a:p>
        </p:txBody>
      </p:sp>
      <p:sp>
        <p:nvSpPr>
          <p:cNvPr id="6" name="Text 3"/>
          <p:cNvSpPr txBox="1"/>
          <p:nvPr/>
        </p:nvSpPr>
        <p:spPr>
          <a:xfrm>
            <a:off x="548640" y="3840480"/>
            <a:ext cx="5394960" cy="2103120"/>
          </a:xfrm>
          <a:prstGeom prst="rect">
            <a:avLst/>
          </a:prstGeom>
          <a:solidFill>
            <a:schemeClr val="bg2"/>
          </a:solidFill>
          <a:ln w="12700">
            <a:solidFill>
              <a:schemeClr val="tx1"/>
            </a:solidFill>
            <a:prstDash val="solid"/>
          </a:ln>
        </p:spPr>
        <p:txBody>
          <a:bodyPr wrap="square" lIns="177800" tIns="177800" rIns="177800" bIns="177800" rtlCol="0" anchor="ctr"/>
          <a:lstStyle/>
          <a:p>
            <a:pPr algn="l" indent="0" marL="0">
              <a:spcAft>
                <a:spcPts val="600"/>
              </a:spcAft>
              <a:buNone/>
            </a:pPr>
            <a:r>
              <a:rPr lang="en-US" sz="2000" b="1" dirty="0">
                <a:solidFill>
                  <a:schemeClr val="tx1"/>
                </a:solidFill>
                <a:latin typeface="Arial" pitchFamily="34" charset="0"/>
                <a:ea typeface="Arial" pitchFamily="34" charset="-122"/>
                <a:cs typeface="Arial" pitchFamily="34" charset="-120"/>
              </a:rPr>
              <a:t>3. Stubs &amp; Mocks</a:t>
            </a:r>
            <a:endParaRPr lang="en-US" sz="1400" dirty="0"/>
          </a:p>
          <a:p>
            <a:pPr algn="l" indent="0" marL="0">
              <a:spcAft>
                <a:spcPts val="600"/>
              </a:spcAft>
              <a:buNone/>
            </a:pPr>
            <a:r>
              <a:rPr lang="en-US" sz="1600" dirty="0">
                <a:solidFill>
                  <a:schemeClr val="tx1"/>
                </a:solidFill>
                <a:latin typeface="Arial" pitchFamily="34" charset="0"/>
                <a:ea typeface="Arial" pitchFamily="34" charset="-122"/>
                <a:cs typeface="Arial" pitchFamily="34" charset="-120"/>
              </a:rPr>
              <a:t>Giả lập các phụ thuộc để test cô lập và lặp lại được.</a:t>
            </a:r>
            <a:endParaRPr lang="en-US" sz="1400" dirty="0"/>
          </a:p>
          <a:p>
            <a:pPr algn="l" indent="0" marL="0">
              <a:spcAft>
                <a:spcPts val="600"/>
              </a:spcAft>
              <a:buNone/>
            </a:pPr>
            <a:r>
              <a:rPr lang="en-US" sz="1400" i="1" dirty="0">
                <a:solidFill>
                  <a:schemeClr val="tx1"/>
                </a:solidFill>
                <a:latin typeface="Arial" pitchFamily="34" charset="0"/>
                <a:ea typeface="Arial" pitchFamily="34" charset="-122"/>
                <a:cs typeface="Arial" pitchFamily="34" charset="-120"/>
              </a:rPr>
              <a:t>EShop: giả lập thành phần bên ngoài backend</a:t>
            </a:r>
            <a:endParaRPr lang="en-US" sz="1400" dirty="0"/>
          </a:p>
        </p:txBody>
      </p:sp>
      <p:sp>
        <p:nvSpPr>
          <p:cNvPr id="7" name="Text 4"/>
          <p:cNvSpPr txBox="1"/>
          <p:nvPr/>
        </p:nvSpPr>
        <p:spPr>
          <a:xfrm>
            <a:off x="6217920" y="3840480"/>
            <a:ext cx="5394960" cy="2103120"/>
          </a:xfrm>
          <a:prstGeom prst="rect">
            <a:avLst/>
          </a:prstGeom>
          <a:solidFill>
            <a:schemeClr val="bg2"/>
          </a:solidFill>
          <a:ln w="12700">
            <a:solidFill>
              <a:schemeClr val="tx1"/>
            </a:solidFill>
            <a:prstDash val="solid"/>
          </a:ln>
        </p:spPr>
        <p:txBody>
          <a:bodyPr wrap="square" lIns="177800" tIns="177800" rIns="177800" bIns="177800" rtlCol="0" anchor="ctr"/>
          <a:lstStyle/>
          <a:p>
            <a:pPr algn="l" indent="0" marL="0">
              <a:spcAft>
                <a:spcPts val="600"/>
              </a:spcAft>
              <a:buNone/>
            </a:pPr>
            <a:r>
              <a:rPr lang="en-US" sz="2000" b="1" dirty="0">
                <a:solidFill>
                  <a:schemeClr val="tx1"/>
                </a:solidFill>
                <a:latin typeface="Arial" pitchFamily="34" charset="0"/>
                <a:ea typeface="Arial" pitchFamily="34" charset="-122"/>
                <a:cs typeface="Arial" pitchFamily="34" charset="-120"/>
              </a:rPr>
              <a:t>4. Results Logging &amp; Reporting</a:t>
            </a:r>
            <a:endParaRPr lang="en-US" sz="1400" dirty="0"/>
          </a:p>
          <a:p>
            <a:pPr algn="l" indent="0" marL="0">
              <a:spcAft>
                <a:spcPts val="600"/>
              </a:spcAft>
              <a:buNone/>
            </a:pPr>
            <a:r>
              <a:rPr lang="en-US" sz="1600" dirty="0">
                <a:solidFill>
                  <a:schemeClr val="tx1"/>
                </a:solidFill>
                <a:latin typeface="Arial" pitchFamily="34" charset="0"/>
                <a:ea typeface="Arial" pitchFamily="34" charset="-122"/>
                <a:cs typeface="Arial" pitchFamily="34" charset="-120"/>
              </a:rPr>
              <a:t>Ghi nhận kết quả và xuất báo cáo.</a:t>
            </a:r>
            <a:endParaRPr lang="en-US" sz="1400" dirty="0"/>
          </a:p>
          <a:p>
            <a:pPr algn="l" indent="0" marL="0">
              <a:spcAft>
                <a:spcPts val="600"/>
              </a:spcAft>
              <a:buNone/>
            </a:pPr>
            <a:r>
              <a:rPr lang="en-US" sz="1400" i="1" dirty="0">
                <a:solidFill>
                  <a:schemeClr val="tx1"/>
                </a:solidFill>
                <a:latin typeface="Arial" pitchFamily="34" charset="0"/>
                <a:ea typeface="Arial" pitchFamily="34" charset="-122"/>
                <a:cs typeface="Arial" pitchFamily="34" charset="-120"/>
              </a:rPr>
              <a:t>EShop: log CI, JUnit XML, coverage LCOV / HTML</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Pipeline CI/CD và Quality Gates</a:t>
            </a:r>
            <a:endParaRPr lang="en-US" sz="3600" dirty="0"/>
          </a:p>
        </p:txBody>
      </p:sp>
      <p:sp>
        <p:nvSpPr>
          <p:cNvPr id="4" name="Text 1"/>
          <p:cNvSpPr txBox="1"/>
          <p:nvPr/>
        </p:nvSpPr>
        <p:spPr>
          <a:xfrm>
            <a:off x="594360" y="1554480"/>
            <a:ext cx="1600200" cy="100584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400" dirty="0">
                <a:solidFill>
                  <a:schemeClr val="tx1"/>
                </a:solidFill>
                <a:latin typeface="Arial" pitchFamily="34" charset="0"/>
                <a:ea typeface="Arial" pitchFamily="34" charset="-122"/>
                <a:cs typeface="Arial" pitchFamily="34" charset="-120"/>
              </a:rPr>
              <a:t>Push / Pull Request</a:t>
            </a:r>
            <a:endParaRPr lang="en-US" sz="1400" dirty="0"/>
          </a:p>
        </p:txBody>
      </p:sp>
      <p:sp>
        <p:nvSpPr>
          <p:cNvPr id="5" name="Shape 2"/>
          <p:cNvSpPr/>
          <p:nvPr/>
        </p:nvSpPr>
        <p:spPr>
          <a:xfrm>
            <a:off x="2194560" y="2057400"/>
            <a:ext cx="274320" cy="0"/>
          </a:xfrm>
          <a:prstGeom prst="line">
            <a:avLst/>
          </a:prstGeom>
          <a:noFill/>
          <a:ln w="22225">
            <a:solidFill>
              <a:schemeClr val="tx1"/>
            </a:solidFill>
            <a:prstDash val="solid"/>
            <a:tailEnd type="triangle"/>
          </a:ln>
        </p:spPr>
      </p:sp>
      <p:sp>
        <p:nvSpPr>
          <p:cNvPr id="6" name="Text 3"/>
          <p:cNvSpPr txBox="1"/>
          <p:nvPr/>
        </p:nvSpPr>
        <p:spPr>
          <a:xfrm>
            <a:off x="2468880" y="1554480"/>
            <a:ext cx="1600200" cy="100584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400" dirty="0">
                <a:solidFill>
                  <a:schemeClr val="tx1"/>
                </a:solidFill>
                <a:latin typeface="Arial" pitchFamily="34" charset="0"/>
                <a:ea typeface="Arial" pitchFamily="34" charset="-122"/>
                <a:cs typeface="Arial" pitchFamily="34" charset="-120"/>
              </a:rPr>
              <a:t>Runner sạch</a:t>
            </a:r>
            <a:endParaRPr lang="en-US" sz="1400" dirty="0"/>
          </a:p>
        </p:txBody>
      </p:sp>
      <p:sp>
        <p:nvSpPr>
          <p:cNvPr id="7" name="Shape 4"/>
          <p:cNvSpPr/>
          <p:nvPr/>
        </p:nvSpPr>
        <p:spPr>
          <a:xfrm>
            <a:off x="4069080" y="2057400"/>
            <a:ext cx="274320" cy="0"/>
          </a:xfrm>
          <a:prstGeom prst="line">
            <a:avLst/>
          </a:prstGeom>
          <a:noFill/>
          <a:ln w="22225">
            <a:solidFill>
              <a:schemeClr val="tx1"/>
            </a:solidFill>
            <a:prstDash val="solid"/>
            <a:tailEnd type="triangle"/>
          </a:ln>
        </p:spPr>
      </p:sp>
      <p:sp>
        <p:nvSpPr>
          <p:cNvPr id="8" name="Text 5"/>
          <p:cNvSpPr txBox="1"/>
          <p:nvPr/>
        </p:nvSpPr>
        <p:spPr>
          <a:xfrm>
            <a:off x="4343400" y="1554480"/>
            <a:ext cx="1600200" cy="100584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400" dirty="0">
                <a:solidFill>
                  <a:schemeClr val="tx1"/>
                </a:solidFill>
                <a:latin typeface="Arial" pitchFamily="34" charset="0"/>
                <a:ea typeface="Arial" pitchFamily="34" charset="-122"/>
                <a:cs typeface="Arial" pitchFamily="34" charset="-120"/>
              </a:rPr>
              <a:t>Cài đặt + cache</a:t>
            </a:r>
            <a:endParaRPr lang="en-US" sz="1400" dirty="0"/>
          </a:p>
        </p:txBody>
      </p:sp>
      <p:sp>
        <p:nvSpPr>
          <p:cNvPr id="9" name="Shape 6"/>
          <p:cNvSpPr/>
          <p:nvPr/>
        </p:nvSpPr>
        <p:spPr>
          <a:xfrm>
            <a:off x="5943600" y="2057400"/>
            <a:ext cx="274320" cy="0"/>
          </a:xfrm>
          <a:prstGeom prst="line">
            <a:avLst/>
          </a:prstGeom>
          <a:noFill/>
          <a:ln w="22225">
            <a:solidFill>
              <a:schemeClr val="tx1"/>
            </a:solidFill>
            <a:prstDash val="solid"/>
            <a:tailEnd type="triangle"/>
          </a:ln>
        </p:spPr>
      </p:sp>
      <p:sp>
        <p:nvSpPr>
          <p:cNvPr id="10" name="Text 7"/>
          <p:cNvSpPr txBox="1"/>
          <p:nvPr/>
        </p:nvSpPr>
        <p:spPr>
          <a:xfrm>
            <a:off x="6217920" y="1554480"/>
            <a:ext cx="1600200" cy="100584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400" dirty="0">
                <a:solidFill>
                  <a:schemeClr val="tx1"/>
                </a:solidFill>
                <a:latin typeface="Arial" pitchFamily="34" charset="0"/>
                <a:ea typeface="Arial" pitchFamily="34" charset="-122"/>
                <a:cs typeface="Arial" pitchFamily="34" charset="-120"/>
              </a:rPr>
              <a:t>Jest Unit Test</a:t>
            </a:r>
            <a:endParaRPr lang="en-US" sz="1400" dirty="0"/>
          </a:p>
        </p:txBody>
      </p:sp>
      <p:sp>
        <p:nvSpPr>
          <p:cNvPr id="11" name="Shape 8"/>
          <p:cNvSpPr/>
          <p:nvPr/>
        </p:nvSpPr>
        <p:spPr>
          <a:xfrm>
            <a:off x="7818120" y="2057400"/>
            <a:ext cx="274320" cy="0"/>
          </a:xfrm>
          <a:prstGeom prst="line">
            <a:avLst/>
          </a:prstGeom>
          <a:noFill/>
          <a:ln w="22225">
            <a:solidFill>
              <a:schemeClr val="tx1"/>
            </a:solidFill>
            <a:prstDash val="solid"/>
            <a:tailEnd type="triangle"/>
          </a:ln>
        </p:spPr>
      </p:sp>
      <p:sp>
        <p:nvSpPr>
          <p:cNvPr id="12" name="Text 9"/>
          <p:cNvSpPr txBox="1"/>
          <p:nvPr/>
        </p:nvSpPr>
        <p:spPr>
          <a:xfrm>
            <a:off x="8092440" y="1554480"/>
            <a:ext cx="1600200" cy="1005840"/>
          </a:xfrm>
          <a:prstGeom prst="rect">
            <a:avLst/>
          </a:prstGeom>
          <a:solidFill>
            <a:schemeClr val="bg2"/>
          </a:solidFill>
          <a:ln w="38100">
            <a:solidFill>
              <a:schemeClr val="tx1"/>
            </a:solidFill>
            <a:prstDash val="solid"/>
          </a:ln>
        </p:spPr>
        <p:txBody>
          <a:bodyPr wrap="square" lIns="76200" tIns="76200" rIns="76200" bIns="7620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Quality Gate</a:t>
            </a:r>
            <a:endParaRPr lang="en-US" sz="1400" dirty="0"/>
          </a:p>
        </p:txBody>
      </p:sp>
      <p:sp>
        <p:nvSpPr>
          <p:cNvPr id="13" name="Shape 10"/>
          <p:cNvSpPr/>
          <p:nvPr/>
        </p:nvSpPr>
        <p:spPr>
          <a:xfrm>
            <a:off x="9692640" y="2057400"/>
            <a:ext cx="274320" cy="0"/>
          </a:xfrm>
          <a:prstGeom prst="line">
            <a:avLst/>
          </a:prstGeom>
          <a:noFill/>
          <a:ln w="22225">
            <a:solidFill>
              <a:schemeClr val="tx1"/>
            </a:solidFill>
            <a:prstDash val="solid"/>
            <a:tailEnd type="triangle"/>
          </a:ln>
        </p:spPr>
      </p:sp>
      <p:sp>
        <p:nvSpPr>
          <p:cNvPr id="14" name="Text 11"/>
          <p:cNvSpPr txBox="1"/>
          <p:nvPr/>
        </p:nvSpPr>
        <p:spPr>
          <a:xfrm>
            <a:off x="9966960" y="1554480"/>
            <a:ext cx="1600200" cy="100584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400" dirty="0">
                <a:solidFill>
                  <a:schemeClr val="tx1"/>
                </a:solidFill>
                <a:latin typeface="Arial" pitchFamily="34" charset="0"/>
                <a:ea typeface="Arial" pitchFamily="34" charset="-122"/>
                <a:cs typeface="Arial" pitchFamily="34" charset="-120"/>
              </a:rPr>
              <a:t>Merge vào main</a:t>
            </a:r>
            <a:endParaRPr lang="en-US" sz="1400" dirty="0"/>
          </a:p>
        </p:txBody>
      </p:sp>
      <p:sp>
        <p:nvSpPr>
          <p:cNvPr id="15" name="Shape 12"/>
          <p:cNvSpPr/>
          <p:nvPr/>
        </p:nvSpPr>
        <p:spPr>
          <a:xfrm>
            <a:off x="8892540" y="2560320"/>
            <a:ext cx="0" cy="1005840"/>
          </a:xfrm>
          <a:prstGeom prst="line">
            <a:avLst/>
          </a:prstGeom>
          <a:noFill/>
          <a:ln w="22225">
            <a:solidFill>
              <a:schemeClr val="tx1"/>
            </a:solidFill>
            <a:prstDash val="solid"/>
            <a:tailEnd type="triangle"/>
          </a:ln>
        </p:spPr>
      </p:sp>
      <p:sp>
        <p:nvSpPr>
          <p:cNvPr id="16" name="Text 13"/>
          <p:cNvSpPr txBox="1"/>
          <p:nvPr/>
        </p:nvSpPr>
        <p:spPr>
          <a:xfrm>
            <a:off x="8983980" y="2880360"/>
            <a:ext cx="731520" cy="365760"/>
          </a:xfrm>
          <a:prstGeom prst="rect">
            <a:avLst/>
          </a:prstGeom>
          <a:noFill/>
          <a:ln/>
        </p:spPr>
        <p:txBody>
          <a:bodyPr wrap="square" lIns="0" tIns="0" rIns="0" bIns="0" rtlCol="0" anchor="ctr"/>
          <a:lstStyle/>
          <a:p>
            <a:pPr indent="0" marL="0">
              <a:buNone/>
            </a:pPr>
            <a:r>
              <a:rPr lang="en-US" sz="1400" b="1" dirty="0">
                <a:solidFill>
                  <a:schemeClr val="tx1"/>
                </a:solidFill>
              </a:rPr>
              <a:t>Fail</a:t>
            </a:r>
            <a:endParaRPr lang="en-US" sz="1400" dirty="0"/>
          </a:p>
        </p:txBody>
      </p:sp>
      <p:sp>
        <p:nvSpPr>
          <p:cNvPr id="17" name="Text 14"/>
          <p:cNvSpPr txBox="1"/>
          <p:nvPr/>
        </p:nvSpPr>
        <p:spPr>
          <a:xfrm>
            <a:off x="7703820" y="3566160"/>
            <a:ext cx="2377440" cy="100584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Merge bị khóa</a:t>
            </a:r>
            <a:endParaRPr lang="en-US" sz="1400" dirty="0"/>
          </a:p>
          <a:p>
            <a:pPr algn="ctr" indent="0" marL="0">
              <a:buNone/>
            </a:pPr>
            <a:r>
              <a:rPr lang="en-US" sz="1400" b="1" dirty="0">
                <a:solidFill>
                  <a:schemeClr val="tx1"/>
                </a:solidFill>
                <a:latin typeface="Arial" pitchFamily="34" charset="0"/>
                <a:ea typeface="Arial" pitchFamily="34" charset="-122"/>
                <a:cs typeface="Arial" pitchFamily="34" charset="-120"/>
              </a:rPr>
              <a:t>+ AI Log Triage</a:t>
            </a:r>
            <a:endParaRPr lang="en-US" sz="1400" dirty="0"/>
          </a:p>
        </p:txBody>
      </p:sp>
      <p:sp>
        <p:nvSpPr>
          <p:cNvPr id="18" name="Text 15"/>
          <p:cNvSpPr txBox="1"/>
          <p:nvPr/>
        </p:nvSpPr>
        <p:spPr>
          <a:xfrm>
            <a:off x="594360" y="3566160"/>
            <a:ext cx="6675120" cy="2377440"/>
          </a:xfrm>
          <a:prstGeom prst="rect">
            <a:avLst/>
          </a:prstGeom>
          <a:solidFill>
            <a:schemeClr val="bg2"/>
          </a:solidFill>
          <a:ln w="12700">
            <a:solidFill>
              <a:schemeClr val="tx1"/>
            </a:solidFill>
            <a:prstDash val="solid"/>
          </a:ln>
        </p:spPr>
        <p:txBody>
          <a:bodyPr wrap="square" lIns="177800" tIns="177800" rIns="177800" bIns="177800" rtlCol="0" anchor="ctr"/>
          <a:lstStyle/>
          <a:p>
            <a:pPr algn="l" indent="0" marL="0">
              <a:spcAft>
                <a:spcPts val="400"/>
              </a:spcAft>
              <a:buNone/>
            </a:pPr>
            <a:r>
              <a:rPr lang="en-US" sz="2000" b="1" dirty="0">
                <a:solidFill>
                  <a:schemeClr val="tx1"/>
                </a:solidFill>
                <a:latin typeface="Arial" pitchFamily="34" charset="0"/>
                <a:ea typeface="Arial" pitchFamily="34" charset="-122"/>
                <a:cs typeface="Arial" pitchFamily="34" charset="-120"/>
              </a:rPr>
              <a:t>Tiêu chí Quality Gate</a:t>
            </a:r>
            <a:endParaRPr lang="en-US" sz="1600" dirty="0"/>
          </a:p>
          <a:p>
            <a:pPr algn="l" marL="342900" indent="-342900">
              <a:spcAft>
                <a:spcPts val="400"/>
              </a:spcAft>
              <a:buSzPct val="100000"/>
              <a:buChar char="•"/>
            </a:pPr>
            <a:r>
              <a:rPr lang="en-US" sz="1600" dirty="0">
                <a:solidFill>
                  <a:schemeClr val="tx1"/>
                </a:solidFill>
                <a:latin typeface="Arial" pitchFamily="34" charset="0"/>
                <a:ea typeface="Arial" pitchFamily="34" charset="-122"/>
                <a:cs typeface="Arial" pitchFamily="34" charset="-120"/>
              </a:rPr>
              <a:t>100% test pass</a:t>
            </a:r>
            <a:endParaRPr lang="en-US" sz="1600" dirty="0"/>
          </a:p>
          <a:p>
            <a:pPr algn="l" marL="342900" indent="-342900">
              <a:spcAft>
                <a:spcPts val="400"/>
              </a:spcAft>
              <a:buSzPct val="100000"/>
              <a:buChar char="•"/>
            </a:pPr>
            <a:r>
              <a:rPr lang="en-US" sz="1600" dirty="0">
                <a:solidFill>
                  <a:schemeClr val="tx1"/>
                </a:solidFill>
                <a:latin typeface="Arial" pitchFamily="34" charset="0"/>
                <a:ea typeface="Arial" pitchFamily="34" charset="-122"/>
                <a:cs typeface="Arial" pitchFamily="34" charset="-120"/>
              </a:rPr>
              <a:t>Line coverage module coupon &gt; 70%</a:t>
            </a:r>
            <a:endParaRPr lang="en-US" sz="1600" dirty="0"/>
          </a:p>
          <a:p>
            <a:pPr algn="l" marL="342900" indent="-342900">
              <a:spcAft>
                <a:spcPts val="400"/>
              </a:spcAft>
              <a:buSzPct val="100000"/>
              <a:buChar char="•"/>
            </a:pPr>
            <a:r>
              <a:rPr lang="en-US" sz="1600" dirty="0">
                <a:solidFill>
                  <a:schemeClr val="tx1"/>
                </a:solidFill>
                <a:latin typeface="Arial" pitchFamily="34" charset="0"/>
                <a:ea typeface="Arial" pitchFamily="34" charset="-122"/>
                <a:cs typeface="Arial" pitchFamily="34" charset="-120"/>
              </a:rPr>
              <a:t>Branch Protection: status xanh mới được Merge</a:t>
            </a:r>
            <a:endParaRPr lang="en-US" sz="1600" dirty="0"/>
          </a:p>
          <a:p>
            <a:pPr algn="l" marL="342900" indent="-342900">
              <a:spcAft>
                <a:spcPts val="400"/>
              </a:spcAft>
              <a:buSzPct val="100000"/>
              <a:buChar char="•"/>
            </a:pPr>
            <a:r>
              <a:rPr lang="en-US" sz="1600" dirty="0">
                <a:solidFill>
                  <a:schemeClr val="tx1"/>
                </a:solidFill>
                <a:latin typeface="Arial" pitchFamily="34" charset="0"/>
                <a:ea typeface="Arial" pitchFamily="34" charset="-122"/>
                <a:cs typeface="Arial" pitchFamily="34" charset="-120"/>
              </a:rPr>
              <a:t>Tiêu chí khác (lý thuyết): Lint, Security scan</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Lựa chọn công cụ</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651760"/>
                <a:gridCol w="3749040"/>
                <a:gridCol w="4663440"/>
              </a:tblGrid>
              <a:tr h="640080">
                <a:tc>
                  <a:txBody>
                    <a:bodyPr/>
                    <a:lstStyle/>
                    <a:p>
                      <a:pPr algn="l" indent="0" marL="0">
                        <a:buNone/>
                      </a:pPr>
                      <a:r>
                        <a:rPr lang="en-US" sz="1200" b="1" dirty="0">
                          <a:solidFill>
                            <a:srgbClr val="FFFFFF"/>
                          </a:solidFill>
                        </a:rPr>
                        <a:t>Công cụ</a:t>
                      </a:r>
                      <a:endParaRPr lang="en-US" sz="12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indent="0" marL="0">
                        <a:buNone/>
                      </a:pPr>
                      <a:r>
                        <a:rPr lang="en-US" sz="1200" b="1" dirty="0">
                          <a:solidFill>
                            <a:srgbClr val="FFFFFF"/>
                          </a:solidFill>
                        </a:rPr>
                        <a:t>Vai trò</a:t>
                      </a:r>
                      <a:endParaRPr lang="en-US" sz="12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indent="0" marL="0">
                        <a:buNone/>
                      </a:pPr>
                      <a:r>
                        <a:rPr lang="en-US" sz="1200" b="1" dirty="0">
                          <a:solidFill>
                            <a:srgbClr val="FFFFFF"/>
                          </a:solidFill>
                        </a:rPr>
                        <a:t>Lý do</a:t>
                      </a:r>
                      <a:endParaRPr lang="en-US" sz="12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r>
              <a:tr h="640080">
                <a:tc>
                  <a:txBody>
                    <a:bodyPr/>
                    <a:lstStyle/>
                    <a:p>
                      <a:pPr indent="0" marL="0">
                        <a:buNone/>
                      </a:pPr>
                      <a:r>
                        <a:rPr lang="en-US" sz="1400" b="1" dirty="0">
                          <a:solidFill>
                            <a:srgbClr val="000000"/>
                          </a:solidFill>
                        </a:rPr>
                        <a:t>GitHub Actions</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400" dirty="0">
                          <a:solidFill>
                            <a:srgbClr val="000000"/>
                          </a:solidFill>
                        </a:rPr>
                        <a:t>Trọng tâm: điều phối pipeline, Quality Gates</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400" dirty="0">
                          <a:solidFill>
                            <a:srgbClr val="000000"/>
                          </a:solidFill>
                        </a:rPr>
                        <a:t>Tích hợp sẵn repo EShop, không tốn hạ tầng, YAML trực quan, hỗ trợ matrix</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indent="0" marL="0">
                        <a:buNone/>
                      </a:pPr>
                      <a:r>
                        <a:rPr lang="en-US" sz="1400" b="1" dirty="0">
                          <a:solidFill>
                            <a:srgbClr val="000000"/>
                          </a:solidFill>
                        </a:rPr>
                        <a:t>Jest</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400" dirty="0">
                          <a:solidFill>
                            <a:srgbClr val="000000"/>
                          </a:solidFill>
                        </a:rPr>
                        <a:t>Hỗ trợ: Test Engine cho backend Node.js</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400" dirty="0">
                          <a:solidFill>
                            <a:srgbClr val="000000"/>
                          </a:solidFill>
                        </a:rPr>
                        <a:t>Chạy Unit Test, xuất Coverage Report cho Quality Gate</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indent="0" marL="0">
                        <a:buNone/>
                      </a:pPr>
                      <a:r>
                        <a:rPr lang="en-US" sz="1400" b="1" dirty="0">
                          <a:solidFill>
                            <a:srgbClr val="000000"/>
                          </a:solidFill>
                        </a:rPr>
                        <a:t>LLM Log Triage</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400" dirty="0">
                          <a:solidFill>
                            <a:srgbClr val="000000"/>
                          </a:solidFill>
                        </a:rPr>
                        <a:t>Hỗ trợ: phân tích log lỗi bằng AI</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400" dirty="0">
                          <a:solidFill>
                            <a:srgbClr val="000000"/>
                          </a:solidFill>
                        </a:rPr>
                        <a:t>Chi phí thấp, triển khai tức thì, gợi ý hướng sửa</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indent="0" marL="0">
                        <a:buNone/>
                      </a:pPr>
                      <a:r>
                        <a:rPr lang="en-US" sz="1400" dirty="0">
                          <a:solidFill>
                            <a:srgbClr val="000000"/>
                          </a:solidFill>
                        </a:rPr>
                        <a:t>Jenkins</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rPr>
                        <a:t>Không chọn</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rPr>
                        <a:t>Self-hosted, tốn công bảo trì máy chủ</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640080">
                <a:tc>
                  <a:txBody>
                    <a:bodyPr/>
                    <a:lstStyle/>
                    <a:p>
                      <a:pPr indent="0" marL="0">
                        <a:buNone/>
                      </a:pPr>
                      <a:r>
                        <a:rPr lang="en-US" sz="1400" dirty="0">
                          <a:solidFill>
                            <a:srgbClr val="000000"/>
                          </a:solidFill>
                        </a:rPr>
                        <a:t>Datadog FTM / Launchable</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rPr>
                        <a:t>Không chọn</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rPr>
                        <a:t>Đắt đỏ, cần dữ liệu lịch sử lớn</a:t>
                      </a:r>
                      <a:endParaRPr lang="en-US" sz="14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bl>
          </a:graphicData>
        </a:graphic>
      </p:graphicFrame>
      <p:sp>
        <p:nvSpPr>
          <p:cNvPr id="5" name="Text 1"/>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1400" dirty="0">
                <a:solidFill>
                  <a:schemeClr val="tx1"/>
                </a:solidFill>
              </a:rPr>
              <a:t>5 tiêu chí: chi phí bản quyền · độ dốc học tập · phù hợp EShop · năng lực AI · cộng đồng và hệ sinh thái</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Kịch bản demo theo từng công cụ</a:t>
            </a:r>
            <a:endParaRPr lang="en-US" sz="3600" dirty="0"/>
          </a:p>
        </p:txBody>
      </p:sp>
      <p:sp>
        <p:nvSpPr>
          <p:cNvPr id="4" name="Text 1"/>
          <p:cNvSpPr txBox="1"/>
          <p:nvPr/>
        </p:nvSpPr>
        <p:spPr>
          <a:xfrm>
            <a:off x="548640" y="1463040"/>
            <a:ext cx="3566160" cy="4206240"/>
          </a:xfrm>
          <a:prstGeom prst="rect">
            <a:avLst/>
          </a:prstGeom>
          <a:solidFill>
            <a:schemeClr val="bg2"/>
          </a:solidFill>
          <a:ln w="19050">
            <a:solidFill>
              <a:schemeClr val="tx1"/>
            </a:solidFill>
            <a:prstDash val="solid"/>
          </a:ln>
        </p:spPr>
        <p:txBody>
          <a:bodyPr wrap="square" lIns="203200" tIns="203200" rIns="203200" bIns="203200" rtlCol="0" anchor="t"/>
          <a:lstStyle/>
          <a:p>
            <a:pPr algn="l" indent="0" marL="0">
              <a:buNone/>
            </a:pPr>
            <a:r>
              <a:rPr lang="en-US" sz="2200" b="1" dirty="0">
                <a:solidFill>
                  <a:schemeClr val="tx1"/>
                </a:solidFill>
                <a:latin typeface="Arial" pitchFamily="34" charset="0"/>
                <a:ea typeface="Arial" pitchFamily="34" charset="-122"/>
                <a:cs typeface="Arial" pitchFamily="34" charset="-120"/>
              </a:rPr>
              <a:t>GitHub Actions</a:t>
            </a:r>
            <a:endParaRPr lang="en-US" sz="1400" dirty="0"/>
          </a:p>
          <a:p>
            <a:pPr algn="l" indent="0" marL="0">
              <a:buNone/>
            </a:pPr>
            <a:r>
              <a:rPr lang="en-US" sz="1400" i="1" dirty="0">
                <a:solidFill>
                  <a:schemeClr val="tx1"/>
                </a:solidFill>
                <a:latin typeface="Arial" pitchFamily="34" charset="0"/>
                <a:ea typeface="Arial" pitchFamily="34" charset="-122"/>
                <a:cs typeface="Arial" pitchFamily="34" charset="-120"/>
              </a:rPr>
              <a:t>Trọng tâm</a:t>
            </a:r>
            <a:endParaRPr lang="en-US" sz="1400" dirty="0"/>
          </a:p>
          <a:p>
            <a:pPr algn="l" marL="342900" indent="-342900">
              <a:spcBef>
                <a:spcPts val="1200"/>
              </a:spcBef>
              <a:buSzPct val="100000"/>
              <a:buFont typeface="+mj-lt"/>
              <a:buAutoNum type="arabicPeriod" startAt="1"/>
            </a:pPr>
            <a:r>
              <a:rPr lang="en-US" sz="1800" dirty="0">
                <a:solidFill>
                  <a:schemeClr val="tx1"/>
                </a:solidFill>
                <a:latin typeface="Arial" pitchFamily="34" charset="0"/>
                <a:ea typeface="Arial" pitchFamily="34" charset="-122"/>
                <a:cs typeface="Arial" pitchFamily="34" charset="-120"/>
              </a:rPr>
              <a:t>Workflow eshop-ci.yml, tối ưu cache</a:t>
            </a:r>
            <a:endParaRPr lang="en-US" sz="1400" dirty="0"/>
          </a:p>
          <a:p>
            <a:pPr algn="l" marL="342900" indent="-342900">
              <a:spcBef>
                <a:spcPts val="1200"/>
              </a:spcBef>
              <a:buSzPct val="100000"/>
              <a:buFont typeface="+mj-lt"/>
              <a:buAutoNum type="arabicPeriod" startAt="1"/>
            </a:pPr>
            <a:r>
              <a:rPr lang="en-US" sz="1800" dirty="0">
                <a:solidFill>
                  <a:schemeClr val="tx1"/>
                </a:solidFill>
                <a:latin typeface="Arial" pitchFamily="34" charset="0"/>
                <a:ea typeface="Arial" pitchFamily="34" charset="-122"/>
                <a:cs typeface="Arial" pitchFamily="34" charset="-120"/>
              </a:rPr>
              <a:t>Commit lỗi: pipeline chặn merge, sửa lỗi, xanh lại</a:t>
            </a:r>
            <a:endParaRPr lang="en-US" sz="1400" dirty="0"/>
          </a:p>
          <a:p>
            <a:pPr algn="l" marL="342900" indent="-342900">
              <a:spcBef>
                <a:spcPts val="1200"/>
              </a:spcBef>
              <a:buSzPct val="100000"/>
              <a:buFont typeface="+mj-lt"/>
              <a:buAutoNum type="arabicPeriod" startAt="1"/>
            </a:pPr>
            <a:r>
              <a:rPr lang="en-US" sz="1800" dirty="0">
                <a:solidFill>
                  <a:schemeClr val="tx1"/>
                </a:solidFill>
                <a:latin typeface="Arial" pitchFamily="34" charset="0"/>
                <a:ea typeface="Arial" pitchFamily="34" charset="-122"/>
                <a:cs typeface="Arial" pitchFamily="34" charset="-120"/>
              </a:rPr>
              <a:t>Matrix Node 18 / 20 và Branch Protection</a:t>
            </a:r>
            <a:endParaRPr lang="en-US" sz="1400" dirty="0"/>
          </a:p>
        </p:txBody>
      </p:sp>
      <p:sp>
        <p:nvSpPr>
          <p:cNvPr id="5" name="Text 2"/>
          <p:cNvSpPr txBox="1"/>
          <p:nvPr/>
        </p:nvSpPr>
        <p:spPr>
          <a:xfrm>
            <a:off x="4297680" y="1463040"/>
            <a:ext cx="3566160" cy="4206240"/>
          </a:xfrm>
          <a:prstGeom prst="rect">
            <a:avLst/>
          </a:prstGeom>
          <a:solidFill>
            <a:schemeClr val="bg1"/>
          </a:solidFill>
          <a:ln w="19050">
            <a:solidFill>
              <a:schemeClr val="tx1"/>
            </a:solidFill>
            <a:prstDash val="solid"/>
          </a:ln>
        </p:spPr>
        <p:txBody>
          <a:bodyPr wrap="square" lIns="203200" tIns="203200" rIns="203200" bIns="203200" rtlCol="0" anchor="t"/>
          <a:lstStyle/>
          <a:p>
            <a:pPr algn="l" indent="0" marL="0">
              <a:buNone/>
            </a:pPr>
            <a:r>
              <a:rPr lang="en-US" sz="2200" b="1" dirty="0">
                <a:solidFill>
                  <a:schemeClr val="tx1"/>
                </a:solidFill>
                <a:latin typeface="Arial" pitchFamily="34" charset="0"/>
                <a:ea typeface="Arial" pitchFamily="34" charset="-122"/>
                <a:cs typeface="Arial" pitchFamily="34" charset="-120"/>
              </a:rPr>
              <a:t>Jest</a:t>
            </a:r>
            <a:endParaRPr lang="en-US" sz="1400" dirty="0"/>
          </a:p>
          <a:p>
            <a:pPr algn="l" indent="0" marL="0">
              <a:buNone/>
            </a:pPr>
            <a:r>
              <a:rPr lang="en-US" sz="1400" i="1" dirty="0">
                <a:solidFill>
                  <a:schemeClr val="tx1"/>
                </a:solidFill>
                <a:latin typeface="Arial" pitchFamily="34" charset="0"/>
                <a:ea typeface="Arial" pitchFamily="34" charset="-122"/>
                <a:cs typeface="Arial" pitchFamily="34" charset="-120"/>
              </a:rPr>
              <a:t>Hỗ trợ</a:t>
            </a:r>
            <a:endParaRPr lang="en-US" sz="1400" dirty="0"/>
          </a:p>
          <a:p>
            <a:pPr algn="l" marL="342900" indent="-342900">
              <a:spcBef>
                <a:spcPts val="1200"/>
              </a:spcBef>
              <a:buSzPct val="100000"/>
              <a:buFont typeface="+mj-lt"/>
              <a:buAutoNum type="arabicPeriod" startAt="1"/>
            </a:pPr>
            <a:r>
              <a:rPr lang="en-US" sz="1800" dirty="0">
                <a:solidFill>
                  <a:schemeClr val="tx1"/>
                </a:solidFill>
                <a:latin typeface="Arial" pitchFamily="34" charset="0"/>
                <a:ea typeface="Arial" pitchFamily="34" charset="-122"/>
                <a:cs typeface="Arial" pitchFamily="34" charset="-120"/>
              </a:rPr>
              <a:t>--runInBand, beforeAll / afterAll để cô lập test</a:t>
            </a:r>
            <a:endParaRPr lang="en-US" sz="1400" dirty="0"/>
          </a:p>
          <a:p>
            <a:pPr algn="l" marL="342900" indent="-342900">
              <a:spcBef>
                <a:spcPts val="1200"/>
              </a:spcBef>
              <a:buSzPct val="100000"/>
              <a:buFont typeface="+mj-lt"/>
              <a:buAutoNum type="arabicPeriod" startAt="1"/>
            </a:pPr>
            <a:r>
              <a:rPr lang="en-US" sz="1800" dirty="0">
                <a:solidFill>
                  <a:schemeClr val="tx1"/>
                </a:solidFill>
                <a:latin typeface="Arial" pitchFamily="34" charset="0"/>
                <a:ea typeface="Arial" pitchFamily="34" charset="-122"/>
                <a:cs typeface="Arial" pitchFamily="34" charset="-120"/>
              </a:rPr>
              <a:t>test.each phát hiện lỗi coupon</a:t>
            </a:r>
            <a:endParaRPr lang="en-US" sz="1400" dirty="0"/>
          </a:p>
          <a:p>
            <a:pPr algn="l" marL="342900" indent="-342900">
              <a:spcBef>
                <a:spcPts val="1200"/>
              </a:spcBef>
              <a:buSzPct val="100000"/>
              <a:buFont typeface="+mj-lt"/>
              <a:buAutoNum type="arabicPeriod" startAt="1"/>
            </a:pPr>
            <a:r>
              <a:rPr lang="en-US" sz="1800" dirty="0">
                <a:solidFill>
                  <a:schemeClr val="tx1"/>
                </a:solidFill>
                <a:latin typeface="Arial" pitchFamily="34" charset="0"/>
                <a:ea typeface="Arial" pitchFamily="34" charset="-122"/>
                <a:cs typeface="Arial" pitchFamily="34" charset="-120"/>
              </a:rPr>
              <a:t>Tái hiện flaky test SQLITE_BUSY</a:t>
            </a:r>
            <a:endParaRPr lang="en-US" sz="1400" dirty="0"/>
          </a:p>
        </p:txBody>
      </p:sp>
      <p:sp>
        <p:nvSpPr>
          <p:cNvPr id="6" name="Text 3"/>
          <p:cNvSpPr txBox="1"/>
          <p:nvPr/>
        </p:nvSpPr>
        <p:spPr>
          <a:xfrm>
            <a:off x="8046720" y="1463040"/>
            <a:ext cx="3566160" cy="4206240"/>
          </a:xfrm>
          <a:prstGeom prst="rect">
            <a:avLst/>
          </a:prstGeom>
          <a:solidFill>
            <a:schemeClr val="bg1"/>
          </a:solidFill>
          <a:ln w="19050">
            <a:solidFill>
              <a:schemeClr val="tx1"/>
            </a:solidFill>
            <a:prstDash val="solid"/>
          </a:ln>
        </p:spPr>
        <p:txBody>
          <a:bodyPr wrap="square" lIns="203200" tIns="203200" rIns="203200" bIns="203200" rtlCol="0" anchor="t"/>
          <a:lstStyle/>
          <a:p>
            <a:pPr algn="l" indent="0" marL="0">
              <a:buNone/>
            </a:pPr>
            <a:r>
              <a:rPr lang="en-US" sz="2200" b="1" dirty="0">
                <a:solidFill>
                  <a:schemeClr val="tx1"/>
                </a:solidFill>
                <a:latin typeface="Arial" pitchFamily="34" charset="0"/>
                <a:ea typeface="Arial" pitchFamily="34" charset="-122"/>
                <a:cs typeface="Arial" pitchFamily="34" charset="-120"/>
              </a:rPr>
              <a:t>AI Log Triage</a:t>
            </a:r>
            <a:endParaRPr lang="en-US" sz="1400" dirty="0"/>
          </a:p>
          <a:p>
            <a:pPr algn="l" indent="0" marL="0">
              <a:buNone/>
            </a:pPr>
            <a:r>
              <a:rPr lang="en-US" sz="1400" i="1" dirty="0">
                <a:solidFill>
                  <a:schemeClr val="tx1"/>
                </a:solidFill>
                <a:latin typeface="Arial" pitchFamily="34" charset="0"/>
                <a:ea typeface="Arial" pitchFamily="34" charset="-122"/>
                <a:cs typeface="Arial" pitchFamily="34" charset="-120"/>
              </a:rPr>
              <a:t>Hỗ trợ</a:t>
            </a:r>
            <a:endParaRPr lang="en-US" sz="1400" dirty="0"/>
          </a:p>
          <a:p>
            <a:pPr algn="l" marL="342900" indent="-342900">
              <a:spcBef>
                <a:spcPts val="1200"/>
              </a:spcBef>
              <a:buSzPct val="100000"/>
              <a:buFont typeface="+mj-lt"/>
              <a:buAutoNum type="arabicPeriod" startAt="1"/>
            </a:pPr>
            <a:r>
              <a:rPr lang="en-US" sz="1800" dirty="0">
                <a:solidFill>
                  <a:schemeClr val="tx1"/>
                </a:solidFill>
                <a:latin typeface="Arial" pitchFamily="34" charset="0"/>
                <a:ea typeface="Arial" pitchFamily="34" charset="-122"/>
                <a:cs typeface="Arial" pitchFamily="34" charset="-120"/>
              </a:rPr>
              <a:t>if: failure() và GitHub Secrets</a:t>
            </a:r>
            <a:endParaRPr lang="en-US" sz="1400" dirty="0"/>
          </a:p>
          <a:p>
            <a:pPr algn="l" marL="342900" indent="-342900">
              <a:spcBef>
                <a:spcPts val="1200"/>
              </a:spcBef>
              <a:buSzPct val="100000"/>
              <a:buFont typeface="+mj-lt"/>
              <a:buAutoNum type="arabicPeriod" startAt="1"/>
            </a:pPr>
            <a:r>
              <a:rPr lang="en-US" sz="1800" dirty="0">
                <a:solidFill>
                  <a:schemeClr val="tx1"/>
                </a:solidFill>
                <a:latin typeface="Arial" pitchFamily="34" charset="0"/>
                <a:ea typeface="Arial" pitchFamily="34" charset="-122"/>
                <a:cs typeface="Arial" pitchFamily="34" charset="-120"/>
              </a:rPr>
              <a:t>Tóm tắt lỗi coupon từ log</a:t>
            </a:r>
            <a:endParaRPr lang="en-US" sz="1400" dirty="0"/>
          </a:p>
          <a:p>
            <a:pPr algn="l" marL="342900" indent="-342900">
              <a:spcBef>
                <a:spcPts val="1200"/>
              </a:spcBef>
              <a:buSzPct val="100000"/>
              <a:buFont typeface="+mj-lt"/>
              <a:buAutoNum type="arabicPeriod" startAt="1"/>
            </a:pPr>
            <a:r>
              <a:rPr lang="en-US" sz="1800" dirty="0">
                <a:solidFill>
                  <a:schemeClr val="tx1"/>
                </a:solidFill>
                <a:latin typeface="Arial" pitchFamily="34" charset="0"/>
                <a:ea typeface="Arial" pitchFamily="34" charset="-122"/>
                <a:cs typeface="Arial" pitchFamily="34" charset="-120"/>
              </a:rPr>
              <a:t>Chẩn đoán SQLITE_BUSY, đánh giá độ chính xác</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Ba trụ cột kiểm thử tự động</a:t>
            </a:r>
            <a:endParaRPr lang="en-US" sz="3600" dirty="0"/>
          </a:p>
        </p:txBody>
      </p:sp>
      <p:sp>
        <p:nvSpPr>
          <p:cNvPr id="4" name="Text 1"/>
          <p:cNvSpPr txBox="1"/>
          <p:nvPr/>
        </p:nvSpPr>
        <p:spPr>
          <a:xfrm>
            <a:off x="548640" y="1463040"/>
            <a:ext cx="3108960" cy="1371600"/>
          </a:xfrm>
          <a:prstGeom prst="rect">
            <a:avLst/>
          </a:prstGeom>
          <a:solidFill>
            <a:schemeClr val="tx1"/>
          </a:solidFill>
          <a:ln w="19050">
            <a:solidFill>
              <a:schemeClr val="tx1"/>
            </a:solidFill>
            <a:prstDash val="solid"/>
          </a:ln>
        </p:spPr>
        <p:txBody>
          <a:bodyPr wrap="square" lIns="76200" tIns="76200" rIns="76200" bIns="7620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Record &amp; Playback</a:t>
            </a:r>
            <a:endParaRPr lang="en-US" sz="2000" dirty="0"/>
          </a:p>
        </p:txBody>
      </p:sp>
      <p:sp>
        <p:nvSpPr>
          <p:cNvPr id="5" name="Text 2"/>
          <p:cNvSpPr txBox="1"/>
          <p:nvPr/>
        </p:nvSpPr>
        <p:spPr>
          <a:xfrm>
            <a:off x="3931920" y="1463040"/>
            <a:ext cx="7680960" cy="137160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chemeClr val="tx1"/>
                </a:solidFill>
              </a:rPr>
              <a:t>Log và artifacts của mỗi lần chạy CI, re-run với debug logging để tái hiện lỗi</a:t>
            </a:r>
            <a:endParaRPr lang="en-US" sz="1600" dirty="0"/>
          </a:p>
          <a:p>
            <a:pPr marL="342900" indent="-342900">
              <a:spcAft>
                <a:spcPts val="600"/>
              </a:spcAft>
              <a:buSzPct val="100000"/>
              <a:buChar char="•"/>
            </a:pPr>
            <a:r>
              <a:rPr lang="en-US" sz="1600" dirty="0">
                <a:solidFill>
                  <a:schemeClr val="tx1"/>
                </a:solidFill>
              </a:rPr>
              <a:t>Jest Snapshot (.snap): so khớp cấu trúc response API</a:t>
            </a:r>
            <a:endParaRPr lang="en-US" sz="1600" dirty="0"/>
          </a:p>
        </p:txBody>
      </p:sp>
      <p:sp>
        <p:nvSpPr>
          <p:cNvPr id="6" name="Text 3"/>
          <p:cNvSpPr txBox="1"/>
          <p:nvPr/>
        </p:nvSpPr>
        <p:spPr>
          <a:xfrm>
            <a:off x="548640" y="3063240"/>
            <a:ext cx="3108960" cy="1371600"/>
          </a:xfrm>
          <a:prstGeom prst="rect">
            <a:avLst/>
          </a:prstGeom>
          <a:solidFill>
            <a:schemeClr val="tx1"/>
          </a:solidFill>
          <a:ln w="19050">
            <a:solidFill>
              <a:schemeClr val="tx1"/>
            </a:solidFill>
            <a:prstDash val="solid"/>
          </a:ln>
        </p:spPr>
        <p:txBody>
          <a:bodyPr wrap="square" lIns="76200" tIns="76200" rIns="76200" bIns="7620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Data-Driven</a:t>
            </a:r>
            <a:endParaRPr lang="en-US" sz="2000" dirty="0"/>
          </a:p>
        </p:txBody>
      </p:sp>
      <p:sp>
        <p:nvSpPr>
          <p:cNvPr id="7" name="Text 4"/>
          <p:cNvSpPr txBox="1"/>
          <p:nvPr/>
        </p:nvSpPr>
        <p:spPr>
          <a:xfrm>
            <a:off x="3931920" y="3063240"/>
            <a:ext cx="7680960" cy="137160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chemeClr val="tx1"/>
                </a:solidFill>
              </a:rPr>
              <a:t>Tách logic test khỏi bộ dữ liệu tham số hóa</a:t>
            </a:r>
            <a:endParaRPr lang="en-US" sz="1600" dirty="0"/>
          </a:p>
          <a:p>
            <a:pPr marL="342900" indent="-342900">
              <a:spcAft>
                <a:spcPts val="600"/>
              </a:spcAft>
              <a:buSzPct val="100000"/>
              <a:buChar char="•"/>
            </a:pPr>
            <a:r>
              <a:rPr lang="en-US" sz="1600" dirty="0">
                <a:solidFill>
                  <a:schemeClr val="tx1"/>
                </a:solidFill>
              </a:rPr>
              <a:t>test.each cho POST /api/apply-coupon, lộ lỗi công thức discount_amount</a:t>
            </a:r>
            <a:endParaRPr lang="en-US" sz="1600" dirty="0"/>
          </a:p>
        </p:txBody>
      </p:sp>
      <p:sp>
        <p:nvSpPr>
          <p:cNvPr id="8" name="Text 5"/>
          <p:cNvSpPr txBox="1"/>
          <p:nvPr/>
        </p:nvSpPr>
        <p:spPr>
          <a:xfrm>
            <a:off x="548640" y="4663440"/>
            <a:ext cx="3108960" cy="1371600"/>
          </a:xfrm>
          <a:prstGeom prst="rect">
            <a:avLst/>
          </a:prstGeom>
          <a:solidFill>
            <a:schemeClr val="tx1"/>
          </a:solidFill>
          <a:ln w="19050">
            <a:solidFill>
              <a:schemeClr val="tx1"/>
            </a:solidFill>
            <a:prstDash val="solid"/>
          </a:ln>
        </p:spPr>
        <p:txBody>
          <a:bodyPr wrap="square" lIns="76200" tIns="76200" rIns="76200" bIns="7620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Checkpoints</a:t>
            </a:r>
            <a:endParaRPr lang="en-US" sz="2000" dirty="0"/>
          </a:p>
        </p:txBody>
      </p:sp>
      <p:sp>
        <p:nvSpPr>
          <p:cNvPr id="9" name="Text 6"/>
          <p:cNvSpPr txBox="1"/>
          <p:nvPr/>
        </p:nvSpPr>
        <p:spPr>
          <a:xfrm>
            <a:off x="3931920" y="4663440"/>
            <a:ext cx="7680960" cy="137160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chemeClr val="tx1"/>
                </a:solidFill>
              </a:rPr>
              <a:t>API: expect(status) và response body; Database: bảng coupon_usage, orders</a:t>
            </a:r>
            <a:endParaRPr lang="en-US" sz="1600" dirty="0"/>
          </a:p>
          <a:p>
            <a:pPr marL="342900" indent="-342900">
              <a:spcAft>
                <a:spcPts val="600"/>
              </a:spcAft>
              <a:buSzPct val="100000"/>
              <a:buChar char="•"/>
            </a:pPr>
            <a:r>
              <a:rPr lang="en-US" sz="1600" dirty="0">
                <a:solidFill>
                  <a:schemeClr val="tx1"/>
                </a:solidFill>
              </a:rPr>
              <a:t>CI/CD: Quality Gate chặn toàn bộ pipeline khi vi phạm</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Failure Mode 2: lỗi công thức coupon</a:t>
            </a:r>
            <a:endParaRPr lang="en-US" sz="3600" dirty="0"/>
          </a:p>
        </p:txBody>
      </p:sp>
      <p:sp>
        <p:nvSpPr>
          <p:cNvPr id="4" name="Text 1"/>
          <p:cNvSpPr txBox="1"/>
          <p:nvPr/>
        </p:nvSpPr>
        <p:spPr>
          <a:xfrm>
            <a:off x="548640" y="1325880"/>
            <a:ext cx="5394960" cy="1371600"/>
          </a:xfrm>
          <a:prstGeom prst="rect">
            <a:avLst/>
          </a:prstGeom>
          <a:solidFill>
            <a:schemeClr val="bg2"/>
          </a:solidFill>
          <a:ln w="12700">
            <a:solidFill>
              <a:schemeClr val="tx1"/>
            </a:solidFill>
            <a:prstDash val="solid"/>
          </a:ln>
        </p:spPr>
        <p:txBody>
          <a:bodyPr wrap="square" lIns="177800" tIns="177800" rIns="177800" bIns="177800" rtlCol="0" anchor="ctr"/>
          <a:lstStyle/>
          <a:p>
            <a:pPr algn="l" indent="0" marL="0">
              <a:spcAft>
                <a:spcPts val="400"/>
              </a:spcAft>
              <a:buNone/>
            </a:pPr>
            <a:r>
              <a:rPr lang="en-US" sz="1400" b="1" dirty="0">
                <a:solidFill>
                  <a:schemeClr val="tx1"/>
                </a:solidFill>
                <a:latin typeface="Arial" pitchFamily="34" charset="0"/>
                <a:ea typeface="Arial" pitchFamily="34" charset="-122"/>
                <a:cs typeface="Arial" pitchFamily="34" charset="-120"/>
              </a:rPr>
              <a:t>Trước khi sửa (server.js)</a:t>
            </a:r>
            <a:endParaRPr lang="en-US" sz="1400" dirty="0"/>
          </a:p>
          <a:p>
            <a:pPr algn="l"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discount_amount =</a:t>
            </a:r>
            <a:endParaRPr lang="en-US" sz="1400" dirty="0"/>
          </a:p>
          <a:p>
            <a:pPr algn="l"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  total_amount * (1 - discount_value);</a:t>
            </a:r>
            <a:endParaRPr lang="en-US" sz="1400" dirty="0"/>
          </a:p>
        </p:txBody>
      </p:sp>
      <p:sp>
        <p:nvSpPr>
          <p:cNvPr id="5" name="Text 2"/>
          <p:cNvSpPr txBox="1"/>
          <p:nvPr/>
        </p:nvSpPr>
        <p:spPr>
          <a:xfrm>
            <a:off x="6217920" y="1325880"/>
            <a:ext cx="5394960" cy="1371600"/>
          </a:xfrm>
          <a:prstGeom prst="rect">
            <a:avLst/>
          </a:prstGeom>
          <a:solidFill>
            <a:schemeClr val="bg1"/>
          </a:solidFill>
          <a:ln w="38100">
            <a:solidFill>
              <a:schemeClr val="tx1"/>
            </a:solidFill>
            <a:prstDash val="solid"/>
          </a:ln>
        </p:spPr>
        <p:txBody>
          <a:bodyPr wrap="square" lIns="177800" tIns="177800" rIns="177800" bIns="177800" rtlCol="0" anchor="ctr"/>
          <a:lstStyle/>
          <a:p>
            <a:pPr algn="l" indent="0" marL="0">
              <a:spcAft>
                <a:spcPts val="400"/>
              </a:spcAft>
              <a:buNone/>
            </a:pPr>
            <a:r>
              <a:rPr lang="en-US" sz="1400" b="1" dirty="0">
                <a:solidFill>
                  <a:schemeClr val="tx1"/>
                </a:solidFill>
                <a:latin typeface="Arial" pitchFamily="34" charset="0"/>
                <a:ea typeface="Arial" pitchFamily="34" charset="-122"/>
                <a:cs typeface="Arial" pitchFamily="34" charset="-120"/>
              </a:rPr>
              <a:t>Sau khi sửa</a:t>
            </a:r>
            <a:endParaRPr lang="en-US" sz="1400" dirty="0"/>
          </a:p>
          <a:p>
            <a:pPr algn="l"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discount_amount =</a:t>
            </a:r>
            <a:endParaRPr lang="en-US" sz="1400" dirty="0"/>
          </a:p>
          <a:p>
            <a:pPr algn="l"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  total_amount * discount_value / 100;</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1234440"/>
        </p:xfrm>
        <a:graphic>
          <a:graphicData uri="http://schemas.openxmlformats.org/drawingml/2006/table">
            <a:tbl>
              <a:tblPr/>
              <a:tblGrid>
                <a:gridCol w="4663440"/>
                <a:gridCol w="3200400"/>
                <a:gridCol w="3200400"/>
              </a:tblGrid>
              <a:tr h="411480">
                <a:tc>
                  <a:txBody>
                    <a:bodyPr/>
                    <a:lstStyle/>
                    <a:p>
                      <a:pPr algn="l" indent="0" marL="0">
                        <a:buNone/>
                      </a:pPr>
                      <a:r>
                        <a:rPr lang="en-US" sz="1200" b="1" dirty="0">
                          <a:solidFill>
                            <a:srgbClr val="FFFFFF"/>
                          </a:solidFill>
                        </a:rPr>
                        <a:t>SAVE10 (10%), đơn 500,000 ₫</a:t>
                      </a:r>
                      <a:endParaRPr lang="en-US" sz="12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indent="0" marL="0">
                        <a:buNone/>
                      </a:pPr>
                      <a:r>
                        <a:rPr lang="en-US" sz="1200" b="1" dirty="0">
                          <a:solidFill>
                            <a:srgbClr val="FFFFFF"/>
                          </a:solidFill>
                        </a:rPr>
                        <a:t>discount_amount</a:t>
                      </a:r>
                      <a:endParaRPr lang="en-US" sz="12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indent="0" marL="0">
                        <a:buNone/>
                      </a:pPr>
                      <a:r>
                        <a:rPr lang="en-US" sz="1200" b="1" dirty="0">
                          <a:solidFill>
                            <a:srgbClr val="FFFFFF"/>
                          </a:solidFill>
                        </a:rPr>
                        <a:t>final_amount</a:t>
                      </a:r>
                      <a:endParaRPr lang="en-US" sz="12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r>
              <a:tr h="411480">
                <a:tc>
                  <a:txBody>
                    <a:bodyPr/>
                    <a:lstStyle/>
                    <a:p>
                      <a:pPr algn="l" indent="0" marL="0">
                        <a:buNone/>
                      </a:pPr>
                      <a:r>
                        <a:rPr lang="en-US" sz="1600" dirty="0">
                          <a:solidFill>
                            <a:srgbClr val="000000"/>
                          </a:solidFill>
                        </a:rPr>
                        <a:t>Trước khi sửa</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600" dirty="0">
                          <a:solidFill>
                            <a:srgbClr val="000000"/>
                          </a:solidFill>
                        </a:rPr>
                        <a:t>-4,500,000</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600" dirty="0">
                          <a:solidFill>
                            <a:srgbClr val="000000"/>
                          </a:solidFill>
                        </a:rPr>
                        <a:t>5,000,000</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1480">
                <a:tc>
                  <a:txBody>
                    <a:bodyPr/>
                    <a:lstStyle/>
                    <a:p>
                      <a:pPr algn="l" indent="0" marL="0">
                        <a:buNone/>
                      </a:pPr>
                      <a:r>
                        <a:rPr lang="en-US" sz="1600" b="1" dirty="0">
                          <a:solidFill>
                            <a:srgbClr val="000000"/>
                          </a:solidFill>
                        </a:rPr>
                        <a:t>Sau khi sửa</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600" b="1" dirty="0">
                          <a:solidFill>
                            <a:srgbClr val="000000"/>
                          </a:solidFill>
                        </a:rPr>
                        <a:t>50,000</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600" b="1" dirty="0">
                          <a:solidFill>
                            <a:srgbClr val="000000"/>
                          </a:solidFill>
                        </a:rPr>
                        <a:t>450,000</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
        <p:nvSpPr>
          <p:cNvPr id="26" name="Cause box"/>
          <p:cNvSpPr txBox="1"/>
          <p:nvPr/>
        </p:nvSpPr>
        <p:spPr>
          <a:xfrm>
            <a:off x="548640" y="4389120"/>
            <a:ext cx="11064240" cy="914400"/>
          </a:xfrm>
          <a:prstGeom prst="rect">
            <a:avLst/>
          </a:prstGeom>
          <a:solidFill>
            <a:schemeClr val="bg2"/>
          </a:solidFill>
          <a:ln w="12700">
            <a:solidFill>
              <a:schemeClr val="tx1"/>
            </a:solidFill>
          </a:ln>
        </p:spPr>
        <p:txBody>
          <a:bodyPr wrap="square" lIns="109728" rIns="109728" tIns="76809" bIns="76809" anchor="ctr">
            <a:spAutoFit/>
          </a:bodyPr>
          <a:lstStyle/>
          <a:p>
            <a:pPr>
              <a:spcAft>
                <a:spcPts val="400"/>
              </a:spcAft>
            </a:pPr>
            <a:r>
              <a:rPr sz="1600" b="1">
                <a:solidFill>
                  <a:schemeClr val="tx1"/>
                </a:solidFill>
                <a:latin typeface="Arial"/>
              </a:rPr>
              <a:t>Nguyên nhân: discount_value = 10 nên (1 − 10) = −9</a:t>
            </a:r>
          </a:p>
          <a:p>
            <a:pPr>
              <a:spcAft>
                <a:spcPts val="200"/>
              </a:spcAft>
            </a:pPr>
            <a:r>
              <a:rPr sz="1400" b="0">
                <a:solidFill>
                  <a:schemeClr val="tx1"/>
                </a:solidFill>
                <a:latin typeface="Arial"/>
              </a:rPr>
              <a:t>discount_amount = 500,000 × (−9) = −4,500,000   →   final_amount = 500,000 − (−4,500,000) = 5,000,000</a:t>
            </a:r>
          </a:p>
        </p:txBody>
      </p:sp>
      <p:sp>
        <p:nvSpPr>
          <p:cNvPr id="27" name="Detection line"/>
          <p:cNvSpPr txBox="1"/>
          <p:nvPr/>
        </p:nvSpPr>
        <p:spPr>
          <a:xfrm>
            <a:off x="548640" y="5440680"/>
            <a:ext cx="11064240" cy="685800"/>
          </a:xfrm>
          <a:prstGeom prst="rect">
            <a:avLst/>
          </a:prstGeom>
          <a:noFill/>
        </p:spPr>
        <p:txBody>
          <a:bodyPr wrap="square" lIns="0" rIns="0" tIns="0" bIns="0" anchor="ctr">
            <a:spAutoFit/>
          </a:bodyPr>
          <a:lstStyle/>
          <a:p>
            <a:pPr>
              <a:spcAft>
                <a:spcPts val="200"/>
              </a:spcAft>
            </a:pPr>
            <a:r>
              <a:rPr sz="1600" b="1">
                <a:solidFill>
                  <a:schemeClr val="tx1"/>
                </a:solidFill>
                <a:latin typeface="Arial"/>
              </a:rPr>
              <a:t>Phát hiện bằng test.each: </a:t>
            </a:r>
            <a:r>
              <a:rPr sz="1600" b="0">
                <a:solidFill>
                  <a:schemeClr val="tx1"/>
                </a:solidFill>
                <a:latin typeface="Arial"/>
              </a:rPr>
              <a:t>ca SAVE10 · 500,000 kỳ vọng discount_amount = 50,000, nhận −4,500,000 → test FAIL → Quality Gate chặn merge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Data-Driven Testing: 21 ca test.each</a:t>
            </a:r>
            <a:endParaRPr lang="en-US" sz="3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graphicFrame>
        <p:nvGraphicFramePr>
          <p:cNvPr id="26" name="Matrix 21 cases"/>
          <p:cNvGraphicFramePr>
            <a:graphicFrameLocks noGrp="1"/>
          </p:cNvGraphicFramePr>
          <p:nvPr/>
        </p:nvGraphicFramePr>
        <p:xfrm>
          <a:off x="548640" y="1234440"/>
          <a:ext cx="11064240" cy="3547872"/>
        </p:xfrm>
        <a:graphic>
          <a:graphicData uri="http://schemas.openxmlformats.org/drawingml/2006/table">
            <a:tbl>
              <a:tblPr/>
              <a:tblGrid>
                <a:gridCol w="2286000"/>
                <a:gridCol w="1463040"/>
                <a:gridCol w="1463040"/>
                <a:gridCol w="1463040"/>
                <a:gridCol w="1463040"/>
                <a:gridCol w="1463040"/>
                <a:gridCol w="1463040"/>
              </a:tblGrid>
              <a:tr h="365760">
                <a:tc>
                  <a:txBody>
                    <a:bodyPr/>
                    <a:lstStyle/>
                    <a:p>
                      <a:pPr algn="l"/>
                      <a:r>
                        <a:rPr sz="1200" b="1">
                          <a:solidFill>
                            <a:srgbClr val="FFFFFF"/>
                          </a:solidFill>
                          <a:latin typeface="Arial"/>
                        </a:rPr>
                        <a:t>Nhóm biên (6 nhóm · 21 ca)</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000000"/>
                    </a:solidFill>
                  </a:tcPr>
                </a:tc>
                <a:tc>
                  <a:txBody>
                    <a:bodyPr/>
                    <a:lstStyle/>
                    <a:p>
                      <a:pPr algn="ctr"/>
                      <a:r>
                        <a:rPr sz="1200" b="1">
                          <a:solidFill>
                            <a:srgbClr val="FFFFFF"/>
                          </a:solidFill>
                          <a:latin typeface="Arial"/>
                        </a:rPr>
                        <a:t>Ca 1</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000000"/>
                    </a:solidFill>
                  </a:tcPr>
                </a:tc>
                <a:tc>
                  <a:txBody>
                    <a:bodyPr/>
                    <a:lstStyle/>
                    <a:p>
                      <a:pPr algn="ctr"/>
                      <a:r>
                        <a:rPr sz="1200" b="1">
                          <a:solidFill>
                            <a:srgbClr val="FFFFFF"/>
                          </a:solidFill>
                          <a:latin typeface="Arial"/>
                        </a:rPr>
                        <a:t>Ca 2</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000000"/>
                    </a:solidFill>
                  </a:tcPr>
                </a:tc>
                <a:tc>
                  <a:txBody>
                    <a:bodyPr/>
                    <a:lstStyle/>
                    <a:p>
                      <a:pPr algn="ctr"/>
                      <a:r>
                        <a:rPr sz="1200" b="1">
                          <a:solidFill>
                            <a:srgbClr val="FFFFFF"/>
                          </a:solidFill>
                          <a:latin typeface="Arial"/>
                        </a:rPr>
                        <a:t>Ca 3</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000000"/>
                    </a:solidFill>
                  </a:tcPr>
                </a:tc>
                <a:tc>
                  <a:txBody>
                    <a:bodyPr/>
                    <a:lstStyle/>
                    <a:p>
                      <a:pPr algn="ctr"/>
                      <a:r>
                        <a:rPr sz="1200" b="1">
                          <a:solidFill>
                            <a:srgbClr val="FFFFFF"/>
                          </a:solidFill>
                          <a:latin typeface="Arial"/>
                        </a:rPr>
                        <a:t>Ca 4</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000000"/>
                    </a:solidFill>
                  </a:tcPr>
                </a:tc>
                <a:tc>
                  <a:txBody>
                    <a:bodyPr/>
                    <a:lstStyle/>
                    <a:p>
                      <a:pPr algn="ctr"/>
                      <a:r>
                        <a:rPr sz="1200" b="1">
                          <a:solidFill>
                            <a:srgbClr val="FFFFFF"/>
                          </a:solidFill>
                          <a:latin typeface="Arial"/>
                        </a:rPr>
                        <a:t>Ca 5</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000000"/>
                    </a:solidFill>
                  </a:tcPr>
                </a:tc>
                <a:tc>
                  <a:txBody>
                    <a:bodyPr/>
                    <a:lstStyle/>
                    <a:p>
                      <a:pPr algn="ctr"/>
                      <a:r>
                        <a:rPr sz="1200" b="1">
                          <a:solidFill>
                            <a:srgbClr val="FFFFFF"/>
                          </a:solidFill>
                          <a:latin typeface="Arial"/>
                        </a:rPr>
                        <a:t>Ca 6</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000000"/>
                    </a:solidFill>
                  </a:tcPr>
                </a:tc>
              </a:tr>
              <a:tr h="530352">
                <a:tc>
                  <a:txBody>
                    <a:bodyPr/>
                    <a:lstStyle/>
                    <a:p>
                      <a:pPr algn="l"/>
                      <a:r>
                        <a:rPr sz="1100" b="1">
                          <a:solidFill>
                            <a:schemeClr val="tx1"/>
                          </a:solidFill>
                          <a:latin typeface="Arial"/>
                        </a:rPr>
                        <a:t>Ngưỡng tổng đơn (C3)</a:t>
                      </a:r>
                    </a:p>
                    <a:p>
                      <a:pPr algn="l"/>
                      <a:r>
                        <a:rPr sz="1000" b="0">
                          <a:solidFill>
                            <a:schemeClr val="tx1"/>
                          </a:solidFill>
                          <a:latin typeface="Arial"/>
                        </a:rPr>
                        <a:t>TC01–TC06</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SAVE10 299,999</a:t>
                      </a:r>
                    </a:p>
                    <a:p>
                      <a:pPr algn="ctr"/>
                      <a:r>
                        <a:rPr sz="1100" b="0">
                          <a:solidFill>
                            <a:schemeClr val="tx1"/>
                          </a:solidFill>
                          <a:latin typeface="Arial"/>
                        </a:rPr>
                        <a:t>Từ chối</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SAVE10 300,000</a:t>
                      </a:r>
                    </a:p>
                    <a:p>
                      <a:pPr algn="ctr"/>
                      <a:r>
                        <a:rPr sz="1100" b="0">
                          <a:solidFill>
                            <a:schemeClr val="tx1"/>
                          </a:solidFill>
                          <a:latin typeface="Arial"/>
                        </a:rPr>
                        <a:t>Áp được</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SAVE10 300,001</a:t>
                      </a:r>
                    </a:p>
                    <a:p>
                      <a:pPr algn="ctr"/>
                      <a:r>
                        <a:rPr sz="1100" b="0">
                          <a:solidFill>
                            <a:schemeClr val="tx1"/>
                          </a:solidFill>
                          <a:latin typeface="Arial"/>
                        </a:rPr>
                        <a:t>Áp được</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BIGBUY 499,999</a:t>
                      </a:r>
                    </a:p>
                    <a:p>
                      <a:pPr algn="ctr"/>
                      <a:r>
                        <a:rPr sz="1100" b="0">
                          <a:solidFill>
                            <a:schemeClr val="tx1"/>
                          </a:solidFill>
                          <a:latin typeface="Arial"/>
                        </a:rPr>
                        <a:t>Từ chối</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BIGBUY 500,000</a:t>
                      </a:r>
                    </a:p>
                    <a:p>
                      <a:pPr algn="ctr"/>
                      <a:r>
                        <a:rPr sz="1100" b="0">
                          <a:solidFill>
                            <a:schemeClr val="tx1"/>
                          </a:solidFill>
                          <a:latin typeface="Arial"/>
                        </a:rPr>
                        <a:t>Áp được</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BIGBUY 500,001</a:t>
                      </a:r>
                    </a:p>
                    <a:p>
                      <a:pPr algn="ctr"/>
                      <a:r>
                        <a:rPr sz="1100" b="0">
                          <a:solidFill>
                            <a:schemeClr val="tx1"/>
                          </a:solidFill>
                          <a:latin typeface="Arial"/>
                        </a:rPr>
                        <a:t>Áp được</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530352">
                <a:tc>
                  <a:txBody>
                    <a:bodyPr/>
                    <a:lstStyle/>
                    <a:p>
                      <a:pPr algn="l"/>
                      <a:r>
                        <a:rPr sz="1100" b="1">
                          <a:solidFill>
                            <a:schemeClr val="tx1"/>
                          </a:solidFill>
                          <a:latin typeface="Arial"/>
                        </a:rPr>
                        <a:t>Hạn dùng (C2)</a:t>
                      </a:r>
                    </a:p>
                    <a:p>
                      <a:pPr algn="l"/>
                      <a:r>
                        <a:rPr sz="1000" b="0">
                          <a:solidFill>
                            <a:schemeClr val="tx1"/>
                          </a:solidFill>
                          <a:latin typeface="Arial"/>
                        </a:rPr>
                        <a:t>TC07–TC09</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hôm qua</a:t>
                      </a:r>
                    </a:p>
                    <a:p>
                      <a:pPr algn="ctr"/>
                      <a:r>
                        <a:rPr sz="1100" b="0">
                          <a:solidFill>
                            <a:schemeClr val="tx1"/>
                          </a:solidFill>
                          <a:latin typeface="Arial"/>
                        </a:rPr>
                        <a:t>Từ chối</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hôm nay</a:t>
                      </a:r>
                    </a:p>
                    <a:p>
                      <a:pPr algn="ctr"/>
                      <a:r>
                        <a:rPr sz="1100" b="0">
                          <a:solidFill>
                            <a:schemeClr val="tx1"/>
                          </a:solidFill>
                          <a:latin typeface="Arial"/>
                        </a:rPr>
                        <a:t>Từ chối</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ngày mai</a:t>
                      </a:r>
                    </a:p>
                    <a:p>
                      <a:pPr algn="ctr"/>
                      <a:r>
                        <a:rPr sz="1100" b="0">
                          <a:solidFill>
                            <a:schemeClr val="tx1"/>
                          </a:solidFill>
                          <a:latin typeface="Arial"/>
                        </a:rPr>
                        <a:t>Áp được</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r>
              <a:tr h="530352">
                <a:tc>
                  <a:txBody>
                    <a:bodyPr/>
                    <a:lstStyle/>
                    <a:p>
                      <a:pPr algn="l"/>
                      <a:r>
                        <a:rPr sz="1100" b="1">
                          <a:solidFill>
                            <a:schemeClr val="tx1"/>
                          </a:solidFill>
                          <a:latin typeface="Arial"/>
                        </a:rPr>
                        <a:t>Giá trị percent</a:t>
                      </a:r>
                    </a:p>
                    <a:p>
                      <a:pPr algn="l"/>
                      <a:r>
                        <a:rPr sz="1000" b="0">
                          <a:solidFill>
                            <a:schemeClr val="tx1"/>
                          </a:solidFill>
                          <a:latin typeface="Arial"/>
                        </a:rPr>
                        <a:t>TC10–TC13</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0%</a:t>
                      </a:r>
                    </a:p>
                    <a:p>
                      <a:pPr algn="ctr"/>
                      <a:r>
                        <a:rPr sz="1100" b="0">
                          <a:solidFill>
                            <a:schemeClr val="tx1"/>
                          </a:solidFill>
                          <a:latin typeface="Arial"/>
                        </a:rPr>
                        <a:t>Đúng công thức</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99%</a:t>
                      </a:r>
                    </a:p>
                    <a:p>
                      <a:pPr algn="ctr"/>
                      <a:r>
                        <a:rPr sz="1100" b="0">
                          <a:solidFill>
                            <a:schemeClr val="tx1"/>
                          </a:solidFill>
                          <a:latin typeface="Arial"/>
                        </a:rPr>
                        <a:t>Đúng công thức</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100%</a:t>
                      </a:r>
                    </a:p>
                    <a:p>
                      <a:pPr algn="ctr"/>
                      <a:r>
                        <a:rPr sz="1100" b="0">
                          <a:solidFill>
                            <a:schemeClr val="tx1"/>
                          </a:solidFill>
                          <a:latin typeface="Arial"/>
                        </a:rPr>
                        <a:t>Đúng công thức</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101%</a:t>
                      </a:r>
                    </a:p>
                    <a:p>
                      <a:pPr algn="ctr"/>
                      <a:r>
                        <a:rPr sz="1100" b="0">
                          <a:solidFill>
                            <a:schemeClr val="tx1"/>
                          </a:solidFill>
                          <a:latin typeface="Arial"/>
                        </a:rPr>
                        <a:t>Từ chối hoặc final ≥ 0</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r>
              <a:tr h="530352">
                <a:tc>
                  <a:txBody>
                    <a:bodyPr/>
                    <a:lstStyle/>
                    <a:p>
                      <a:pPr algn="l"/>
                      <a:r>
                        <a:rPr sz="1100" b="1">
                          <a:solidFill>
                            <a:schemeClr val="tx1"/>
                          </a:solidFill>
                          <a:latin typeface="Arial"/>
                        </a:rPr>
                        <a:t>Fixed so với tổng đơn</a:t>
                      </a:r>
                    </a:p>
                    <a:p>
                      <a:pPr algn="l"/>
                      <a:r>
                        <a:rPr sz="1000" b="0">
                          <a:solidFill>
                            <a:schemeClr val="tx1"/>
                          </a:solidFill>
                          <a:latin typeface="Arial"/>
                        </a:rPr>
                        <a:t>TC14–TC16 · mã fixed 100,000</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99,999</a:t>
                      </a:r>
                    </a:p>
                    <a:p>
                      <a:pPr algn="ctr"/>
                      <a:r>
                        <a:rPr sz="1100" b="0">
                          <a:solidFill>
                            <a:schemeClr val="tx1"/>
                          </a:solidFill>
                          <a:latin typeface="Arial"/>
                        </a:rPr>
                        <a:t>final không âm</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100,000</a:t>
                      </a:r>
                    </a:p>
                    <a:p>
                      <a:pPr algn="ctr"/>
                      <a:r>
                        <a:rPr sz="1100" b="0">
                          <a:solidFill>
                            <a:schemeClr val="tx1"/>
                          </a:solidFill>
                          <a:latin typeface="Arial"/>
                        </a:rPr>
                        <a:t>final = 0</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100,001</a:t>
                      </a:r>
                    </a:p>
                    <a:p>
                      <a:pPr algn="ctr"/>
                      <a:r>
                        <a:rPr sz="1100" b="0">
                          <a:solidFill>
                            <a:schemeClr val="tx1"/>
                          </a:solidFill>
                          <a:latin typeface="Arial"/>
                        </a:rPr>
                        <a:t>final = 1</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r>
              <a:tr h="530352">
                <a:tc>
                  <a:txBody>
                    <a:bodyPr/>
                    <a:lstStyle/>
                    <a:p>
                      <a:pPr algn="l"/>
                      <a:r>
                        <a:rPr sz="1100" b="1">
                          <a:solidFill>
                            <a:schemeClr val="tx1"/>
                          </a:solidFill>
                          <a:latin typeface="Arial"/>
                        </a:rPr>
                        <a:t>Tổng đơn bất thường</a:t>
                      </a:r>
                    </a:p>
                    <a:p>
                      <a:pPr algn="l"/>
                      <a:r>
                        <a:rPr sz="1000" b="0">
                          <a:solidFill>
                            <a:schemeClr val="tx1"/>
                          </a:solidFill>
                          <a:latin typeface="Arial"/>
                        </a:rPr>
                        <a:t>TC17–TC19</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-1</a:t>
                      </a:r>
                    </a:p>
                    <a:p>
                      <a:pPr algn="ctr"/>
                      <a:r>
                        <a:rPr sz="1100" b="0">
                          <a:solidFill>
                            <a:schemeClr val="tx1"/>
                          </a:solidFill>
                          <a:latin typeface="Arial"/>
                        </a:rPr>
                        <a:t>Từ chối</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0</a:t>
                      </a:r>
                    </a:p>
                    <a:p>
                      <a:pPr algn="ctr"/>
                      <a:r>
                        <a:rPr sz="1100" b="0">
                          <a:solidFill>
                            <a:schemeClr val="tx1"/>
                          </a:solidFill>
                          <a:latin typeface="Arial"/>
                        </a:rPr>
                        <a:t>Từ chối</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1</a:t>
                      </a:r>
                    </a:p>
                    <a:p>
                      <a:pPr algn="ctr"/>
                      <a:r>
                        <a:rPr sz="1100" b="0">
                          <a:solidFill>
                            <a:schemeClr val="tx1"/>
                          </a:solidFill>
                          <a:latin typeface="Arial"/>
                        </a:rPr>
                        <a:t>Giảm theo công thức</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r>
              <a:tr h="530352">
                <a:tc>
                  <a:txBody>
                    <a:bodyPr/>
                    <a:lstStyle/>
                    <a:p>
                      <a:pPr algn="l"/>
                      <a:r>
                        <a:rPr sz="1100" b="1">
                          <a:solidFill>
                            <a:schemeClr val="tx1"/>
                          </a:solidFill>
                          <a:latin typeface="Arial"/>
                        </a:rPr>
                        <a:t>Giới hạn int32</a:t>
                      </a:r>
                    </a:p>
                    <a:p>
                      <a:pPr algn="l"/>
                      <a:r>
                        <a:rPr sz="1000" b="0">
                          <a:solidFill>
                            <a:schemeClr val="tx1"/>
                          </a:solidFill>
                          <a:latin typeface="Arial"/>
                        </a:rPr>
                        <a:t>TC20–TC21</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2,147,483,647</a:t>
                      </a:r>
                    </a:p>
                    <a:p>
                      <a:pPr algn="ctr"/>
                      <a:r>
                        <a:rPr sz="1100" b="0">
                          <a:solidFill>
                            <a:schemeClr val="tx1"/>
                          </a:solidFill>
                          <a:latin typeface="Arial"/>
                        </a:rPr>
                        <a:t>Không lỗi 500, NaN, âm</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ctr"/>
                      <a:r>
                        <a:rPr sz="1100" b="1">
                          <a:solidFill>
                            <a:schemeClr val="tx1"/>
                          </a:solidFill>
                          <a:latin typeface="Arial"/>
                        </a:rPr>
                        <a:t>2,147,483,648</a:t>
                      </a:r>
                    </a:p>
                    <a:p>
                      <a:pPr algn="ctr"/>
                      <a:r>
                        <a:rPr sz="1100" b="0">
                          <a:solidFill>
                            <a:schemeClr val="tx1"/>
                          </a:solidFill>
                          <a:latin typeface="Arial"/>
                        </a:rPr>
                        <a:t>Không lỗi 500, NaN, âm</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c>
                  <a:txBody>
                    <a:bodyPr/>
                    <a:lstStyle/>
                    <a:p>
                      <a:pPr algn="l"/>
                      <a:r>
                        <a:rPr sz="1100" b="0">
                          <a:solidFill>
                            <a:schemeClr val="tx1"/>
                          </a:solidFill>
                          <a:latin typeface="Arial"/>
                        </a:rPr>
                        <a:t/>
                      </a:r>
                    </a:p>
                  </a:txBody>
                  <a:tcPr marL="68580" marR="68580" marT="36000" marB="36000"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chemeClr val="bg2"/>
                    </a:solidFill>
                  </a:tcPr>
                </a:tc>
              </a:tr>
            </a:tbl>
          </a:graphicData>
        </a:graphic>
      </p:graphicFrame>
      <p:sp>
        <p:nvSpPr>
          <p:cNvPr id="27" name="test.each snippet"/>
          <p:cNvSpPr txBox="1"/>
          <p:nvPr/>
        </p:nvSpPr>
        <p:spPr>
          <a:xfrm>
            <a:off x="548640" y="4983480"/>
            <a:ext cx="11064240" cy="1188720"/>
          </a:xfrm>
          <a:prstGeom prst="rect">
            <a:avLst/>
          </a:prstGeom>
          <a:solidFill>
            <a:schemeClr val="bg2"/>
          </a:solidFill>
          <a:ln w="12700">
            <a:solidFill>
              <a:schemeClr val="tx1"/>
            </a:solidFill>
          </a:ln>
        </p:spPr>
        <p:txBody>
          <a:bodyPr wrap="square" lIns="137160" rIns="137160" tIns="96012" bIns="96012" anchor="ctr">
            <a:spAutoFit/>
          </a:bodyPr>
          <a:lstStyle/>
          <a:p>
            <a:pPr>
              <a:spcAft>
                <a:spcPts val="200"/>
              </a:spcAft>
            </a:pPr>
            <a:r>
              <a:rPr sz="1200" b="0">
                <a:solidFill>
                  <a:schemeClr val="tx1"/>
                </a:solidFill>
                <a:latin typeface="Courier New"/>
              </a:rPr>
              <a:t>// Khung test.each (rút gọn): mỗi ô của ma trận trên là một ca</a:t>
            </a:r>
          </a:p>
          <a:p>
            <a:pPr>
              <a:spcAft>
                <a:spcPts val="0"/>
              </a:spcAft>
            </a:pPr>
            <a:r>
              <a:rPr sz="1200" b="0">
                <a:solidFill>
                  <a:schemeClr val="tx1"/>
                </a:solidFill>
                <a:latin typeface="Courier New"/>
              </a:rPr>
              <a:t>test.each(cases)('TC%s %s total=%i', async (id, code, total, expected) =&gt; {</a:t>
            </a:r>
          </a:p>
          <a:p>
            <a:pPr>
              <a:spcAft>
                <a:spcPts val="0"/>
              </a:spcAft>
            </a:pPr>
            <a:r>
              <a:rPr sz="1200" b="0">
                <a:solidFill>
                  <a:schemeClr val="tx1"/>
                </a:solidFill>
                <a:latin typeface="Courier New"/>
              </a:rPr>
              <a:t>  const res = await post('/api/apply-coupon', { code, total_amount: total }, token);</a:t>
            </a:r>
          </a:p>
          <a:p>
            <a:pPr>
              <a:spcAft>
                <a:spcPts val="0"/>
              </a:spcAft>
            </a:pPr>
            <a:r>
              <a:rPr sz="1200" b="0">
                <a:solidFill>
                  <a:schemeClr val="tx1"/>
                </a:solidFill>
                <a:latin typeface="Courier New"/>
              </a:rPr>
              <a:t>  expect(res.body.discount_amount).toBe(expected);</a:t>
            </a:r>
          </a:p>
          <a:p>
            <a:pPr>
              <a:spcAft>
                <a:spcPts val="0"/>
              </a:spcAft>
            </a:pPr>
            <a:r>
              <a:rPr sz="1200" b="0">
                <a:solidFill>
                  <a:schemeClr val="tx1"/>
                </a:solidFill>
                <a:latin typeface="Courier New"/>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AI Log Triage khi pipeline thất bại</a:t>
            </a:r>
            <a:endParaRPr lang="en-US" sz="3600" dirty="0"/>
          </a:p>
        </p:txBody>
      </p:sp>
      <p:sp>
        <p:nvSpPr>
          <p:cNvPr id="4" name="Text 1"/>
          <p:cNvSpPr txBox="1"/>
          <p:nvPr/>
        </p:nvSpPr>
        <p:spPr>
          <a:xfrm>
            <a:off x="594360" y="1463040"/>
            <a:ext cx="1600200" cy="100584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300" dirty="0">
                <a:solidFill>
                  <a:schemeClr val="tx1"/>
                </a:solidFill>
                <a:latin typeface="Arial" pitchFamily="34" charset="0"/>
                <a:ea typeface="Arial" pitchFamily="34" charset="-122"/>
                <a:cs typeface="Arial" pitchFamily="34" charset="-120"/>
              </a:rPr>
              <a:t>Pipeline thất bại</a:t>
            </a:r>
            <a:endParaRPr lang="en-US" sz="1300" dirty="0"/>
          </a:p>
        </p:txBody>
      </p:sp>
      <p:sp>
        <p:nvSpPr>
          <p:cNvPr id="5" name="Shape 2"/>
          <p:cNvSpPr/>
          <p:nvPr/>
        </p:nvSpPr>
        <p:spPr>
          <a:xfrm>
            <a:off x="2194560" y="1965960"/>
            <a:ext cx="274320" cy="0"/>
          </a:xfrm>
          <a:prstGeom prst="line">
            <a:avLst/>
          </a:prstGeom>
          <a:noFill/>
          <a:ln w="22225">
            <a:solidFill>
              <a:schemeClr val="tx1"/>
            </a:solidFill>
            <a:prstDash val="solid"/>
            <a:tailEnd type="triangle"/>
          </a:ln>
        </p:spPr>
      </p:sp>
      <p:sp>
        <p:nvSpPr>
          <p:cNvPr id="6" name="Text 3"/>
          <p:cNvSpPr txBox="1"/>
          <p:nvPr/>
        </p:nvSpPr>
        <p:spPr>
          <a:xfrm>
            <a:off x="2468880" y="1463040"/>
            <a:ext cx="1600200" cy="100584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300" dirty="0">
                <a:solidFill>
                  <a:schemeClr val="tx1"/>
                </a:solidFill>
                <a:latin typeface="Arial" pitchFamily="34" charset="0"/>
                <a:ea typeface="Arial" pitchFamily="34" charset="-122"/>
                <a:cs typeface="Arial" pitchFamily="34" charset="-120"/>
              </a:rPr>
              <a:t>if: failure()</a:t>
            </a:r>
            <a:endParaRPr lang="en-US" sz="1300" dirty="0"/>
          </a:p>
        </p:txBody>
      </p:sp>
      <p:sp>
        <p:nvSpPr>
          <p:cNvPr id="7" name="Shape 4"/>
          <p:cNvSpPr/>
          <p:nvPr/>
        </p:nvSpPr>
        <p:spPr>
          <a:xfrm>
            <a:off x="4069080" y="1965960"/>
            <a:ext cx="274320" cy="0"/>
          </a:xfrm>
          <a:prstGeom prst="line">
            <a:avLst/>
          </a:prstGeom>
          <a:noFill/>
          <a:ln w="22225">
            <a:solidFill>
              <a:schemeClr val="tx1"/>
            </a:solidFill>
            <a:prstDash val="solid"/>
            <a:tailEnd type="triangle"/>
          </a:ln>
        </p:spPr>
      </p:sp>
      <p:sp>
        <p:nvSpPr>
          <p:cNvPr id="8" name="Text 5"/>
          <p:cNvSpPr txBox="1"/>
          <p:nvPr/>
        </p:nvSpPr>
        <p:spPr>
          <a:xfrm>
            <a:off x="4343400" y="1463040"/>
            <a:ext cx="1600200" cy="100584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300" dirty="0">
                <a:solidFill>
                  <a:schemeClr val="tx1"/>
                </a:solidFill>
                <a:latin typeface="Arial" pitchFamily="34" charset="0"/>
                <a:ea typeface="Arial" pitchFamily="34" charset="-122"/>
                <a:cs typeface="Arial" pitchFamily="34" charset="-120"/>
              </a:rPr>
              <a:t>ai_triage.py</a:t>
            </a:r>
            <a:endParaRPr lang="en-US" sz="1300" dirty="0"/>
          </a:p>
          <a:p>
            <a:pPr algn="ctr" indent="0" marL="0">
              <a:buNone/>
            </a:pPr>
            <a:r>
              <a:rPr lang="en-US" sz="1300" dirty="0">
                <a:solidFill>
                  <a:schemeClr val="tx1"/>
                </a:solidFill>
                <a:latin typeface="Arial" pitchFamily="34" charset="0"/>
                <a:ea typeface="Arial" pitchFamily="34" charset="-122"/>
                <a:cs typeface="Arial" pitchFamily="34" charset="-120"/>
              </a:rPr>
              <a:t>100 dòng log cuối</a:t>
            </a:r>
            <a:endParaRPr lang="en-US" sz="1300" dirty="0"/>
          </a:p>
        </p:txBody>
      </p:sp>
      <p:sp>
        <p:nvSpPr>
          <p:cNvPr id="9" name="Shape 6"/>
          <p:cNvSpPr/>
          <p:nvPr/>
        </p:nvSpPr>
        <p:spPr>
          <a:xfrm>
            <a:off x="5943600" y="1965960"/>
            <a:ext cx="274320" cy="0"/>
          </a:xfrm>
          <a:prstGeom prst="line">
            <a:avLst/>
          </a:prstGeom>
          <a:noFill/>
          <a:ln w="22225">
            <a:solidFill>
              <a:schemeClr val="tx1"/>
            </a:solidFill>
            <a:prstDash val="solid"/>
            <a:tailEnd type="triangle"/>
          </a:ln>
        </p:spPr>
      </p:sp>
      <p:sp>
        <p:nvSpPr>
          <p:cNvPr id="10" name="Text 7"/>
          <p:cNvSpPr txBox="1"/>
          <p:nvPr/>
        </p:nvSpPr>
        <p:spPr>
          <a:xfrm>
            <a:off x="6217920" y="1463040"/>
            <a:ext cx="1600200" cy="100584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300" dirty="0">
                <a:solidFill>
                  <a:schemeClr val="tx1"/>
                </a:solidFill>
                <a:latin typeface="Arial" pitchFamily="34" charset="0"/>
                <a:ea typeface="Arial" pitchFamily="34" charset="-122"/>
                <a:cs typeface="Arial" pitchFamily="34" charset="-120"/>
              </a:rPr>
              <a:t>LLM API</a:t>
            </a:r>
            <a:endParaRPr lang="en-US" sz="1300" dirty="0"/>
          </a:p>
        </p:txBody>
      </p:sp>
      <p:sp>
        <p:nvSpPr>
          <p:cNvPr id="11" name="Shape 8"/>
          <p:cNvSpPr/>
          <p:nvPr/>
        </p:nvSpPr>
        <p:spPr>
          <a:xfrm>
            <a:off x="7818120" y="1965960"/>
            <a:ext cx="274320" cy="0"/>
          </a:xfrm>
          <a:prstGeom prst="line">
            <a:avLst/>
          </a:prstGeom>
          <a:noFill/>
          <a:ln w="22225">
            <a:solidFill>
              <a:schemeClr val="tx1"/>
            </a:solidFill>
            <a:prstDash val="solid"/>
            <a:tailEnd type="triangle"/>
          </a:ln>
        </p:spPr>
      </p:sp>
      <p:sp>
        <p:nvSpPr>
          <p:cNvPr id="12" name="Text 9"/>
          <p:cNvSpPr txBox="1"/>
          <p:nvPr/>
        </p:nvSpPr>
        <p:spPr>
          <a:xfrm>
            <a:off x="8092440" y="1463040"/>
            <a:ext cx="1600200" cy="100584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300" dirty="0">
                <a:solidFill>
                  <a:schemeClr val="tx1"/>
                </a:solidFill>
                <a:latin typeface="Arial" pitchFamily="34" charset="0"/>
                <a:ea typeface="Arial" pitchFamily="34" charset="-122"/>
                <a:cs typeface="Arial" pitchFamily="34" charset="-120"/>
              </a:rPr>
              <a:t>Hypothesis Tree</a:t>
            </a:r>
            <a:endParaRPr lang="en-US" sz="1300" dirty="0"/>
          </a:p>
        </p:txBody>
      </p:sp>
      <p:sp>
        <p:nvSpPr>
          <p:cNvPr id="13" name="Shape 10"/>
          <p:cNvSpPr/>
          <p:nvPr/>
        </p:nvSpPr>
        <p:spPr>
          <a:xfrm>
            <a:off x="9692640" y="1965960"/>
            <a:ext cx="274320" cy="0"/>
          </a:xfrm>
          <a:prstGeom prst="line">
            <a:avLst/>
          </a:prstGeom>
          <a:noFill/>
          <a:ln w="22225">
            <a:solidFill>
              <a:schemeClr val="tx1"/>
            </a:solidFill>
            <a:prstDash val="solid"/>
            <a:tailEnd type="triangle"/>
          </a:ln>
        </p:spPr>
      </p:sp>
      <p:sp>
        <p:nvSpPr>
          <p:cNvPr id="14" name="Text 11"/>
          <p:cNvSpPr txBox="1"/>
          <p:nvPr/>
        </p:nvSpPr>
        <p:spPr>
          <a:xfrm>
            <a:off x="9966960" y="1463040"/>
            <a:ext cx="1600200" cy="100584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1300" dirty="0">
                <a:solidFill>
                  <a:schemeClr val="tx1"/>
                </a:solidFill>
                <a:latin typeface="Arial" pitchFamily="34" charset="0"/>
                <a:ea typeface="Arial" pitchFamily="34" charset="-122"/>
                <a:cs typeface="Arial" pitchFamily="34" charset="-120"/>
              </a:rPr>
              <a:t>GitHub Step Summary</a:t>
            </a:r>
            <a:endParaRPr lang="en-US" sz="1300" dirty="0"/>
          </a:p>
        </p:txBody>
      </p:sp>
      <p:sp>
        <p:nvSpPr>
          <p:cNvPr id="15" name="Text 12"/>
          <p:cNvSpPr txBox="1"/>
          <p:nvPr/>
        </p:nvSpPr>
        <p:spPr>
          <a:xfrm>
            <a:off x="594360" y="2926080"/>
            <a:ext cx="3200400" cy="182880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4800" b="1" dirty="0">
                <a:solidFill>
                  <a:schemeClr val="tx1"/>
                </a:solidFill>
                <a:latin typeface="Arial" pitchFamily="34" charset="0"/>
                <a:ea typeface="Arial" pitchFamily="34" charset="-122"/>
                <a:cs typeface="Arial" pitchFamily="34" charset="-120"/>
              </a:rPr>
              <a:t>~2 phút</a:t>
            </a:r>
            <a:endParaRPr lang="en-US" sz="1400" dirty="0"/>
          </a:p>
          <a:p>
            <a:pPr algn="ctr" indent="0" marL="0">
              <a:buNone/>
            </a:pPr>
            <a:r>
              <a:rPr lang="en-US" sz="1600" dirty="0">
                <a:solidFill>
                  <a:schemeClr val="tx1"/>
                </a:solidFill>
                <a:latin typeface="Arial" pitchFamily="34" charset="0"/>
                <a:ea typeface="Arial" pitchFamily="34" charset="-122"/>
                <a:cs typeface="Arial" pitchFamily="34" charset="-120"/>
              </a:rPr>
              <a:t>đọc log thủ công</a:t>
            </a:r>
            <a:endParaRPr lang="en-US" sz="1400" dirty="0"/>
          </a:p>
        </p:txBody>
      </p:sp>
      <p:sp>
        <p:nvSpPr>
          <p:cNvPr id="16" name="Text 13"/>
          <p:cNvSpPr txBox="1"/>
          <p:nvPr/>
        </p:nvSpPr>
        <p:spPr>
          <a:xfrm>
            <a:off x="4023360" y="2926080"/>
            <a:ext cx="3200400" cy="1828800"/>
          </a:xfrm>
          <a:prstGeom prst="rect">
            <a:avLst/>
          </a:prstGeom>
          <a:solidFill>
            <a:schemeClr val="bg2"/>
          </a:solidFill>
          <a:ln w="19050">
            <a:solidFill>
              <a:schemeClr val="tx1"/>
            </a:solidFill>
            <a:prstDash val="solid"/>
          </a:ln>
        </p:spPr>
        <p:txBody>
          <a:bodyPr wrap="square" lIns="76200" tIns="76200" rIns="76200" bIns="76200" rtlCol="0" anchor="ctr"/>
          <a:lstStyle/>
          <a:p>
            <a:pPr algn="ctr" indent="0" marL="0">
              <a:buNone/>
            </a:pPr>
            <a:r>
              <a:rPr lang="en-US" sz="4800" b="1" dirty="0">
                <a:solidFill>
                  <a:schemeClr val="tx1"/>
                </a:solidFill>
                <a:latin typeface="Arial" pitchFamily="34" charset="0"/>
                <a:ea typeface="Arial" pitchFamily="34" charset="-122"/>
                <a:cs typeface="Arial" pitchFamily="34" charset="-120"/>
              </a:rPr>
              <a:t>~15 giây</a:t>
            </a:r>
            <a:endParaRPr lang="en-US" sz="1400" dirty="0"/>
          </a:p>
          <a:p>
            <a:pPr algn="ctr" indent="0" marL="0">
              <a:buNone/>
            </a:pPr>
            <a:r>
              <a:rPr lang="en-US" sz="1600" dirty="0">
                <a:solidFill>
                  <a:schemeClr val="tx1"/>
                </a:solidFill>
                <a:latin typeface="Arial" pitchFamily="34" charset="0"/>
                <a:ea typeface="Arial" pitchFamily="34" charset="-122"/>
                <a:cs typeface="Arial" pitchFamily="34" charset="-120"/>
              </a:rPr>
              <a:t>AI Log Triage</a:t>
            </a:r>
            <a:endParaRPr lang="en-US" sz="1400" dirty="0"/>
          </a:p>
        </p:txBody>
      </p:sp>
      <p:sp>
        <p:nvSpPr>
          <p:cNvPr id="17" name="Text 14"/>
          <p:cNvSpPr txBox="1"/>
          <p:nvPr/>
        </p:nvSpPr>
        <p:spPr>
          <a:xfrm>
            <a:off x="7498080" y="2926080"/>
            <a:ext cx="4114800" cy="1828800"/>
          </a:xfrm>
          <a:prstGeom prst="rect">
            <a:avLst/>
          </a:prstGeom>
          <a:solidFill>
            <a:schemeClr val="bg1"/>
          </a:solidFill>
          <a:ln w="12700">
            <a:solidFill>
              <a:schemeClr val="tx1"/>
            </a:solidFill>
            <a:prstDash val="solid"/>
          </a:ln>
        </p:spPr>
        <p:txBody>
          <a:bodyPr wrap="square" lIns="152400" tIns="152400" rIns="152400" bIns="152400" rtlCol="0" anchor="ctr"/>
          <a:lstStyle/>
          <a:p>
            <a:pPr algn="l" indent="0" marL="0">
              <a:spcAft>
                <a:spcPts val="400"/>
              </a:spcAft>
              <a:buNone/>
            </a:pPr>
            <a:r>
              <a:rPr lang="en-US" sz="1800" b="1" dirty="0">
                <a:solidFill>
                  <a:schemeClr val="tx1"/>
                </a:solidFill>
                <a:latin typeface="Arial" pitchFamily="34" charset="0"/>
                <a:ea typeface="Arial" pitchFamily="34" charset="-122"/>
                <a:cs typeface="Arial" pitchFamily="34" charset="-120"/>
              </a:rPr>
              <a:t>Lưu ý</a:t>
            </a:r>
            <a:endParaRPr lang="en-US" sz="1400" dirty="0"/>
          </a:p>
          <a:p>
            <a:pPr algn="l" marL="342900" indent="-342900">
              <a:spcAft>
                <a:spcPts val="400"/>
              </a:spcAft>
              <a:buSzPct val="100000"/>
              <a:buChar char="•"/>
            </a:pPr>
            <a:r>
              <a:rPr lang="en-US" sz="1400" dirty="0">
                <a:solidFill>
                  <a:schemeClr val="tx1"/>
                </a:solidFill>
                <a:latin typeface="Arial" pitchFamily="34" charset="0"/>
                <a:ea typeface="Arial" pitchFamily="34" charset="-122"/>
                <a:cs typeface="Arial" pitchFamily="34" charset="-120"/>
              </a:rPr>
              <a:t>Hypothesis Tree: Hiện tượng → Nguyên nhân → Hướng khắc phục</a:t>
            </a:r>
            <a:endParaRPr lang="en-US" sz="1400" dirty="0"/>
          </a:p>
          <a:p>
            <a:pPr algn="l" marL="342900" indent="-342900">
              <a:spcAft>
                <a:spcPts val="400"/>
              </a:spcAft>
              <a:buSzPct val="100000"/>
              <a:buChar char="•"/>
            </a:pPr>
            <a:r>
              <a:rPr lang="en-US" sz="1400" dirty="0">
                <a:solidFill>
                  <a:schemeClr val="tx1"/>
                </a:solidFill>
                <a:latin typeface="Arial" pitchFamily="34" charset="0"/>
                <a:ea typeface="Arial" pitchFamily="34" charset="-122"/>
                <a:cs typeface="Arial" pitchFamily="34" charset="-120"/>
              </a:rPr>
              <a:t>Log bị cắt thiếu ngữ cảnh: AI có thể đoán sai (hallucination)</a:t>
            </a:r>
            <a:endParaRPr lang="en-US" sz="1400" dirty="0"/>
          </a:p>
        </p:txBody>
      </p:sp>
      <p:sp>
        <p:nvSpPr>
          <p:cNvPr id="18" name="Text 15"/>
          <p:cNvSpPr txBox="1"/>
          <p:nvPr/>
        </p:nvSpPr>
        <p:spPr>
          <a:xfrm>
            <a:off x="594360" y="5120640"/>
            <a:ext cx="10972800" cy="457200"/>
          </a:xfrm>
          <a:prstGeom prst="rect">
            <a:avLst/>
          </a:prstGeom>
          <a:noFill/>
          <a:ln/>
        </p:spPr>
        <p:txBody>
          <a:bodyPr wrap="square" lIns="0" tIns="0" rIns="0" bIns="0" rtlCol="0" anchor="ctr"/>
          <a:lstStyle/>
          <a:p>
            <a:pPr indent="0" marL="0">
              <a:buNone/>
            </a:pPr>
            <a:r>
              <a:rPr lang="en-US" sz="1200" dirty="0">
                <a:solidFill>
                  <a:schemeClr val="tx1"/>
                </a:solidFill>
              </a:rPr>
              <a:t>Script: .github/scripts/ai_triage.py · API key lưu trong GitHub Secrets · thời gian là ước tính theo kế hoạch demo</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Kết quả thực nghiệm: tối ưu thời gian</a:t>
            </a:r>
            <a:endParaRPr lang="en-US" sz="3600" dirty="0"/>
          </a:p>
        </p:txBody>
      </p:sp>
      <p:graphicFrame>
        <p:nvGraphicFramePr>
          <p:cNvPr id="4" name="Chart 0" descr=""/>
          <p:cNvGraphicFramePr/>
          <p:nvPr/>
        </p:nvGraphicFramePr>
        <p:xfrm>
          <a:off x="548640" y="1371600"/>
          <a:ext cx="7132320" cy="46634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8046720" y="1554480"/>
            <a:ext cx="3566160" cy="4206240"/>
          </a:xfrm>
          <a:prstGeom prst="rect">
            <a:avLst/>
          </a:prstGeom>
          <a:noFill/>
          <a:ln/>
        </p:spPr>
        <p:txBody>
          <a:bodyPr wrap="square" lIns="0" tIns="0" rIns="0" bIns="0" rtlCol="0" anchor="t"/>
          <a:lstStyle/>
          <a:p>
            <a:pPr indent="0" marL="0">
              <a:spcAft>
                <a:spcPts val="1000"/>
              </a:spcAft>
              <a:buNone/>
            </a:pPr>
            <a:r>
              <a:rPr lang="en-US" sz="2200" b="1" dirty="0">
                <a:solidFill>
                  <a:schemeClr val="tx1"/>
                </a:solidFill>
              </a:rPr>
              <a:t>Nhận xét</a:t>
            </a:r>
            <a:endParaRPr lang="en-US" sz="1600" dirty="0"/>
          </a:p>
          <a:p>
            <a:pPr marL="342900" indent="-342900">
              <a:spcAft>
                <a:spcPts val="1000"/>
              </a:spcAft>
              <a:buSzPct val="100000"/>
              <a:buChar char="•"/>
            </a:pPr>
            <a:r>
              <a:rPr lang="en-US" sz="1600" dirty="0">
                <a:solidFill>
                  <a:schemeClr val="tx1"/>
                </a:solidFill>
              </a:rPr>
              <a:t>Cache rút bước cài đặt từ khoảng 60 giây xuống khoảng 5 giây</a:t>
            </a:r>
            <a:endParaRPr lang="en-US" sz="1600" dirty="0"/>
          </a:p>
          <a:p>
            <a:pPr marL="342900" indent="-342900">
              <a:spcAft>
                <a:spcPts val="1000"/>
              </a:spcAft>
              <a:buSzPct val="100000"/>
              <a:buChar char="•"/>
            </a:pPr>
            <a:r>
              <a:rPr lang="en-US" sz="1600" dirty="0">
                <a:solidFill>
                  <a:schemeClr val="tx1"/>
                </a:solidFill>
              </a:rPr>
              <a:t>AI Log Triage rút thời gian điều tra từ khoảng 2 phút xuống khoảng 15 giây</a:t>
            </a:r>
            <a:endParaRPr lang="en-US" sz="1600" dirty="0"/>
          </a:p>
          <a:p>
            <a:pPr indent="0" marL="0">
              <a:spcAft>
                <a:spcPts val="1000"/>
              </a:spcAft>
              <a:buNone/>
            </a:pPr>
            <a:r>
              <a:rPr lang="en-US" sz="1400" i="1" dirty="0">
                <a:solidFill>
                  <a:schemeClr val="tx1"/>
                </a:solidFill>
              </a:rPr>
              <a:t>Số liệu ước tính theo kế hoạch demo, cập nhật bằng số đo thực tế</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Độ bao phủ mã và phân quyền coupon</a:t>
            </a:r>
            <a:endParaRPr lang="en-US" sz="3600" dirty="0"/>
          </a:p>
        </p:txBody>
      </p:sp>
      <p:sp>
        <p:nvSpPr>
          <p:cNvPr id="4" name="Text 1"/>
          <p:cNvSpPr txBox="1"/>
          <p:nvPr/>
        </p:nvSpPr>
        <p:spPr>
          <a:xfrm>
            <a:off x="548640" y="1463040"/>
            <a:ext cx="5120640" cy="2377440"/>
          </a:xfrm>
          <a:prstGeom prst="rect">
            <a:avLst/>
          </a:prstGeom>
          <a:solidFill>
            <a:schemeClr val="bg2"/>
          </a:solidFill>
          <a:ln w="19050">
            <a:solidFill>
              <a:schemeClr val="tx1"/>
            </a:solidFill>
            <a:prstDash val="solid"/>
          </a:ln>
        </p:spPr>
        <p:txBody>
          <a:bodyPr wrap="square" lIns="76200" tIns="76200" rIns="76200" bIns="76200" rtlCol="0" anchor="ctr"/>
          <a:lstStyle/>
          <a:p>
            <a:pPr algn="ctr" indent="0" marL="0">
              <a:buNone/>
            </a:pPr>
            <a:r>
              <a:rPr lang="en-US" sz="6000" b="1" dirty="0">
                <a:solidFill>
                  <a:schemeClr val="tx1"/>
                </a:solidFill>
                <a:latin typeface="Arial" pitchFamily="34" charset="0"/>
                <a:ea typeface="Arial" pitchFamily="34" charset="-122"/>
                <a:cs typeface="Arial" pitchFamily="34" charset="-120"/>
              </a:rPr>
              <a:t>&gt; 70%</a:t>
            </a:r>
            <a:endParaRPr lang="en-US" sz="1400" dirty="0"/>
          </a:p>
          <a:p>
            <a:pPr algn="ctr" indent="0" marL="0">
              <a:buNone/>
            </a:pPr>
            <a:r>
              <a:rPr lang="en-US" sz="1600" dirty="0">
                <a:solidFill>
                  <a:schemeClr val="tx1"/>
                </a:solidFill>
                <a:latin typeface="Arial" pitchFamily="34" charset="0"/>
                <a:ea typeface="Arial" pitchFamily="34" charset="-122"/>
                <a:cs typeface="Arial" pitchFamily="34" charset="-120"/>
              </a:rPr>
              <a:t>ngưỡng line coverage module coupon</a:t>
            </a:r>
            <a:endParaRPr lang="en-US" sz="1400" dirty="0"/>
          </a:p>
        </p:txBody>
      </p:sp>
      <p:sp>
        <p:nvSpPr>
          <p:cNvPr id="5" name="Text 2"/>
          <p:cNvSpPr txBox="1"/>
          <p:nvPr/>
        </p:nvSpPr>
        <p:spPr>
          <a:xfrm>
            <a:off x="548640" y="4114800"/>
            <a:ext cx="5120640" cy="914400"/>
          </a:xfrm>
          <a:prstGeom prst="rect">
            <a:avLst/>
          </a:prstGeom>
          <a:solidFill>
            <a:schemeClr val="bg1"/>
          </a:solidFill>
          <a:ln w="19050">
            <a:solidFill>
              <a:schemeClr val="tx1"/>
            </a:solidFill>
            <a:prstDash val="solid"/>
          </a:ln>
        </p:spPr>
        <p:txBody>
          <a:bodyPr wrap="square" lIns="76200" tIns="76200" rIns="76200" bIns="76200" rtlCol="0" anchor="ctr"/>
          <a:lstStyle/>
          <a:p>
            <a:pPr algn="ctr" indent="0" marL="0">
              <a:buNone/>
            </a:pPr>
            <a:r>
              <a:rPr lang="en-US" sz="2000" b="1" dirty="0">
                <a:solidFill>
                  <a:schemeClr val="tx1"/>
                </a:solidFill>
                <a:latin typeface="Arial" pitchFamily="34" charset="0"/>
                <a:ea typeface="Arial" pitchFamily="34" charset="-122"/>
                <a:cs typeface="Arial" pitchFamily="34" charset="-120"/>
              </a:rPr>
              <a:t>Kết quả thực tế: [điền % coverage]</a:t>
            </a:r>
            <a:endParaRPr lang="en-US" sz="2000" dirty="0"/>
          </a:p>
        </p:txBody>
      </p:sp>
      <p:sp>
        <p:nvSpPr>
          <p:cNvPr id="6" name="Text 3"/>
          <p:cNvSpPr txBox="1"/>
          <p:nvPr/>
        </p:nvSpPr>
        <p:spPr>
          <a:xfrm>
            <a:off x="548640" y="5303520"/>
            <a:ext cx="5120640" cy="822960"/>
          </a:xfrm>
          <a:prstGeom prst="rect">
            <a:avLst/>
          </a:prstGeom>
          <a:noFill/>
          <a:ln/>
        </p:spPr>
        <p:txBody>
          <a:bodyPr wrap="square" lIns="0" tIns="0" rIns="0" bIns="0" rtlCol="0" anchor="t"/>
          <a:lstStyle/>
          <a:p>
            <a:pPr indent="0" marL="0">
              <a:buNone/>
            </a:pPr>
            <a:r>
              <a:rPr lang="en-US" sz="1400" b="1" dirty="0">
                <a:solidFill>
                  <a:schemeClr val="tx1"/>
                </a:solidFill>
              </a:rPr>
              <a:t>Báo cáo LCOV + HTML</a:t>
            </a:r>
            <a:endParaRPr lang="en-US" sz="1400" dirty="0"/>
          </a:p>
          <a:p>
            <a:pPr indent="0" marL="0">
              <a:buNone/>
            </a:pPr>
            <a:r>
              <a:rPr lang="en-US" sz="1300" dirty="0">
                <a:solidFill>
                  <a:schemeClr val="tx1"/>
                </a:solidFill>
                <a:latin typeface="Courier New" pitchFamily="34" charset="0"/>
                <a:ea typeface="Courier New" pitchFamily="34" charset="-122"/>
                <a:cs typeface="Courier New" pitchFamily="34" charset="-120"/>
              </a:rPr>
              <a:t>backend/coverage/lcov-report/index.html</a:t>
            </a:r>
            <a:endParaRPr lang="en-US" sz="1400" dirty="0"/>
          </a:p>
        </p:txBody>
      </p:sp>
      <p:sp>
        <p:nvSpPr>
          <p:cNvPr id="7" name="Text 4"/>
          <p:cNvSpPr txBox="1"/>
          <p:nvPr/>
        </p:nvSpPr>
        <p:spPr>
          <a:xfrm>
            <a:off x="6126480" y="1463040"/>
            <a:ext cx="5486400" cy="457200"/>
          </a:xfrm>
          <a:prstGeom prst="rect">
            <a:avLst/>
          </a:prstGeom>
          <a:noFill/>
          <a:ln/>
        </p:spPr>
        <p:txBody>
          <a:bodyPr wrap="square" lIns="0" tIns="0" rIns="0" bIns="0" rtlCol="0" anchor="ctr"/>
          <a:lstStyle/>
          <a:p>
            <a:pPr indent="0" marL="0">
              <a:buNone/>
            </a:pPr>
            <a:r>
              <a:rPr lang="en-US" sz="2000" b="1" dirty="0">
                <a:solidFill>
                  <a:schemeClr val="tx1"/>
                </a:solidFill>
              </a:rPr>
              <a:t>Phân quyền khi áp mã coupon</a:t>
            </a:r>
            <a:endParaRPr lang="en-US" sz="2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126480" y="2011680"/>
          <a:ext cx="5486400" cy="914400"/>
        </p:xfrm>
        <a:graphic>
          <a:graphicData uri="http://schemas.openxmlformats.org/drawingml/2006/table">
            <a:tbl>
              <a:tblPr/>
              <a:tblGrid>
                <a:gridCol w="1188720"/>
                <a:gridCol w="1828800"/>
                <a:gridCol w="2468880"/>
              </a:tblGrid>
              <a:tr h="1051560">
                <a:tc>
                  <a:txBody>
                    <a:bodyPr/>
                    <a:lstStyle/>
                    <a:p>
                      <a:pPr algn="l" indent="0" marL="0">
                        <a:buNone/>
                      </a:pPr>
                      <a:r>
                        <a:rPr lang="en-US" sz="1200" b="1" dirty="0">
                          <a:solidFill>
                            <a:srgbClr val="FFFFFF"/>
                          </a:solidFill>
                        </a:rPr>
                        <a:t>Vai trò</a:t>
                      </a:r>
                      <a:endParaRPr lang="en-US" sz="12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indent="0" marL="0">
                        <a:buNone/>
                      </a:pPr>
                      <a:r>
                        <a:rPr lang="en-US" sz="1200" b="1" dirty="0">
                          <a:solidFill>
                            <a:srgbClr val="FFFFFF"/>
                          </a:solidFill>
                        </a:rPr>
                        <a:t>Điều kiện</a:t>
                      </a:r>
                      <a:endParaRPr lang="en-US" sz="12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indent="0" marL="0">
                        <a:buNone/>
                      </a:pPr>
                      <a:r>
                        <a:rPr lang="en-US" sz="1200" b="1" dirty="0">
                          <a:solidFill>
                            <a:srgbClr val="FFFFFF"/>
                          </a:solidFill>
                        </a:rPr>
                        <a:t>Kết quả mong đợi</a:t>
                      </a:r>
                      <a:endParaRPr lang="en-US" sz="12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r>
              <a:tr h="1051560">
                <a:tc>
                  <a:txBody>
                    <a:bodyPr/>
                    <a:lstStyle/>
                    <a:p>
                      <a:pPr indent="0" marL="0">
                        <a:buNone/>
                      </a:pPr>
                      <a:r>
                        <a:rPr lang="en-US" sz="1600" b="1" dirty="0">
                          <a:solidFill>
                            <a:srgbClr val="000000"/>
                          </a:solidFill>
                        </a:rPr>
                        <a:t>Guest</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dirty="0">
                          <a:solidFill>
                            <a:srgbClr val="000000"/>
                          </a:solidFill>
                        </a:rPr>
                        <a:t>Không có token</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dirty="0">
                          <a:solidFill>
                            <a:srgbClr val="000000"/>
                          </a:solidFill>
                        </a:rPr>
                        <a:t>Từ chối (C4)</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51560">
                <a:tc>
                  <a:txBody>
                    <a:bodyPr/>
                    <a:lstStyle/>
                    <a:p>
                      <a:pPr indent="0" marL="0">
                        <a:buNone/>
                      </a:pPr>
                      <a:r>
                        <a:rPr lang="en-US" sz="1600" b="1" dirty="0">
                          <a:solidFill>
                            <a:srgbClr val="000000"/>
                          </a:solidFill>
                        </a:rPr>
                        <a:t>Guest</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dirty="0">
                          <a:solidFill>
                            <a:srgbClr val="000000"/>
                          </a:solidFill>
                        </a:rPr>
                        <a:t>Token sai</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dirty="0">
                          <a:solidFill>
                            <a:srgbClr val="000000"/>
                          </a:solidFill>
                        </a:rPr>
                        <a:t>Từ chối</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51560">
                <a:tc>
                  <a:txBody>
                    <a:bodyPr/>
                    <a:lstStyle/>
                    <a:p>
                      <a:pPr indent="0" marL="0">
                        <a:buNone/>
                      </a:pPr>
                      <a:r>
                        <a:rPr lang="en-US" sz="1600" b="1" dirty="0">
                          <a:solidFill>
                            <a:srgbClr val="000000"/>
                          </a:solidFill>
                        </a:rPr>
                        <a:t>User</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dirty="0">
                          <a:solidFill>
                            <a:srgbClr val="000000"/>
                          </a:solidFill>
                        </a:rPr>
                        <a:t>JWT hợp lệ</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dirty="0">
                          <a:solidFill>
                            <a:srgbClr val="000000"/>
                          </a:solidFill>
                        </a:rPr>
                        <a:t>Áp mã nếu đạt C1, C2, C3, C5</a:t>
                      </a:r>
                      <a:endParaRPr lang="en-US" sz="16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Demo video</a:t>
            </a:r>
            <a:endParaRPr lang="en-US" sz="3600" dirty="0"/>
          </a:p>
        </p:txBody>
      </p:sp>
      <p:sp>
        <p:nvSpPr>
          <p:cNvPr id="4" name="Text 1"/>
          <p:cNvSpPr txBox="1"/>
          <p:nvPr/>
        </p:nvSpPr>
        <p:spPr>
          <a:xfrm>
            <a:off x="548640" y="1554480"/>
            <a:ext cx="6583680" cy="4206240"/>
          </a:xfrm>
          <a:prstGeom prst="rect">
            <a:avLst/>
          </a:prstGeom>
          <a:noFill/>
          <a:ln/>
        </p:spPr>
        <p:txBody>
          <a:bodyPr wrap="square" lIns="0" tIns="0" rIns="0" bIns="0" rtlCol="0" anchor="t"/>
          <a:lstStyle/>
          <a:p>
            <a:pPr marL="342900" indent="-342900">
              <a:spcAft>
                <a:spcPts val="2200"/>
              </a:spcAft>
              <a:buSzPct val="100000"/>
              <a:buFont typeface="+mj-lt"/>
              <a:buAutoNum type="arabicPeriod" startAt="1"/>
            </a:pPr>
            <a:r>
              <a:rPr lang="en-US" sz="2200" dirty="0">
                <a:solidFill>
                  <a:schemeClr val="tx1"/>
                </a:solidFill>
              </a:rPr>
              <a:t>Khởi tạo workflow eshop-ci.yml và tối ưu cache</a:t>
            </a:r>
            <a:endParaRPr lang="en-US" sz="2200" dirty="0"/>
          </a:p>
          <a:p>
            <a:pPr marL="342900" indent="-342900">
              <a:spcAft>
                <a:spcPts val="2200"/>
              </a:spcAft>
              <a:buSzPct val="100000"/>
              <a:buFont typeface="+mj-lt"/>
              <a:buAutoNum type="arabicPeriod" startAt="1"/>
            </a:pPr>
            <a:r>
              <a:rPr lang="en-US" sz="2200" dirty="0">
                <a:solidFill>
                  <a:schemeClr val="tx1"/>
                </a:solidFill>
              </a:rPr>
              <a:t>Commit lỗi: Quality Gate chặn merge, sửa lỗi, pipeline xanh</a:t>
            </a:r>
            <a:endParaRPr lang="en-US" sz="2200" dirty="0"/>
          </a:p>
          <a:p>
            <a:pPr marL="342900" indent="-342900">
              <a:spcAft>
                <a:spcPts val="2200"/>
              </a:spcAft>
              <a:buSzPct val="100000"/>
              <a:buFont typeface="+mj-lt"/>
              <a:buAutoNum type="arabicPeriod" startAt="1"/>
            </a:pPr>
            <a:r>
              <a:rPr lang="en-US" sz="2200" dirty="0">
                <a:solidFill>
                  <a:schemeClr val="tx1"/>
                </a:solidFill>
              </a:rPr>
              <a:t>Matrix Node 18 / 20 và Branch Protection</a:t>
            </a:r>
            <a:endParaRPr lang="en-US" sz="2200" dirty="0"/>
          </a:p>
          <a:p>
            <a:pPr marL="342900" indent="-342900">
              <a:spcAft>
                <a:spcPts val="2200"/>
              </a:spcAft>
              <a:buSzPct val="100000"/>
              <a:buFont typeface="+mj-lt"/>
              <a:buAutoNum type="arabicPeriod" startAt="1"/>
            </a:pPr>
            <a:r>
              <a:rPr lang="en-US" sz="2200" dirty="0">
                <a:solidFill>
                  <a:schemeClr val="tx1"/>
                </a:solidFill>
              </a:rPr>
              <a:t>Jest test.each phát hiện lỗi coupon</a:t>
            </a:r>
            <a:endParaRPr lang="en-US" sz="2200" dirty="0"/>
          </a:p>
          <a:p>
            <a:pPr marL="342900" indent="-342900">
              <a:spcAft>
                <a:spcPts val="2200"/>
              </a:spcAft>
              <a:buSzPct val="100000"/>
              <a:buFont typeface="+mj-lt"/>
              <a:buAutoNum type="arabicPeriod" startAt="1"/>
            </a:pPr>
            <a:r>
              <a:rPr lang="en-US" sz="2200" dirty="0">
                <a:solidFill>
                  <a:schemeClr val="tx1"/>
                </a:solidFill>
              </a:rPr>
              <a:t>AI Log Triage chẩn đoán lỗi pipeline</a:t>
            </a:r>
            <a:endParaRPr lang="en-US" sz="2200" dirty="0"/>
          </a:p>
        </p:txBody>
      </p:sp>
      <p:sp>
        <p:nvSpPr>
          <p:cNvPr id="5" name="Text 2"/>
          <p:cNvSpPr txBox="1"/>
          <p:nvPr/>
        </p:nvSpPr>
        <p:spPr>
          <a:xfrm>
            <a:off x="7589520" y="1645920"/>
            <a:ext cx="4023360" cy="3291840"/>
          </a:xfrm>
          <a:prstGeom prst="rect">
            <a:avLst/>
          </a:prstGeom>
          <a:solidFill>
            <a:schemeClr val="bg2"/>
          </a:solidFill>
          <a:ln w="19050">
            <a:solidFill>
              <a:schemeClr val="tx1"/>
            </a:solidFill>
            <a:prstDash val="solid"/>
          </a:ln>
        </p:spPr>
        <p:txBody>
          <a:bodyPr wrap="square" lIns="76200" tIns="76200" rIns="76200" bIns="76200" rtlCol="0" anchor="ctr"/>
          <a:lstStyle/>
          <a:p>
            <a:pPr algn="ctr" indent="0" marL="0">
              <a:spcAft>
                <a:spcPts val="1000"/>
              </a:spcAft>
              <a:buNone/>
            </a:pPr>
            <a:r>
              <a:rPr lang="en-US" sz="2400" b="1" dirty="0">
                <a:solidFill>
                  <a:schemeClr val="tx1"/>
                </a:solidFill>
                <a:latin typeface="Arial" pitchFamily="34" charset="0"/>
                <a:ea typeface="Arial" pitchFamily="34" charset="-122"/>
                <a:cs typeface="Arial" pitchFamily="34" charset="-120"/>
              </a:rPr>
              <a:t>Demo_Screencast.mp4</a:t>
            </a:r>
            <a:endParaRPr lang="en-US" sz="1400" dirty="0"/>
          </a:p>
          <a:p>
            <a:pPr algn="ctr" indent="0" marL="0">
              <a:spcAft>
                <a:spcPts val="1000"/>
              </a:spcAft>
              <a:buNone/>
            </a:pPr>
            <a:r>
              <a:rPr lang="en-US" sz="1600" dirty="0">
                <a:solidFill>
                  <a:schemeClr val="tx1"/>
                </a:solidFill>
                <a:latin typeface="Arial" pitchFamily="34" charset="0"/>
                <a:ea typeface="Arial" pitchFamily="34" charset="-122"/>
                <a:cs typeface="Arial" pitchFamily="34" charset="-120"/>
              </a:rPr>
              <a:t>Link video:</a:t>
            </a:r>
            <a:endParaRPr lang="en-US" sz="1400" dirty="0"/>
          </a:p>
          <a:p>
            <a:pPr algn="ctr" indent="0" marL="0">
              <a:spcAft>
                <a:spcPts val="1000"/>
              </a:spcAft>
              <a:buNone/>
            </a:pPr>
            <a:r>
              <a:rPr lang="en-US" sz="1800" dirty="0">
                <a:solidFill>
                  <a:schemeClr val="tx1"/>
                </a:solidFill>
                <a:latin typeface="Arial" pitchFamily="34" charset="0"/>
                <a:ea typeface="Arial" pitchFamily="34" charset="-122"/>
                <a:cs typeface="Arial" pitchFamily="34" charset="-120"/>
              </a:rPr>
              <a:t>[dán link tại đây]</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rPr>
              <a:t>Kết luận và bài học</a:t>
            </a:r>
            <a:endParaRPr lang="en-US" sz="3600" dirty="0"/>
          </a:p>
        </p:txBody>
      </p:sp>
      <p:sp>
        <p:nvSpPr>
          <p:cNvPr id="4" name="Text 1"/>
          <p:cNvSpPr txBox="1"/>
          <p:nvPr/>
        </p:nvSpPr>
        <p:spPr>
          <a:xfrm>
            <a:off x="548640" y="1463040"/>
            <a:ext cx="6583680" cy="3840480"/>
          </a:xfrm>
          <a:prstGeom prst="rect">
            <a:avLst/>
          </a:prstGeom>
          <a:noFill/>
          <a:ln/>
        </p:spPr>
        <p:txBody>
          <a:bodyPr wrap="square" lIns="0" tIns="0" rIns="0" bIns="0" rtlCol="0" anchor="t"/>
          <a:lstStyle/>
          <a:p>
            <a:pPr marL="342900" indent="-342900">
              <a:spcAft>
                <a:spcPts val="2400"/>
              </a:spcAft>
              <a:buSzPct val="100000"/>
              <a:buFont typeface="+mj-lt"/>
              <a:buAutoNum type="arabicPeriod" startAt="1"/>
            </a:pPr>
            <a:r>
              <a:rPr lang="en-US" sz="2200" dirty="0">
                <a:solidFill>
                  <a:schemeClr val="tx1"/>
                </a:solidFill>
              </a:rPr>
              <a:t>Pipeline xanh là rào chắn chất lượng đầu tiên: CI/CD là hạ tầng Test Harness</a:t>
            </a:r>
            <a:endParaRPr lang="en-US" sz="2200" dirty="0"/>
          </a:p>
          <a:p>
            <a:pPr marL="342900" indent="-342900">
              <a:spcAft>
                <a:spcPts val="2400"/>
              </a:spcAft>
              <a:buSzPct val="100000"/>
              <a:buFont typeface="+mj-lt"/>
              <a:buAutoNum type="arabicPeriod" startAt="1"/>
            </a:pPr>
            <a:r>
              <a:rPr lang="en-US" sz="2200" dirty="0">
                <a:solidFill>
                  <a:schemeClr val="tx1"/>
                </a:solidFill>
              </a:rPr>
              <a:t>Data-Driven Testing với test.each lộ lỗi coupon mà ca đơn lẻ dễ bỏ sót</a:t>
            </a:r>
            <a:endParaRPr lang="en-US" sz="2200" dirty="0"/>
          </a:p>
          <a:p>
            <a:pPr marL="342900" indent="-342900">
              <a:spcAft>
                <a:spcPts val="2400"/>
              </a:spcAft>
              <a:buSzPct val="100000"/>
              <a:buFont typeface="+mj-lt"/>
              <a:buAutoNum type="arabicPeriod" startAt="1"/>
            </a:pPr>
            <a:r>
              <a:rPr lang="en-US" sz="2200" dirty="0">
                <a:solidFill>
                  <a:schemeClr val="tx1"/>
                </a:solidFill>
              </a:rPr>
              <a:t>AI Log Triage tăng tốc điều tra nhưng cần kiểm chứng với log đủ ngữ cảnh</a:t>
            </a:r>
            <a:endParaRPr lang="en-US" sz="2200" dirty="0"/>
          </a:p>
        </p:txBody>
      </p:sp>
      <p:sp>
        <p:nvSpPr>
          <p:cNvPr id="5" name="Text 2"/>
          <p:cNvSpPr txBox="1"/>
          <p:nvPr/>
        </p:nvSpPr>
        <p:spPr>
          <a:xfrm>
            <a:off x="7498080" y="1463040"/>
            <a:ext cx="4114800" cy="3474720"/>
          </a:xfrm>
          <a:prstGeom prst="rect">
            <a:avLst/>
          </a:prstGeom>
          <a:solidFill>
            <a:schemeClr val="bg2"/>
          </a:solidFill>
          <a:ln w="12700">
            <a:solidFill>
              <a:schemeClr val="tx1"/>
            </a:solidFill>
            <a:prstDash val="solid"/>
          </a:ln>
        </p:spPr>
        <p:txBody>
          <a:bodyPr wrap="square" lIns="203200" tIns="203200" rIns="203200" bIns="203200" rtlCol="0" anchor="t"/>
          <a:lstStyle/>
          <a:p>
            <a:pPr algn="l" indent="0" marL="0">
              <a:spcAft>
                <a:spcPts val="1200"/>
              </a:spcAft>
              <a:buNone/>
            </a:pPr>
            <a:r>
              <a:rPr lang="en-US" sz="2000" b="1" dirty="0">
                <a:solidFill>
                  <a:schemeClr val="tx1"/>
                </a:solidFill>
                <a:latin typeface="Arial" pitchFamily="34" charset="0"/>
                <a:ea typeface="Arial" pitchFamily="34" charset="-122"/>
                <a:cs typeface="Arial" pitchFamily="34" charset="-120"/>
              </a:rPr>
              <a:t>Hạn chế</a:t>
            </a:r>
            <a:endParaRPr lang="en-US" sz="1800" dirty="0"/>
          </a:p>
          <a:p>
            <a:pPr algn="l" marL="342900" indent="-342900">
              <a:spcAft>
                <a:spcPts val="1200"/>
              </a:spcAft>
              <a:buSzPct val="100000"/>
              <a:buChar char="•"/>
            </a:pPr>
            <a:r>
              <a:rPr lang="en-US" sz="1800" dirty="0">
                <a:solidFill>
                  <a:schemeClr val="tx1"/>
                </a:solidFill>
                <a:latin typeface="Arial" pitchFamily="34" charset="0"/>
                <a:ea typeface="Arial" pitchFamily="34" charset="-122"/>
                <a:cs typeface="Arial" pitchFamily="34" charset="-120"/>
              </a:rPr>
              <a:t>Phụ thuộc hạ tầng GitHub</a:t>
            </a:r>
            <a:endParaRPr lang="en-US" sz="1800" dirty="0"/>
          </a:p>
          <a:p>
            <a:pPr algn="l" marL="342900" indent="-342900">
              <a:spcAft>
                <a:spcPts val="1200"/>
              </a:spcAft>
              <a:buSzPct val="100000"/>
              <a:buChar char="•"/>
            </a:pPr>
            <a:r>
              <a:rPr lang="en-US" sz="1800" dirty="0">
                <a:solidFill>
                  <a:schemeClr val="tx1"/>
                </a:solidFill>
                <a:latin typeface="Arial" pitchFamily="34" charset="0"/>
                <a:ea typeface="Arial" pitchFamily="34" charset="-122"/>
                <a:cs typeface="Arial" pitchFamily="34" charset="-120"/>
              </a:rPr>
              <a:t>Runner miễn phí: 2 vCPU, 7GB RAM</a:t>
            </a:r>
            <a:endParaRPr lang="en-US" sz="1800" dirty="0"/>
          </a:p>
          <a:p>
            <a:pPr algn="l" marL="342900" indent="-342900">
              <a:spcAft>
                <a:spcPts val="1200"/>
              </a:spcAft>
              <a:buSzPct val="100000"/>
              <a:buChar char="•"/>
            </a:pPr>
            <a:r>
              <a:rPr lang="en-US" sz="1800" dirty="0">
                <a:solidFill>
                  <a:schemeClr val="tx1"/>
                </a:solidFill>
                <a:latin typeface="Arial" pitchFamily="34" charset="0"/>
                <a:ea typeface="Arial" pitchFamily="34" charset="-122"/>
                <a:cs typeface="Arial" pitchFamily="34" charset="-120"/>
              </a:rPr>
              <a:t>Log thiếu ngữ cảnh làm AI đoán sai</a:t>
            </a:r>
            <a:endParaRPr lang="en-US" sz="1800" dirty="0"/>
          </a:p>
        </p:txBody>
      </p:sp>
      <p:sp>
        <p:nvSpPr>
          <p:cNvPr id="6" name="Text 3"/>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1800" b="1" dirty="0">
                <a:solidFill>
                  <a:schemeClr val="tx1"/>
                </a:solidFill>
              </a:rPr>
              <a:t>Mã nguồn: </a:t>
            </a:r>
            <a:pPr indent="0" marL="0">
              <a:buNone/>
            </a:pPr>
            <a:r>
              <a:rPr lang="en-US" sz="1800" u="sng" dirty="0">
                <a:solidFill>
                  <a:schemeClr val="tx1"/>
                </a:solidFill>
                <a:hlinkClick r:id="rId1" invalidUrl="" action="" tgtFrame="" tooltip="Repo seminar" history="1" highlightClick="0" endSnd="0">
                  <a:extLst>
                    <a:ext uri="{A12FA001-AC4F-418D-AE19-62706E023703}">
                      <ahyp:hlinkClr xmlns:ahyp="http://schemas.microsoft.com/office/drawing/2018/hyperlinkcolor" val="tx"/>
                    </a:ext>
                  </a:extLst>
                </a:hlinkClick>
              </a:rPr>
              <a:t>github.com/SoftwareTesting-Group13/eshop-sut-seminar</a:t>
            </a:r>
            <a:pPr indent="0" marL="0">
              <a:buNone/>
            </a:pPr>
            <a:r>
              <a:rPr lang="en-US" sz="1800" b="1" dirty="0">
                <a:solidFill>
                  <a:schemeClr val="tx1"/>
                </a:solidFill>
              </a:rPr>
              <a:t>   ·   Cảm ơn thầy cô và các bạn. Q&amp;A</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Mono Seminar">
  <a:themeElements>
    <a:clrScheme name="Mono Seminar">
      <a:dk1>
        <a:srgbClr val="000000"/>
      </a:dk1>
      <a:lt1>
        <a:srgbClr val="FFFFFF"/>
      </a:lt1>
      <a:dk2>
        <a:srgbClr val="404040"/>
      </a:dk2>
      <a:lt2>
        <a:srgbClr val="F2F2F2"/>
      </a:lt2>
      <a:accent1>
        <a:srgbClr val="000000"/>
      </a:accent1>
      <a:accent2>
        <a:srgbClr val="595959"/>
      </a:accent2>
      <a:accent3>
        <a:srgbClr val="7F7F7F"/>
      </a:accent3>
      <a:accent4>
        <a:srgbClr val="A6A6A6"/>
      </a:accent4>
      <a:accent5>
        <a:srgbClr val="D9D9D9"/>
      </a:accent5>
      <a:accent6>
        <a:srgbClr val="262626"/>
      </a:accent6>
      <a:hlink>
        <a:srgbClr val="000000"/>
      </a:hlink>
      <a:folHlink>
        <a:srgbClr val="404040"/>
      </a:folHlink>
    </a:clrScheme>
    <a:fontScheme name="Mono Semina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CI/CD &amp; Test Harness Engineering - Seminar T07</dc:title>
  <dc:subject>PptxGenJS Presentation</dc:subject>
  <dc:creator>Nhóm 13</dc:creator>
  <cp:lastModifiedBy>Nhóm 13</cp:lastModifiedBy>
  <cp:revision>1</cp:revision>
  <dcterms:created xsi:type="dcterms:W3CDTF">2026-10-22T06:21:25Z</dcterms:created>
  <dcterms:modified xsi:type="dcterms:W3CDTF">2026-10-22T06:21:25Z</dcterms:modified>
</cp:coreProperties>
</file>