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c3c9d0b38e4042" /><Relationship Type="http://schemas.openxmlformats.org/officeDocument/2006/relationships/extended-properties" Target="/docProps/app.xml" Id="R61aae56c9b624267" /><Relationship Type="http://schemas.openxmlformats.org/officeDocument/2006/relationships/officeDocument" Target="/ppt/presentation.xml" Id="Rb686ab5d151b45cc" /></Relationships>
</file>

<file path=ppt/presentation.xml><?xml version="1.0" encoding="utf-8"?>
<p:presentation xmlns:p="http://schemas.openxmlformats.org/presentationml/2006/main">
  <p:sldMasterIdLst>
    <p:sldMasterId xmlns:r="http://schemas.openxmlformats.org/officeDocument/2006/relationships" id="2147483648" r:id="Reed8e27a37324909"/>
  </p:sldMasterIdLst>
  <p:notesMasterIdLst>
    <p:notesMasterId xmlns:r="http://schemas.openxmlformats.org/officeDocument/2006/relationships" r:id="Ra9836ee65e714077"/>
  </p:notesMasterIdLst>
  <p:sldIdLst>
    <p:sldId xmlns:r="http://schemas.openxmlformats.org/officeDocument/2006/relationships" id="256" r:id="Rf406045e9a57477b"/>
    <p:sldId xmlns:r="http://schemas.openxmlformats.org/officeDocument/2006/relationships" id="257" r:id="R5b237cf84f3f439d"/>
    <p:sldId xmlns:r="http://schemas.openxmlformats.org/officeDocument/2006/relationships" id="258" r:id="Rbb25253d14034303"/>
    <p:sldId xmlns:r="http://schemas.openxmlformats.org/officeDocument/2006/relationships" id="259" r:id="Rda4ea7cc26394a52"/>
    <p:sldId xmlns:r="http://schemas.openxmlformats.org/officeDocument/2006/relationships" id="260" r:id="R80d581c4cb4446d2"/>
    <p:sldId xmlns:r="http://schemas.openxmlformats.org/officeDocument/2006/relationships" id="261" r:id="Rb7691c935bc841e3"/>
    <p:sldId xmlns:r="http://schemas.openxmlformats.org/officeDocument/2006/relationships" id="262" r:id="R6039e2462f4e4695"/>
    <p:sldId xmlns:r="http://schemas.openxmlformats.org/officeDocument/2006/relationships" id="263" r:id="R52465f53f5fb4d21"/>
    <p:sldId xmlns:r="http://schemas.openxmlformats.org/officeDocument/2006/relationships" id="264" r:id="Ref9e3cd3a6294789"/>
    <p:sldId xmlns:r="http://schemas.openxmlformats.org/officeDocument/2006/relationships" id="265" r:id="Rf1844720e12248b1"/>
    <p:sldId xmlns:r="http://schemas.openxmlformats.org/officeDocument/2006/relationships" id="266" r:id="Rd059fef535ca4977"/>
    <p:sldId xmlns:r="http://schemas.openxmlformats.org/officeDocument/2006/relationships" id="267" r:id="R038d712bbbd64b6c"/>
    <p:sldId xmlns:r="http://schemas.openxmlformats.org/officeDocument/2006/relationships" id="268" r:id="R395cb0c87a22468b"/>
    <p:sldId xmlns:r="http://schemas.openxmlformats.org/officeDocument/2006/relationships" id="269" r:id="R9af168dce30b4d72"/>
    <p:sldId xmlns:r="http://schemas.openxmlformats.org/officeDocument/2006/relationships" id="270" r:id="R21deab66c21a4247"/>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c156f01a29f4cda" /><Relationship Type="http://schemas.openxmlformats.org/officeDocument/2006/relationships/slideMaster" Target="/ppt/slideMasters/slideMaster1.xml" Id="Reed8e27a37324909" /><Relationship Type="http://schemas.openxmlformats.org/officeDocument/2006/relationships/notesMaster" Target="/ppt/notesMasters/notesMaster1.xml" Id="Ra9836ee65e714077" /><Relationship Type="http://schemas.openxmlformats.org/officeDocument/2006/relationships/presProps" Target="/ppt/presProps.xml" Id="R53bfd87b348d4441" /><Relationship Type="http://schemas.openxmlformats.org/officeDocument/2006/relationships/viewProps" Target="/ppt/viewProps.xml" Id="R22139d2772df488e" /><Relationship Type="http://schemas.openxmlformats.org/officeDocument/2006/relationships/tableStyles" Target="/ppt/tableStyles.xml" Id="R2eb2af1bd053431a" /><Relationship Type="http://schemas.openxmlformats.org/officeDocument/2006/relationships/slide" Target="/ppt/slides/slide1.xml" Id="Rf406045e9a57477b" /><Relationship Type="http://schemas.openxmlformats.org/officeDocument/2006/relationships/slide" Target="/ppt/slides/slide2.xml" Id="R5b237cf84f3f439d" /><Relationship Type="http://schemas.openxmlformats.org/officeDocument/2006/relationships/slide" Target="/ppt/slides/slide3.xml" Id="Rbb25253d14034303" /><Relationship Type="http://schemas.openxmlformats.org/officeDocument/2006/relationships/slide" Target="/ppt/slides/slide4.xml" Id="Rda4ea7cc26394a52" /><Relationship Type="http://schemas.openxmlformats.org/officeDocument/2006/relationships/slide" Target="/ppt/slides/slide5.xml" Id="R80d581c4cb4446d2" /><Relationship Type="http://schemas.openxmlformats.org/officeDocument/2006/relationships/slide" Target="/ppt/slides/slide6.xml" Id="Rb7691c935bc841e3" /><Relationship Type="http://schemas.openxmlformats.org/officeDocument/2006/relationships/slide" Target="/ppt/slides/slide7.xml" Id="R6039e2462f4e4695" /><Relationship Type="http://schemas.openxmlformats.org/officeDocument/2006/relationships/slide" Target="/ppt/slides/slide8.xml" Id="R52465f53f5fb4d21" /><Relationship Type="http://schemas.openxmlformats.org/officeDocument/2006/relationships/slide" Target="/ppt/slides/slide9.xml" Id="Ref9e3cd3a6294789" /><Relationship Type="http://schemas.openxmlformats.org/officeDocument/2006/relationships/slide" Target="/ppt/slides/slide10.xml" Id="Rf1844720e12248b1" /><Relationship Type="http://schemas.openxmlformats.org/officeDocument/2006/relationships/slide" Target="/ppt/slides/slide11.xml" Id="Rd059fef535ca4977" /><Relationship Type="http://schemas.openxmlformats.org/officeDocument/2006/relationships/slide" Target="/ppt/slides/slide12.xml" Id="R038d712bbbd64b6c" /><Relationship Type="http://schemas.openxmlformats.org/officeDocument/2006/relationships/slide" Target="/ppt/slides/slide13.xml" Id="R395cb0c87a22468b" /><Relationship Type="http://schemas.openxmlformats.org/officeDocument/2006/relationships/slide" Target="/ppt/slides/slide14.xml" Id="R9af168dce30b4d72" /><Relationship Type="http://schemas.openxmlformats.org/officeDocument/2006/relationships/slide" Target="/ppt/slides/slide15.xml" Id="R21deab66c21a42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d95a45ab0a491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ddf9e675cb4319" /><Relationship Type="http://schemas.openxmlformats.org/officeDocument/2006/relationships/notesMaster" Target="/ppt/notesMasters/notesMaster1.xml" Id="R7ba2100d305848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7bde46a03e4635" /><Relationship Type="http://schemas.openxmlformats.org/officeDocument/2006/relationships/notesMaster" Target="/ppt/notesMasters/notesMaster1.xml" Id="R083b5dfab00c46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0909b01a164ea2" /><Relationship Type="http://schemas.openxmlformats.org/officeDocument/2006/relationships/notesMaster" Target="/ppt/notesMasters/notesMaster1.xml" Id="Ra4c817d6c74f42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2e1c833d4bd2" /><Relationship Type="http://schemas.openxmlformats.org/officeDocument/2006/relationships/notesMaster" Target="/ppt/notesMasters/notesMaster1.xml" Id="R773d431753b249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db8e89031b4951" /><Relationship Type="http://schemas.openxmlformats.org/officeDocument/2006/relationships/notesMaster" Target="/ppt/notesMasters/notesMaster1.xml" Id="R7cbb79dc020947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51dc08bd1e47ec" /><Relationship Type="http://schemas.openxmlformats.org/officeDocument/2006/relationships/notesMaster" Target="/ppt/notesMasters/notesMaster1.xml" Id="Re9517ac9dd3c4e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4ce54a56ca494c" /><Relationship Type="http://schemas.openxmlformats.org/officeDocument/2006/relationships/notesMaster" Target="/ppt/notesMasters/notesMaster1.xml" Id="R80da3cab805c45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01b1eef2224ff6" /><Relationship Type="http://schemas.openxmlformats.org/officeDocument/2006/relationships/notesMaster" Target="/ppt/notesMasters/notesMaster1.xml" Id="R345dda6ecdf34f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96c14a9ed24896" /><Relationship Type="http://schemas.openxmlformats.org/officeDocument/2006/relationships/notesMaster" Target="/ppt/notesMasters/notesMaster1.xml" Id="Rc28d99559af940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000f8e362849bc" /><Relationship Type="http://schemas.openxmlformats.org/officeDocument/2006/relationships/notesMaster" Target="/ppt/notesMasters/notesMaster1.xml" Id="Rfe19c8161ef944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ea15fd6a9d4b22" /><Relationship Type="http://schemas.openxmlformats.org/officeDocument/2006/relationships/notesMaster" Target="/ppt/notesMasters/notesMaster1.xml" Id="R41417974925448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0fba453d4864f57" /><Relationship Type="http://schemas.openxmlformats.org/officeDocument/2006/relationships/notesMaster" Target="/ppt/notesMasters/notesMaster1.xml" Id="R5d4d350110b9408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bc7f645d32342b0" /><Relationship Type="http://schemas.openxmlformats.org/officeDocument/2006/relationships/notesMaster" Target="/ppt/notesMasters/notesMaster1.xml" Id="R407608bcfc7148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07d69c95d6f4d82" /><Relationship Type="http://schemas.openxmlformats.org/officeDocument/2006/relationships/notesMaster" Target="/ppt/notesMasters/notesMaster1.xml" Id="R1602f38ae0814f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69260503ef743d7" /><Relationship Type="http://schemas.openxmlformats.org/officeDocument/2006/relationships/notesMaster" Target="/ppt/notesMasters/notesMaster1.xml" Id="R9b179d3dd66f45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Giới thiệu nhóm và chủ đề T07. Seminar áp dụng CI/CD như hạ tầng điều phối kiểm thử tự động cho hệ thống EShop.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Nêu bài toán Integration Hell, nguyên lý Shift-Left và vai trò của CI/CD như hạ tầng Test Harness.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thành phần của EShop. Seminar tập trung vào Backend API và module coupon (FR-09), kiểm thử bằng Jest.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thành phần kiến trúc của Test Harness và cách EShop hiện thực từng thành phần.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Luồng pipeline từ commit đến merge. Quality Gate là chốt chặn: test fail hoặc coverage thấp thì Branch Protection khóa nút Merge.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Khảo sát theo 5 tiêu chí của môn học. Chọn GitHub Actions làm trọng tâm, Jest và LLM Log Triage làm công cụ hỗ trợ.</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Mỗi công cụ có ba kịch bản demo. Kịch bản test.each sẽ lộ lỗi coupon thực tế.</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thành phần kiểm thử áp dụng trong CI/CD của EShop: Record and Playback, Data-Driven, Checkpoints.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Failure Mode 2: công thức coupon percent trong server.js dùng (1 - discount_value). Với SAVE10 (discount_value = 10) thì (1 - 10) = -9, nên discount_amount = 500,000 x (-9) = -4,500,000 và final_amount = 500,000 - (-4,500,000) = 5,000,000, lớn hơn cả tổng đơn. Công thức đúng theo FR-09: total_amount x discount_value / 100, cho giảm 50,000 và thành tiền 450,000. Lỗi này lộ ra khi test.each so sánh discount_amount với giá trị kỳ vọng; ca đơn lẻ không kiểm tra số tiền dễ bỏ sót.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 ca chia thành 6 nhóm: ngưỡng tổng đơn C3 (6 ca: SAVE10 và BIGBUY, mỗi mã 3 điểm quanh ngưỡng), hạn dùng C2 (3 ca), giá trị percent (4 ca), fixed so với tổng đơn (3 ca), tổng đơn bất thường (3 ca) và giới hạn int32 (2 ca). Một hàm test.each duy nhất chạy toàn bộ bảng dữ liệu trên POST /api/apply-coupon, tách logic kiểm thử khỏi dữ liệu. Với ca fixed 99,999: công thức cho final = -1, nên kỳ vọng là final không âm.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Khi pipeline fail, ai_triage.py gửi 100 dòng log cuối cho LLM và nhận lại phân tích nguyên nhân. Thời gian ~2 phút và ~15 giây là ước tính theo kế hoạch demo.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Số liệu ước tính theo kế hoạch demo: cache 60s xuống 5s, triage thủ công 2 phút xuống 15 giây. Thay bằng số đo thực tế sau khi chạy workflow.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Quality Gate yêu cầu line coverage module coupon trên 70%. Ca bổ sung kiểm tra phân quyền guest và user khi áp mã.</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Tóm tắt các mốc chính của video Demo_Screencast.mp4. Nhớ thay link thật vào khung bên phải.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 bài học chính, các hạn chế và link repo. Mở phần Q&amp;A.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4509d191c54f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c0cf1a199c445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139dc13b9f4ea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E97334-1AA3-4B6C-B382-8A1103CC61EB}"/>
              </a:ext>
            </a:extLst>
          </p:cNvPr>
          <p:cNvSpPr>
            <a:spLocks xmlns:a="http://schemas.openxmlformats.org/drawingml/2006/main" noGrp="1"/>
          </p:cNvSpPr>
          <p:nvPr>
            <p:ph type="title" idx="100" hasCustomPrompt="1"/>
          </p:nvPr>
        </p:nvSpPr>
        <p:spPr>
          <a:xfrm xmlns:a="http://schemas.openxmlformats.org/drawingml/2006/main">
            <a:off x="731520" y="1554480"/>
            <a:ext cx="10698480" cy="146304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4400" b="1">
                <a:solidFill>
                  <a:schemeClr val="tx1"/>
                </a:solidFill>
              </a:defRPr>
            </a:lvl1pPr>
          </a:lstStyle>
          <a:p xmlns:a="http://schemas.openxmlformats.org/drawingml/2006/main">
            <a:pPr marL="0" indent="0" algn="l">
              <a:buNone/>
            </a:pPr>
            <a:endParaRPr sz="4400"/>
          </a:p>
        </p:txBody>
      </p:sp>
      <p:sp>
        <p:nvSpPr>
          <p:cNvPr id="3" name="Text 0">
            <a:extLst xmlns:a="http://schemas.openxmlformats.org/drawingml/2006/main">
              <a:ext uri="{FF2B5EF4-FFF2-40B4-BE49-F238E27FC236}">
                <a16:creationId xmlns:a16="http://schemas.microsoft.com/office/drawing/2014/main" id="{2332F513-6012-49A0-ADD8-1FC7B7AF0115}"/>
              </a:ext>
            </a:extLst>
          </p:cNvPr>
          <p:cNvSpPr>
            <a:spLocks xmlns:a="http://schemas.openxmlformats.org/drawingml/2006/main" noGrp="1"/>
          </p:cNvSpPr>
          <p:nvPr>
            <p:ph type="body" idx="101" hasCustomPrompt="1"/>
          </p:nvPr>
        </p:nvSpPr>
        <p:spPr>
          <a:xfrm xmlns:a="http://schemas.openxmlformats.org/drawingml/2006/main">
            <a:off x="731520" y="3200400"/>
            <a:ext cx="10698480" cy="8229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2400">
                <a:solidFill>
                  <a:schemeClr val="tx1"/>
                </a:solidFill>
              </a:defRPr>
            </a:lvl1pPr>
          </a:lstStyle>
          <a:p xmlns:a="http://schemas.openxmlformats.org/drawingml/2006/main">
            <a:pPr marL="0" indent="0" algn="l">
              <a:buNone/>
            </a:pPr>
            <a:endParaRPr sz="2400"/>
          </a:p>
        </p:txBody>
      </p:sp>
    </p:spTree>
  </p:cSld>
</p:sldLayout>
</file>

<file path=ppt/slideLayouts/slideLayout3.xml><?xml version="1.0" encoding="utf-8"?>
<p:sldLayout xmlns:p="http://schemas.openxmlformats.org/presentationml/2006/main" preserve="1">
  <p:cSld name="CONTENT">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9F014D-D0CE-4F88-B743-26153EDFEBFC}"/>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600" b="1">
                <a:solidFill>
                  <a:schemeClr val="tx1"/>
                </a:solidFill>
              </a:defRPr>
            </a:lvl1pPr>
          </a:lstStyle>
          <a:p xmlns:a="http://schemas.openxmlformats.org/drawingml/2006/main">
            <a:pPr marL="0" indent="0" algn="l">
              <a:buNone/>
            </a:pPr>
            <a:endParaRPr sz="3600"/>
          </a:p>
        </p:txBody>
      </p:sp>
      <p:sp>
        <p:nvSpPr>
          <p:cNvPr id="3" name="Text 0">
            <a:extLst xmlns:a="http://schemas.openxmlformats.org/drawingml/2006/main">
              <a:ext uri="{FF2B5EF4-FFF2-40B4-BE49-F238E27FC236}">
                <a16:creationId xmlns:a16="http://schemas.microsoft.com/office/drawing/2014/main" id="{B4EE4B8B-9722-44EB-9342-AD62B8B46833}"/>
              </a:ext>
            </a:extLst>
          </p:cNvPr>
          <p:cNvSpPr>
            <a:spLocks xmlns:a="http://schemas.openxmlformats.org/drawingml/2006/main" noGrp="1"/>
          </p:cNvSpPr>
          <p:nvPr/>
        </p:nvSpPr>
        <p:spPr>
          <a:xfrm xmlns:a="http://schemas.openxmlformats.org/drawingml/2006/main">
            <a:off x="548640" y="64008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chemeClr val="tx1"/>
                </a:solidFill>
              </a:rPr>
              <a:t>Nhóm 13 – CI/CD &amp; Test Harness Engineering</a:t>
            </a:r>
            <a:endParaRPr sz="1000"/>
          </a:p>
        </p:txBody>
      </p:sp>
      <p:sp>
        <p:nvSpPr>
          <p:cNvPr id="25" name="Slide Number Placeholder 0">
            <a:extLst xmlns:a="http://schemas.openxmlformats.org/drawingml/2006/main">
              <a:ext uri="{FF2B5EF4-FFF2-40B4-BE49-F238E27FC236}">
                <a16:creationId xmlns:a16="http://schemas.microsoft.com/office/drawing/2014/main" id="{B0B9A155-D5E8-4FC2-B364-36C264A82137}"/>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1003</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b16a28f93c4587" /><Relationship Type="http://schemas.openxmlformats.org/officeDocument/2006/relationships/slideLayout" Target="/ppt/slideLayouts/slideLayout1.xml" Id="R12b983aac6dc4f64" /><Relationship Type="http://schemas.openxmlformats.org/officeDocument/2006/relationships/slideLayout" Target="/ppt/slideLayouts/slideLayout2.xml" Id="Rb2a08597c6204a0e" /><Relationship Type="http://schemas.openxmlformats.org/officeDocument/2006/relationships/slideLayout" Target="/ppt/slideLayouts/slideLayout3.xml" Id="R188b49f3eb334d78"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A91BBD45-BF6A-434C-8DCB-8DF8150F2949}"/>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b983aac6dc4f64"/>
    <p:sldLayoutId xmlns:r="http://schemas.openxmlformats.org/officeDocument/2006/relationships" id="2147483650" r:id="Rb2a08597c6204a0e"/>
    <p:sldLayoutId xmlns:r="http://schemas.openxmlformats.org/officeDocument/2006/relationships" id="2147483651" r:id="R188b49f3eb334d78"/>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fe2f44894bf54e6c" /><Relationship Type="http://schemas.openxmlformats.org/officeDocument/2006/relationships/notesSlide" Target="/ppt/notesSlides/notesSlide1.xml" Id="R66bd3f031c6644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f44553d353084d23" /><Relationship Type="http://schemas.openxmlformats.org/officeDocument/2006/relationships/notesSlide" Target="/ppt/notesSlides/notesSlide2.xml" Id="Rcdcbf085a9094e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b5b0d72149245a6" /><Relationship Type="http://schemas.openxmlformats.org/officeDocument/2006/relationships/notesSlide" Target="/ppt/notesSlides/notesSlide3.xml" Id="Ra3b901c6935744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856b1de0aa964f23" /><Relationship Type="http://schemas.openxmlformats.org/officeDocument/2006/relationships/notesSlide" Target="/ppt/notesSlides/notesSlide4.xml" Id="Rbfc0e3cf47b645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005f939541847ec" /><Relationship Type="http://schemas.openxmlformats.org/officeDocument/2006/relationships/notesSlide" Target="/ppt/notesSlides/notesSlide5.xml" Id="Rede4c1fa09064b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3a0bf37e57b4f34" /><Relationship Type="http://schemas.openxmlformats.org/officeDocument/2006/relationships/notesSlide" Target="/ppt/notesSlides/notesSlide6.xml" Id="R21e1df0d280246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b54fea83686d4d8d" /><Relationship Type="http://schemas.openxmlformats.org/officeDocument/2006/relationships/notesSlide" Target="/ppt/notesSlides/notesSlide7.xml" Id="R1b47e6f2907e4a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85053d008d17452e" /><Relationship Type="http://schemas.openxmlformats.org/officeDocument/2006/relationships/notesSlide" Target="/ppt/notesSlides/notesSlide8.xml" Id="Rbac2bd48af2149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887142bf4a2244bb" /><Relationship Type="http://schemas.openxmlformats.org/officeDocument/2006/relationships/notesSlide" Target="/ppt/notesSlides/notesSlide9.xml" Id="R292bf24e31ca40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cc04f819017c46fe" /><Relationship Type="http://schemas.openxmlformats.org/officeDocument/2006/relationships/notesSlide" Target="/ppt/notesSlides/notesSlide10.xml" Id="Rdfdf35771af345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12256bffa6544f61" /><Relationship Type="http://schemas.openxmlformats.org/officeDocument/2006/relationships/notesSlide" Target="/ppt/notesSlides/notesSlide11.xml" Id="R4d399dff769e41e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db86fdf4e3b74023" /><Relationship Type="http://schemas.openxmlformats.org/officeDocument/2006/relationships/chart" Target="/ppt/slides/charts/chart1.xml" Id="Rafdb61ccfc014f9a" /><Relationship Type="http://schemas.openxmlformats.org/officeDocument/2006/relationships/notesSlide" Target="/ppt/notesSlides/notesSlide12.xml" Id="Rfda26371a05a4e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078da7c383564940" /><Relationship Type="http://schemas.openxmlformats.org/officeDocument/2006/relationships/notesSlide" Target="/ppt/notesSlides/notesSlide13.xml" Id="Rf897ecb90f4249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667e56d7f0b24666" /><Relationship Type="http://schemas.openxmlformats.org/officeDocument/2006/relationships/hyperlink" Target="https://youtu.be/hze3wsX1Xck" TargetMode="External" Id="R187f9876a4674346" /><Relationship Type="http://schemas.openxmlformats.org/officeDocument/2006/relationships/notesSlide" Target="/ppt/notesSlides/notesSlide14.xml" Id="R8eceeafc9b5940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f98f1648856646f9" /><Relationship Type="http://schemas.openxmlformats.org/officeDocument/2006/relationships/hyperlink" Target="https://github.com/SoftwareTesting-Group13/eshop-sut-seminar" TargetMode="External" Id="R00237bd217ba4c42" /><Relationship Type="http://schemas.openxmlformats.org/officeDocument/2006/relationships/notesSlide" Target="/ppt/notesSlides/notesSlide15.xml" Id="R6227e7767e8d40ee" /></Relationships>
</file>

<file path=ppt/slides/charts/chart1.xml><?xml version="1.0" encoding="utf-8"?>
<c:chartSpace xmlns:c="http://schemas.openxmlformats.org/drawingml/2006/chart">
  <c:lang val="en-US"/>
  <c:roundedCorners val="1"/>
  <c:chart>
    <c:title>
      <c:tx>
        <c:rich>
          <a:bodyPr xmlns:a="http://schemas.openxmlformats.org/drawingml/2006/main"/>
          <a:lstStyle xmlns:a="http://schemas.openxmlformats.org/drawingml/2006/main"/>
          <a:p xmlns:a="http://schemas.openxmlformats.org/drawingml/2006/main">
            <a:r>
              <a:rPr sz="1600" b="0" i="0" u="none" strike="noStrike">
                <a:solidFill>
                  <a:srgbClr val="000000"/>
                </a:solidFill>
                <a:latin typeface="+mn-lt"/>
                <a:ea typeface="+mn-lt"/>
                <a:cs typeface="+mn-lt"/>
              </a:rPr>
              <a:t>Thời gian (giây)</a:t>
            </a:r>
          </a:p>
        </c:rich>
      </c:tx>
      <c:overlay val="0"/>
      <c:txPr>
        <a:bodyPr xmlns:a="http://schemas.openxmlformats.org/drawingml/2006/main" anchorCtr="1"/>
        <a:lstStyle xmlns:a="http://schemas.openxmlformats.org/drawingml/2006/main"/>
        <a:p xmlns:a="http://schemas.openxmlformats.org/drawingml/2006/main">
          <a:pPr>
            <a:defRPr sz="1600" b="0" i="0" u="none" strike="noStrike">
              <a:solidFill>
                <a:srgbClr val="000000"/>
              </a:solidFill>
              <a:latin typeface="+mn-lt"/>
              <a:ea typeface="+mn-lt"/>
              <a:cs typeface="+mn-lt"/>
            </a:defRPr>
          </a:pPr>
        </a:p>
      </c:txPr>
    </c:title>
    <c:autoTitleDeleted val="0"/>
    <c:plotArea>
      <c:barChart>
        <c:barDir val="col"/>
        <c:grouping val="clustered"/>
        <c:varyColors val="0"/>
        <c:ser>
          <c:idx val="0"/>
          <c:order val="0"/>
          <c:tx>
            <c:strRef>
              <c:f>Sheet1!$B$1</c:f>
              <c:strCache>
                <c:ptCount val="1"/>
                <c:pt idx="0">
                  <c:v>Trước (không cache / đọc log thủ công)</c:v>
                </c:pt>
              </c:strCache>
            </c:strRef>
          </c:tx>
          <c:spPr>
            <a:solidFill xmlns:a="http://schemas.openxmlformats.org/drawingml/2006/main">
              <a:srgbClr val="000000"/>
            </a:solidFill>
          </c:spPr>
          <c:invertIfNegative val="0"/>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cat>
            <c:strRef>
              <c:f>Sheet1!$A$2:$A$3</c:f>
              <c:strCache>
                <c:ptCount val="2"/>
                <c:pt idx="0">
                  <c:v>Cài đặt dependency</c:v>
                </c:pt>
                <c:pt idx="1">
                  <c:v>Triage log lỗi</c:v>
                </c:pt>
              </c:strCache>
            </c:strRef>
          </c:cat>
          <c:val>
            <c:numRef>
              <c:f>Sheet1!$B$2:$B$3</c:f>
              <c:numCache>
                <c:formatCode>General</c:formatCode>
                <c:ptCount val="2"/>
                <c:pt idx="0">
                  <c:v>60</c:v>
                </c:pt>
                <c:pt idx="1">
                  <c:v>120</c:v>
                </c:pt>
              </c:numCache>
            </c:numRef>
          </c:val>
        </c:ser>
        <c:ser>
          <c:idx val="1"/>
          <c:order val="1"/>
          <c:tx>
            <c:strRef>
              <c:f>Sheet1!$C$1</c:f>
              <c:strCache>
                <c:ptCount val="1"/>
                <c:pt idx="0">
                  <c:v>Sau (có cache / AI Log Triage)</c:v>
                </c:pt>
              </c:strCache>
            </c:strRef>
          </c:tx>
          <c:spPr>
            <a:solidFill xmlns:a="http://schemas.openxmlformats.org/drawingml/2006/main">
              <a:srgbClr val="A6A6A6"/>
            </a:solidFill>
          </c:spPr>
          <c:invertIfNegative val="0"/>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cat>
            <c:strRef>
              <c:f>Sheet1!$A$2:$A$3</c:f>
              <c:strCache>
                <c:ptCount val="2"/>
                <c:pt idx="0">
                  <c:v>Cài đặt dependency</c:v>
                </c:pt>
                <c:pt idx="1">
                  <c:v>Triage log lỗi</c:v>
                </c:pt>
              </c:strCache>
            </c:strRef>
          </c:cat>
          <c:val>
            <c:numRef>
              <c:f>Sheet1!$C$2:$C$3</c:f>
              <c:numCache>
                <c:formatCode>General</c:formatCode>
                <c:ptCount val="2"/>
                <c:pt idx="0">
                  <c:v>5</c:v>
                </c:pt>
                <c:pt idx="1">
                  <c:v>15</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1400" b="0" i="0" u="none" strike="noStrike">
                <a:solidFill>
                  <a:srgbClr val="000000"/>
                </a:solidFill>
                <a:latin typeface="+mn-lt"/>
                <a:ea typeface="+mn-lt"/>
                <a:cs typeface="+mn-lt"/>
              </a:defRPr>
            </a:pPr>
          </a:p>
        </c:txPr>
        <c:crossAx val="2094734552"/>
        <c:crosses val="autoZero"/>
        <c:lblAlgn val="ctr"/>
        <c:noMultiLvlLbl val="1"/>
      </c:catAx>
      <c:valAx>
        <c:axId val="2094734552"/>
        <c:scaling>
          <c:orientation val="minMax"/>
          <c:max val="140"/>
        </c:scaling>
        <c:delete val="0"/>
        <c:axPos val="l"/>
        <c:majorGridlines>
          <c:spPr>
            <a:ln xmlns:a="http://schemas.openxmlformats.org/drawingml/2006/main" w="6350">
              <a:solidFill>
                <a:srgbClr val="D9D9D9"/>
              </a:solidFill>
              <a:prstDash val="solid"/>
            </a:ln>
          </c:spPr>
        </c:majorGridlines>
        <c:numFmt formatCode="General" sourceLinked="0"/>
        <c:majorTickMark val="out"/>
        <c:minorTickMark val="none"/>
        <c:tickLblPos val="nextTo"/>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1200" b="0" i="0" u="none" strike="noStrike">
                <a:solidFill>
                  <a:srgbClr val="000000"/>
                </a:solidFill>
                <a:latin typeface="+mn-lt"/>
                <a:ea typeface="+mn-lt"/>
                <a:cs typeface="+mn-lt"/>
              </a:defRPr>
            </a:pPr>
          </a:p>
        </c:txPr>
        <c:crossAx val="2094734554"/>
        <c:crosses val="autoZero"/>
        <c:crossBetween val="between"/>
      </c:valAx>
      <c:spPr>
        <a:noFill xmlns:a="http://schemas.openxmlformats.org/drawingml/2006/main"/>
        <a:ln xmlns:a="http://schemas.openxmlformats.org/drawingml/2006/main">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000000"/>
              </a:solidFill>
              <a:latin typeface="+mn-lt"/>
              <a:ea typeface="+mn-lt"/>
              <a:cs typeface="+mn-lt"/>
            </a:defRPr>
          </a:pPr>
        </a:p>
      </c:txPr>
    </c:legend>
    <c:plotVisOnly val="1"/>
    <c:dispBlanksAs val="span"/>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B0E4FA7-3D7E-47F2-AA69-811DC7397265}"/>
              </a:ext>
            </a:extLst>
          </p:cNvPr>
          <p:cNvSpPr>
            <a:spLocks xmlns:a="http://schemas.openxmlformats.org/drawingml/2006/main" noGrp="1"/>
          </p:cNvSpPr>
          <p:nvPr>
            <p:ph type="title" idx="100" hasCustomPrompt="1"/>
          </p:nvPr>
        </p:nvSpPr>
        <p:spPr>
          <a:xfrm xmlns:a="http://schemas.openxmlformats.org/drawingml/2006/main">
            <a:off x="731520" y="1554480"/>
            <a:ext cx="10698480" cy="1463040"/>
          </a:xfrm>
          <a:prstGeom xmlns:a="http://schemas.openxmlformats.org/drawingml/2006/main" prst="rect">
            <a:avLst/>
          </a:prstGeom>
          <a:noFill xmlns:a="http://schemas.openxmlformats.org/drawingml/2006/main"/>
        </p:spPr>
        <p:txBody>
          <a:bodyPr xmlns:a="http://schemas.openxmlformats.org/drawingml/2006/main" wrap="square" anchor="b"/>
          <a:lstStyle xmlns:a="http://schemas.openxmlformats.org/drawingml/2006/main"/>
          <a:p xmlns:a="http://schemas.openxmlformats.org/drawingml/2006/main">
            <a:pPr marL="0" indent="0" algn="l">
              <a:buNone/>
            </a:pPr>
            <a:r>
              <a:rPr sz="4400" b="1">
                <a:solidFill>
                  <a:schemeClr val="tx1"/>
                </a:solidFill>
              </a:rPr>
              <a:t>CI/CD &amp; Test Harness Engineering</a:t>
            </a:r>
            <a:endParaRPr sz="4400"/>
          </a:p>
        </p:txBody>
      </p:sp>
      <p:sp>
        <p:nvSpPr>
          <p:cNvPr id="3" name="Text 0">
            <a:extLst xmlns:a="http://schemas.openxmlformats.org/drawingml/2006/main">
              <a:ext uri="{FF2B5EF4-FFF2-40B4-BE49-F238E27FC236}">
                <a16:creationId xmlns:a16="http://schemas.microsoft.com/office/drawing/2014/main" id="{FDCDFE86-EA1C-4334-8A15-EF3A928C9AC4}"/>
              </a:ext>
            </a:extLst>
          </p:cNvPr>
          <p:cNvSpPr>
            <a:spLocks xmlns:a="http://schemas.openxmlformats.org/drawingml/2006/main" noGrp="1"/>
          </p:cNvSpPr>
          <p:nvPr>
            <p:ph type="body" idx="101" hasCustomPrompt="1"/>
          </p:nvPr>
        </p:nvSpPr>
        <p:spPr>
          <a:xfrm xmlns:a="http://schemas.openxmlformats.org/drawingml/2006/main">
            <a:off x="731520" y="3200400"/>
            <a:ext cx="106984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l">
              <a:buNone/>
            </a:pPr>
            <a:r>
              <a:rPr sz="2400">
                <a:solidFill>
                  <a:schemeClr val="tx1"/>
                </a:solidFill>
              </a:rPr>
              <a:t>Seminar T07 – Kiểm thử tự động trên hệ thống EShop</a:t>
            </a:r>
            <a:endParaRPr sz="2400"/>
          </a:p>
        </p:txBody>
      </p:sp>
      <p:sp>
        <p:nvSpPr>
          <p:cNvPr id="4" name="Text 2">
            <a:extLst xmlns:a="http://schemas.openxmlformats.org/drawingml/2006/main">
              <a:ext uri="{FF2B5EF4-FFF2-40B4-BE49-F238E27FC236}">
                <a16:creationId xmlns:a16="http://schemas.microsoft.com/office/drawing/2014/main" id="{FB3A3BCC-0567-402F-B424-6A8CD1A596DC}"/>
              </a:ext>
            </a:extLst>
          </p:cNvPr>
          <p:cNvSpPr>
            <a:spLocks xmlns:a="http://schemas.openxmlformats.org/drawingml/2006/main" noGrp="1"/>
          </p:cNvSpPr>
          <p:nvPr/>
        </p:nvSpPr>
        <p:spPr>
          <a:xfrm xmlns:a="http://schemas.openxmlformats.org/drawingml/2006/main">
            <a:off x="731520" y="4297680"/>
            <a:ext cx="1069848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1600">
                <a:solidFill>
                  <a:schemeClr val="tx1"/>
                </a:solidFill>
              </a:rPr>
              <a:t>Môn Kiểm thử phần mềm – lớp Testing-CQ2023-3-LQVu</a:t>
            </a:r>
            <a:endParaRPr sz="1600"/>
          </a:p>
          <a:p xmlns:a="http://schemas.openxmlformats.org/drawingml/2006/main">
            <a:pPr marL="0" indent="0">
              <a:spcAft>
                <a:spcPts val="400"/>
              </a:spcAft>
              <a:buNone/>
            </a:pPr>
            <a:r>
              <a:rPr sz="1600">
                <a:solidFill>
                  <a:schemeClr val="tx1"/>
                </a:solidFill>
              </a:rPr>
              <a:t>Nhóm 13: 23120102 Nguyễn Ngọc Minh Tuấn · 23120223 Dương Nhật Cường</a:t>
            </a:r>
            <a:endParaRPr sz="1600"/>
          </a:p>
          <a:p xmlns:a="http://schemas.openxmlformats.org/drawingml/2006/main">
            <a:pPr marL="0" indent="0">
              <a:spcAft>
                <a:spcPts val="400"/>
              </a:spcAft>
              <a:buNone/>
            </a:pPr>
            <a:r>
              <a:rPr sz="1600">
                <a:solidFill>
                  <a:schemeClr val="tx1"/>
                </a:solidFill>
              </a:rPr>
              <a:t>23120225 Trần Gia Cường · 23120273 Nguyễn Gia Huy</a:t>
            </a:r>
            <a:endParaRPr sz="1600"/>
          </a:p>
          <a:p xmlns:a="http://schemas.openxmlformats.org/drawingml/2006/main">
            <a:pPr marL="0" indent="0">
              <a:spcAft>
                <a:spcPts val="400"/>
              </a:spcAft>
              <a:buNone/>
            </a:pPr>
            <a:r>
              <a:rPr sz="1600">
                <a:solidFill>
                  <a:schemeClr val="tx1"/>
                </a:solidFill>
              </a:rPr>
              <a:t>Giảng viên: TS. Lâm Quang Vũ, TS. Trần Duy Hoàng, ThS. Trương Phước Lộc, ThS. Hồ Tuấn Thanh</a:t>
            </a:r>
            <a:endParaRPr sz="1600"/>
          </a:p>
        </p:txBody>
      </p:sp>
    </p:spTree>
    <p:extLst>
      <p:ext uri="{BB962C8B-B14F-4D97-AF65-F5344CB8AC3E}">
        <p14:creationId xmlns:p14="http://schemas.microsoft.com/office/powerpoint/2010/main" val="7830807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7E5F618-BEB1-47B6-BB59-7FC41EAE582F}"/>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Vì sao cần CI/CD trong kiểm thử</a:t>
            </a:r>
            <a:endParaRPr sz="3600"/>
          </a:p>
        </p:txBody>
      </p:sp>
      <p:sp>
        <p:nvSpPr>
          <p:cNvPr id="4" name="Text 1">
            <a:extLst xmlns:a="http://schemas.openxmlformats.org/drawingml/2006/main">
              <a:ext uri="{FF2B5EF4-FFF2-40B4-BE49-F238E27FC236}">
                <a16:creationId xmlns:a16="http://schemas.microsoft.com/office/drawing/2014/main" id="{63AA0BFA-07BC-4C70-8B0A-A6BD021A7DEF}"/>
              </a:ext>
            </a:extLst>
          </p:cNvPr>
          <p:cNvSpPr>
            <a:spLocks xmlns:a="http://schemas.openxmlformats.org/drawingml/2006/main" noGrp="1"/>
          </p:cNvSpPr>
          <p:nvPr/>
        </p:nvSpPr>
        <p:spPr>
          <a:xfrm xmlns:a="http://schemas.openxmlformats.org/drawingml/2006/main">
            <a:off x="640080" y="155448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1</a:t>
            </a:r>
            <a:endParaRPr sz="2600"/>
          </a:p>
        </p:txBody>
      </p:sp>
      <p:sp>
        <p:nvSpPr>
          <p:cNvPr id="5" name="Text 2">
            <a:extLst xmlns:a="http://schemas.openxmlformats.org/drawingml/2006/main">
              <a:ext uri="{FF2B5EF4-FFF2-40B4-BE49-F238E27FC236}">
                <a16:creationId xmlns:a16="http://schemas.microsoft.com/office/drawing/2014/main" id="{B08A0F47-1A94-4B43-BB0D-5F85B230EC8F}"/>
              </a:ext>
            </a:extLst>
          </p:cNvPr>
          <p:cNvSpPr>
            <a:spLocks xmlns:a="http://schemas.openxmlformats.org/drawingml/2006/main" noGrp="1"/>
          </p:cNvSpPr>
          <p:nvPr/>
        </p:nvSpPr>
        <p:spPr>
          <a:xfrm xmlns:a="http://schemas.openxmlformats.org/drawingml/2006/main">
            <a:off x="1645920" y="146304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Integration Hell</a:t>
            </a:r>
            <a:endParaRPr sz="2200"/>
          </a:p>
          <a:p xmlns:a="http://schemas.openxmlformats.org/drawingml/2006/main">
            <a:pPr marL="0" indent="0">
              <a:buNone/>
            </a:pPr>
            <a:r>
              <a:rPr sz="1600">
                <a:solidFill>
                  <a:schemeClr val="tx1"/>
                </a:solidFill>
              </a:rPr>
              <a:t>Tích hợp muộn khiến lỗi dồn về cuối dự án, khó truy vết và tốn chi phí sửa.</a:t>
            </a:r>
            <a:endParaRPr sz="2200"/>
          </a:p>
        </p:txBody>
      </p:sp>
      <p:sp>
        <p:nvSpPr>
          <p:cNvPr id="6" name="Text 3">
            <a:extLst xmlns:a="http://schemas.openxmlformats.org/drawingml/2006/main">
              <a:ext uri="{FF2B5EF4-FFF2-40B4-BE49-F238E27FC236}">
                <a16:creationId xmlns:a16="http://schemas.microsoft.com/office/drawing/2014/main" id="{EE864602-6357-4BAF-B081-6EE586588091}"/>
              </a:ext>
            </a:extLst>
          </p:cNvPr>
          <p:cNvSpPr>
            <a:spLocks xmlns:a="http://schemas.openxmlformats.org/drawingml/2006/main" noGrp="1"/>
          </p:cNvSpPr>
          <p:nvPr/>
        </p:nvSpPr>
        <p:spPr>
          <a:xfrm xmlns:a="http://schemas.openxmlformats.org/drawingml/2006/main">
            <a:off x="640080" y="274320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2</a:t>
            </a:r>
            <a:endParaRPr sz="2600"/>
          </a:p>
        </p:txBody>
      </p:sp>
      <p:sp>
        <p:nvSpPr>
          <p:cNvPr id="7" name="Text 4">
            <a:extLst xmlns:a="http://schemas.openxmlformats.org/drawingml/2006/main">
              <a:ext uri="{FF2B5EF4-FFF2-40B4-BE49-F238E27FC236}">
                <a16:creationId xmlns:a16="http://schemas.microsoft.com/office/drawing/2014/main" id="{C8ABFA17-1BF8-4D44-A764-BDB01C54EB53}"/>
              </a:ext>
            </a:extLst>
          </p:cNvPr>
          <p:cNvSpPr>
            <a:spLocks xmlns:a="http://schemas.openxmlformats.org/drawingml/2006/main" noGrp="1"/>
          </p:cNvSpPr>
          <p:nvPr/>
        </p:nvSpPr>
        <p:spPr>
          <a:xfrm xmlns:a="http://schemas.openxmlformats.org/drawingml/2006/main">
            <a:off x="1645920" y="265176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Shift-Left Testing</a:t>
            </a:r>
            <a:endParaRPr sz="2200"/>
          </a:p>
          <a:p xmlns:a="http://schemas.openxmlformats.org/drawingml/2006/main">
            <a:pPr marL="0" indent="0">
              <a:buNone/>
            </a:pPr>
            <a:r>
              <a:rPr sz="1600">
                <a:solidFill>
                  <a:schemeClr val="tx1"/>
                </a:solidFill>
              </a:rPr>
              <a:t>Unit Test chạy tự động ở mỗi commit và Pull Request, lỗi bị chặn sớm (Fail-Fast).</a:t>
            </a:r>
            <a:endParaRPr sz="2200"/>
          </a:p>
        </p:txBody>
      </p:sp>
      <p:sp>
        <p:nvSpPr>
          <p:cNvPr id="8" name="Text 5">
            <a:extLst xmlns:a="http://schemas.openxmlformats.org/drawingml/2006/main">
              <a:ext uri="{FF2B5EF4-FFF2-40B4-BE49-F238E27FC236}">
                <a16:creationId xmlns:a16="http://schemas.microsoft.com/office/drawing/2014/main" id="{93D3D3DF-8730-4D78-82A8-EFB46604B7B5}"/>
              </a:ext>
            </a:extLst>
          </p:cNvPr>
          <p:cNvSpPr>
            <a:spLocks xmlns:a="http://schemas.openxmlformats.org/drawingml/2006/main" noGrp="1"/>
          </p:cNvSpPr>
          <p:nvPr/>
        </p:nvSpPr>
        <p:spPr>
          <a:xfrm xmlns:a="http://schemas.openxmlformats.org/drawingml/2006/main">
            <a:off x="640080" y="3931920"/>
            <a:ext cx="731520" cy="731520"/>
          </a:xfrm>
          <a:prstGeom xmlns:a="http://schemas.openxmlformats.org/drawingml/2006/main" prst="ellipse">
            <a:avLst/>
          </a:prstGeom>
          <a:solidFill xmlns:a="http://schemas.openxmlformats.org/drawingml/2006/main">
            <a:schemeClr val="tx1"/>
          </a:solidFill>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chemeClr val="bg1"/>
                </a:solidFill>
              </a:rPr>
              <a:t>3</a:t>
            </a:r>
            <a:endParaRPr sz="2600"/>
          </a:p>
        </p:txBody>
      </p:sp>
      <p:sp>
        <p:nvSpPr>
          <p:cNvPr id="9" name="Text 6">
            <a:extLst xmlns:a="http://schemas.openxmlformats.org/drawingml/2006/main">
              <a:ext uri="{FF2B5EF4-FFF2-40B4-BE49-F238E27FC236}">
                <a16:creationId xmlns:a16="http://schemas.microsoft.com/office/drawing/2014/main" id="{41D98BD2-E2E2-4F79-BBE8-9CF937340645}"/>
              </a:ext>
            </a:extLst>
          </p:cNvPr>
          <p:cNvSpPr>
            <a:spLocks xmlns:a="http://schemas.openxmlformats.org/drawingml/2006/main" noGrp="1"/>
          </p:cNvSpPr>
          <p:nvPr/>
        </p:nvSpPr>
        <p:spPr>
          <a:xfrm xmlns:a="http://schemas.openxmlformats.org/drawingml/2006/main">
            <a:off x="1645920" y="3840480"/>
            <a:ext cx="9875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chemeClr val="tx1"/>
                </a:solidFill>
              </a:rPr>
              <a:t>CI/CD là hạ tầng Test Harness</a:t>
            </a:r>
            <a:endParaRPr sz="2200"/>
          </a:p>
          <a:p xmlns:a="http://schemas.openxmlformats.org/drawingml/2006/main">
            <a:pPr marL="0" indent="0">
              <a:buNone/>
            </a:pPr>
            <a:r>
              <a:rPr sz="1600">
                <a:solidFill>
                  <a:schemeClr val="tx1"/>
                </a:solidFill>
              </a:rPr>
              <a:t>Runner sạch, nạp fixtures, cô lập môi trường và điều phối việc chạy test.</a:t>
            </a:r>
            <a:endParaRPr sz="2200"/>
          </a:p>
        </p:txBody>
      </p:sp>
      <p:sp>
        <p:nvSpPr>
          <p:cNvPr id="10" name="Text 7">
            <a:extLst xmlns:a="http://schemas.openxmlformats.org/drawingml/2006/main">
              <a:ext uri="{FF2B5EF4-FFF2-40B4-BE49-F238E27FC236}">
                <a16:creationId xmlns:a16="http://schemas.microsoft.com/office/drawing/2014/main" id="{65E7946E-2A16-4F1F-AEBD-01E47AF9B769}"/>
              </a:ext>
            </a:extLst>
          </p:cNvPr>
          <p:cNvSpPr>
            <a:spLocks xmlns:a="http://schemas.openxmlformats.org/drawingml/2006/main" noGrp="1"/>
          </p:cNvSpPr>
          <p:nvPr/>
        </p:nvSpPr>
        <p:spPr>
          <a:xfrm xmlns:a="http://schemas.openxmlformats.org/drawingml/2006/main">
            <a:off x="640080" y="5212080"/>
            <a:ext cx="10881360" cy="86868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800" b="1">
                <a:solidFill>
                  <a:schemeClr val="tx1"/>
                </a:solidFill>
                <a:latin typeface="Arial"/>
                <a:ea typeface="Arial"/>
                <a:cs typeface="Arial"/>
              </a:rPr>
              <a:t>Mục tiêu: dựng pipeline GitHub Actions + Jest + AI Log Triage cho backend EShop và chứng minh bằng demo</a:t>
            </a:r>
            <a:endParaRPr sz="1800"/>
          </a:p>
        </p:txBody>
      </p:sp>
      <p:sp>
        <p:nvSpPr>
          <p:cNvPr id="25" name="Slide Number Placeholder 0">
            <a:extLst xmlns:a="http://schemas.openxmlformats.org/drawingml/2006/main">
              <a:ext uri="{FF2B5EF4-FFF2-40B4-BE49-F238E27FC236}">
                <a16:creationId xmlns:a16="http://schemas.microsoft.com/office/drawing/2014/main" id="{38CD3DC7-405B-4807-B7C1-8EB340CD9F35}"/>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40466493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8857E7C-4070-4E87-95B0-FFC0EF4297C9}"/>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Kiến trúc hệ thống EShop (SUT)</a:t>
            </a:r>
            <a:endParaRPr sz="3600"/>
          </a:p>
        </p:txBody>
      </p:sp>
      <p:sp>
        <p:nvSpPr>
          <p:cNvPr id="4" name="Text 1">
            <a:extLst xmlns:a="http://schemas.openxmlformats.org/drawingml/2006/main">
              <a:ext uri="{FF2B5EF4-FFF2-40B4-BE49-F238E27FC236}">
                <a16:creationId xmlns:a16="http://schemas.microsoft.com/office/drawing/2014/main" id="{2A378078-4144-41D1-A2AA-297C70DF96D8}"/>
              </a:ext>
            </a:extLst>
          </p:cNvPr>
          <p:cNvSpPr>
            <a:spLocks xmlns:a="http://schemas.openxmlformats.org/drawingml/2006/main" noGrp="1"/>
          </p:cNvSpPr>
          <p:nvPr/>
        </p:nvSpPr>
        <p:spPr>
          <a:xfrm xmlns:a="http://schemas.openxmlformats.org/drawingml/2006/main">
            <a:off x="82296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Web</a:t>
            </a:r>
            <a:endParaRPr sz="1400"/>
          </a:p>
          <a:p xmlns:a="http://schemas.openxmlformats.org/drawingml/2006/main">
            <a:pPr marL="0" indent="0" algn="ctr">
              <a:buNone/>
            </a:pPr>
            <a:r>
              <a:rPr sz="1400">
                <a:solidFill>
                  <a:schemeClr val="tx1"/>
                </a:solidFill>
                <a:latin typeface="Arial"/>
                <a:ea typeface="Arial"/>
                <a:cs typeface="Arial"/>
              </a:rPr>
              <a:t>React + Vite · :5173</a:t>
            </a:r>
            <a:endParaRPr sz="1400"/>
          </a:p>
        </p:txBody>
      </p:sp>
      <p:sp>
        <p:nvSpPr>
          <p:cNvPr id="5" name="Text 2">
            <a:extLst xmlns:a="http://schemas.openxmlformats.org/drawingml/2006/main">
              <a:ext uri="{FF2B5EF4-FFF2-40B4-BE49-F238E27FC236}">
                <a16:creationId xmlns:a16="http://schemas.microsoft.com/office/drawing/2014/main" id="{A03D0829-ACFC-48FB-859F-D982377DCA56}"/>
              </a:ext>
            </a:extLst>
          </p:cNvPr>
          <p:cNvSpPr>
            <a:spLocks xmlns:a="http://schemas.openxmlformats.org/drawingml/2006/main" noGrp="1"/>
          </p:cNvSpPr>
          <p:nvPr/>
        </p:nvSpPr>
        <p:spPr>
          <a:xfrm xmlns:a="http://schemas.openxmlformats.org/drawingml/2006/main">
            <a:off x="452628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Web Admin</a:t>
            </a:r>
            <a:endParaRPr sz="1400"/>
          </a:p>
          <a:p xmlns:a="http://schemas.openxmlformats.org/drawingml/2006/main">
            <a:pPr marL="0" indent="0" algn="ctr">
              <a:buNone/>
            </a:pPr>
            <a:r>
              <a:rPr sz="1400">
                <a:solidFill>
                  <a:schemeClr val="tx1"/>
                </a:solidFill>
                <a:latin typeface="Arial"/>
                <a:ea typeface="Arial"/>
                <a:cs typeface="Arial"/>
              </a:rPr>
              <a:t>React + Vite · :5174</a:t>
            </a:r>
            <a:endParaRPr sz="1400"/>
          </a:p>
        </p:txBody>
      </p:sp>
      <p:sp>
        <p:nvSpPr>
          <p:cNvPr id="6" name="Text 3">
            <a:extLst xmlns:a="http://schemas.openxmlformats.org/drawingml/2006/main">
              <a:ext uri="{FF2B5EF4-FFF2-40B4-BE49-F238E27FC236}">
                <a16:creationId xmlns:a16="http://schemas.microsoft.com/office/drawing/2014/main" id="{485AEF72-A95E-44B2-8C09-8657F4F81EF7}"/>
              </a:ext>
            </a:extLst>
          </p:cNvPr>
          <p:cNvSpPr>
            <a:spLocks xmlns:a="http://schemas.openxmlformats.org/drawingml/2006/main" noGrp="1"/>
          </p:cNvSpPr>
          <p:nvPr/>
        </p:nvSpPr>
        <p:spPr>
          <a:xfrm xmlns:a="http://schemas.openxmlformats.org/drawingml/2006/main">
            <a:off x="8229600" y="1463040"/>
            <a:ext cx="310896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Mobile App</a:t>
            </a:r>
            <a:endParaRPr sz="1400"/>
          </a:p>
          <a:p xmlns:a="http://schemas.openxmlformats.org/drawingml/2006/main">
            <a:pPr marL="0" indent="0" algn="ctr">
              <a:buNone/>
            </a:pPr>
            <a:r>
              <a:rPr sz="1400">
                <a:solidFill>
                  <a:schemeClr val="tx1"/>
                </a:solidFill>
                <a:latin typeface="Arial"/>
                <a:ea typeface="Arial"/>
                <a:cs typeface="Arial"/>
              </a:rPr>
              <a:t>React Native + Expo</a:t>
            </a:r>
            <a:endParaRPr sz="1400"/>
          </a:p>
        </p:txBody>
      </p:sp>
      <p:sp>
        <p:nvSpPr>
          <p:cNvPr id="7" name="Text 4">
            <a:extLst xmlns:a="http://schemas.openxmlformats.org/drawingml/2006/main">
              <a:ext uri="{FF2B5EF4-FFF2-40B4-BE49-F238E27FC236}">
                <a16:creationId xmlns:a16="http://schemas.microsoft.com/office/drawing/2014/main" id="{9087C86E-54C7-4F30-BE63-24EB5137B3E7}"/>
              </a:ext>
            </a:extLst>
          </p:cNvPr>
          <p:cNvSpPr>
            <a:spLocks xmlns:a="http://schemas.openxmlformats.org/drawingml/2006/main" noGrp="1"/>
          </p:cNvSpPr>
          <p:nvPr/>
        </p:nvSpPr>
        <p:spPr>
          <a:xfrm xmlns:a="http://schemas.openxmlformats.org/drawingml/2006/main">
            <a:off x="3566160" y="3291840"/>
            <a:ext cx="5029200" cy="1097280"/>
          </a:xfrm>
          <a:prstGeom xmlns:a="http://schemas.openxmlformats.org/drawingml/2006/main" prst="rect">
            <a:avLst/>
          </a:prstGeom>
          <a:solidFill xmlns:a="http://schemas.openxmlformats.org/drawingml/2006/main">
            <a:schemeClr val="bg2"/>
          </a:solidFill>
          <a:ln xmlns:a="http://schemas.openxmlformats.org/drawingml/2006/main" w="317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600" b="1">
                <a:solidFill>
                  <a:schemeClr val="tx1"/>
                </a:solidFill>
                <a:latin typeface="Arial"/>
                <a:ea typeface="Arial"/>
                <a:cs typeface="Arial"/>
              </a:rPr>
              <a:t>Backend API</a:t>
            </a:r>
            <a:endParaRPr sz="1600"/>
          </a:p>
          <a:p xmlns:a="http://schemas.openxmlformats.org/drawingml/2006/main">
            <a:pPr marL="0" indent="0" algn="ctr">
              <a:buNone/>
            </a:pPr>
            <a:r>
              <a:rPr sz="1600" b="1">
                <a:solidFill>
                  <a:schemeClr val="tx1"/>
                </a:solidFill>
                <a:latin typeface="Arial"/>
                <a:ea typeface="Arial"/>
                <a:cs typeface="Arial"/>
              </a:rPr>
              <a:t>Node.js + Express · :3000</a:t>
            </a:r>
            <a:endParaRPr sz="1600"/>
          </a:p>
        </p:txBody>
      </p:sp>
      <p:sp>
        <p:nvSpPr>
          <p:cNvPr id="8" name="Shape 5">
            <a:extLst xmlns:a="http://schemas.openxmlformats.org/drawingml/2006/main">
              <a:ext uri="{FF2B5EF4-FFF2-40B4-BE49-F238E27FC236}">
                <a16:creationId xmlns:a16="http://schemas.microsoft.com/office/drawing/2014/main" id="{568DB44F-B606-4EF4-88EE-AA8E8C331454}"/>
              </a:ext>
            </a:extLst>
          </p:cNvPr>
          <p:cNvSpPr>
            <a:spLocks xmlns:a="http://schemas.openxmlformats.org/drawingml/2006/main" noGrp="1"/>
          </p:cNvSpPr>
          <p:nvPr/>
        </p:nvSpPr>
        <p:spPr>
          <a:xfrm xmlns:a="http://schemas.openxmlformats.org/drawingml/2006/main">
            <a:off x="2377440" y="2377440"/>
            <a:ext cx="192024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9" name="Shape 6">
            <a:extLst xmlns:a="http://schemas.openxmlformats.org/drawingml/2006/main">
              <a:ext uri="{FF2B5EF4-FFF2-40B4-BE49-F238E27FC236}">
                <a16:creationId xmlns:a16="http://schemas.microsoft.com/office/drawing/2014/main" id="{BD91D179-D357-4DAE-9D1F-FF7750458C7A}"/>
              </a:ext>
            </a:extLst>
          </p:cNvPr>
          <p:cNvSpPr>
            <a:spLocks xmlns:a="http://schemas.openxmlformats.org/drawingml/2006/main" noGrp="1"/>
          </p:cNvSpPr>
          <p:nvPr/>
        </p:nvSpPr>
        <p:spPr>
          <a:xfrm xmlns:a="http://schemas.openxmlformats.org/drawingml/2006/main">
            <a:off x="6080760" y="2377440"/>
            <a:ext cx="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Shape 7">
            <a:extLst xmlns:a="http://schemas.openxmlformats.org/drawingml/2006/main">
              <a:ext uri="{FF2B5EF4-FFF2-40B4-BE49-F238E27FC236}">
                <a16:creationId xmlns:a16="http://schemas.microsoft.com/office/drawing/2014/main" id="{8F7CBA3D-E524-40DC-AA2A-A4574F7424AC}"/>
              </a:ext>
            </a:extLst>
          </p:cNvPr>
          <p:cNvSpPr>
            <a:spLocks xmlns:a="http://schemas.openxmlformats.org/drawingml/2006/main" noGrp="1"/>
          </p:cNvSpPr>
          <p:nvPr/>
        </p:nvSpPr>
        <p:spPr>
          <a:xfrm xmlns:a="http://schemas.openxmlformats.org/drawingml/2006/main" flipH="1">
            <a:off x="7863840" y="2377440"/>
            <a:ext cx="1920240" cy="91440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1" name="Text 8">
            <a:extLst xmlns:a="http://schemas.openxmlformats.org/drawingml/2006/main">
              <a:ext uri="{FF2B5EF4-FFF2-40B4-BE49-F238E27FC236}">
                <a16:creationId xmlns:a16="http://schemas.microsoft.com/office/drawing/2014/main" id="{62D92343-2A21-4D86-9187-C19DABD1A909}"/>
              </a:ext>
            </a:extLst>
          </p:cNvPr>
          <p:cNvSpPr>
            <a:spLocks xmlns:a="http://schemas.openxmlformats.org/drawingml/2006/main" noGrp="1"/>
          </p:cNvSpPr>
          <p:nvPr/>
        </p:nvSpPr>
        <p:spPr>
          <a:xfrm xmlns:a="http://schemas.openxmlformats.org/drawingml/2006/main">
            <a:off x="4572000" y="5029200"/>
            <a:ext cx="3017520" cy="86868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SQLite</a:t>
            </a:r>
            <a:endParaRPr sz="1400"/>
          </a:p>
          <a:p xmlns:a="http://schemas.openxmlformats.org/drawingml/2006/main">
            <a:pPr marL="0" indent="0" algn="ctr">
              <a:buNone/>
            </a:pPr>
            <a:r>
              <a:rPr sz="1400">
                <a:solidFill>
                  <a:schemeClr val="tx1"/>
                </a:solidFill>
                <a:latin typeface="Arial"/>
                <a:ea typeface="Arial"/>
                <a:cs typeface="Arial"/>
              </a:rPr>
              <a:t>database.sqlite</a:t>
            </a:r>
            <a:endParaRPr sz="1400"/>
          </a:p>
        </p:txBody>
      </p:sp>
      <p:sp>
        <p:nvSpPr>
          <p:cNvPr id="12" name="Shape 9">
            <a:extLst xmlns:a="http://schemas.openxmlformats.org/drawingml/2006/main">
              <a:ext uri="{FF2B5EF4-FFF2-40B4-BE49-F238E27FC236}">
                <a16:creationId xmlns:a16="http://schemas.microsoft.com/office/drawing/2014/main" id="{8C884A2F-B0F6-4D17-9EC3-9F4FCF2A69EC}"/>
              </a:ext>
            </a:extLst>
          </p:cNvPr>
          <p:cNvSpPr>
            <a:spLocks xmlns:a="http://schemas.openxmlformats.org/drawingml/2006/main" noGrp="1"/>
          </p:cNvSpPr>
          <p:nvPr/>
        </p:nvSpPr>
        <p:spPr>
          <a:xfrm xmlns:a="http://schemas.openxmlformats.org/drawingml/2006/main">
            <a:off x="6080760" y="4389120"/>
            <a:ext cx="0" cy="64008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3" name="Text 10">
            <a:extLst xmlns:a="http://schemas.openxmlformats.org/drawingml/2006/main">
              <a:ext uri="{FF2B5EF4-FFF2-40B4-BE49-F238E27FC236}">
                <a16:creationId xmlns:a16="http://schemas.microsoft.com/office/drawing/2014/main" id="{ABEE4FE8-828D-41F4-A489-4027E1FA3679}"/>
              </a:ext>
            </a:extLst>
          </p:cNvPr>
          <p:cNvSpPr>
            <a:spLocks xmlns:a="http://schemas.openxmlformats.org/drawingml/2006/main" noGrp="1"/>
          </p:cNvSpPr>
          <p:nvPr/>
        </p:nvSpPr>
        <p:spPr>
          <a:xfrm xmlns:a="http://schemas.openxmlformats.org/drawingml/2006/main">
            <a:off x="9144000" y="3383280"/>
            <a:ext cx="256032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dash"/>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Jest</a:t>
            </a:r>
            <a:endParaRPr sz="1400"/>
          </a:p>
          <a:p xmlns:a="http://schemas.openxmlformats.org/drawingml/2006/main">
            <a:pPr marL="0" indent="0" algn="ctr">
              <a:buNone/>
            </a:pPr>
            <a:r>
              <a:rPr sz="1400">
                <a:solidFill>
                  <a:schemeClr val="tx1"/>
                </a:solidFill>
                <a:latin typeface="Arial"/>
                <a:ea typeface="Arial"/>
                <a:cs typeface="Arial"/>
              </a:rPr>
              <a:t>Unit Test (Backend)</a:t>
            </a:r>
            <a:endParaRPr sz="1400"/>
          </a:p>
        </p:txBody>
      </p:sp>
      <p:sp>
        <p:nvSpPr>
          <p:cNvPr id="14" name="Shape 11">
            <a:extLst xmlns:a="http://schemas.openxmlformats.org/drawingml/2006/main">
              <a:ext uri="{FF2B5EF4-FFF2-40B4-BE49-F238E27FC236}">
                <a16:creationId xmlns:a16="http://schemas.microsoft.com/office/drawing/2014/main" id="{F9658C52-B9EF-46BC-B90A-5469F199591D}"/>
              </a:ext>
            </a:extLst>
          </p:cNvPr>
          <p:cNvSpPr>
            <a:spLocks xmlns:a="http://schemas.openxmlformats.org/drawingml/2006/main" noGrp="1"/>
          </p:cNvSpPr>
          <p:nvPr/>
        </p:nvSpPr>
        <p:spPr>
          <a:xfrm xmlns:a="http://schemas.openxmlformats.org/drawingml/2006/main" flipH="1">
            <a:off x="8595360" y="3840480"/>
            <a:ext cx="548640" cy="0"/>
          </a:xfrm>
          <a:prstGeom xmlns:a="http://schemas.openxmlformats.org/drawingml/2006/main" prst="line">
            <a:avLst/>
          </a:prstGeom>
          <a:noFill xmlns:a="http://schemas.openxmlformats.org/drawingml/2006/main"/>
          <a:ln xmlns:a="http://schemas.openxmlformats.org/drawingml/2006/main" w="22225">
            <a:solidFill>
              <a:schemeClr val="tx1"/>
            </a:solidFill>
            <a:prstDash val="dash"/>
            <a:tailEnd type="triangle"/>
          </a:ln>
        </p:spPr>
      </p:sp>
      <p:sp>
        <p:nvSpPr>
          <p:cNvPr id="15" name="Text 12">
            <a:extLst xmlns:a="http://schemas.openxmlformats.org/drawingml/2006/main">
              <a:ext uri="{FF2B5EF4-FFF2-40B4-BE49-F238E27FC236}">
                <a16:creationId xmlns:a16="http://schemas.microsoft.com/office/drawing/2014/main" id="{66FB8DCA-A93A-4B83-A883-97AE0425461A}"/>
              </a:ext>
            </a:extLst>
          </p:cNvPr>
          <p:cNvSpPr>
            <a:spLocks xmlns:a="http://schemas.openxmlformats.org/drawingml/2006/main" noGrp="1"/>
          </p:cNvSpPr>
          <p:nvPr/>
        </p:nvSpPr>
        <p:spPr>
          <a:xfrm xmlns:a="http://schemas.openxmlformats.org/drawingml/2006/main">
            <a:off x="548640" y="5806440"/>
            <a:ext cx="6400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Phạm vi seminar: Backend, module coupon (FR-09)</a:t>
            </a:r>
            <a:endParaRPr sz="1400"/>
          </a:p>
        </p:txBody>
      </p:sp>
      <p:sp>
        <p:nvSpPr>
          <p:cNvPr id="25" name="Slide Number Placeholder 0">
            <a:extLst xmlns:a="http://schemas.openxmlformats.org/drawingml/2006/main">
              <a:ext uri="{FF2B5EF4-FFF2-40B4-BE49-F238E27FC236}">
                <a16:creationId xmlns:a16="http://schemas.microsoft.com/office/drawing/2014/main" id="{6CBFCDF4-7BF9-4495-9AA2-3100FB24266D}"/>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2389476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9D40E81-3D5D-4999-AD9D-E6F384A006E6}"/>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Test Harness: 4 thành phần cốt lõi</a:t>
            </a:r>
            <a:endParaRPr sz="3600"/>
          </a:p>
        </p:txBody>
      </p:sp>
      <p:sp>
        <p:nvSpPr>
          <p:cNvPr id="4" name="Text 1">
            <a:extLst xmlns:a="http://schemas.openxmlformats.org/drawingml/2006/main">
              <a:ext uri="{FF2B5EF4-FFF2-40B4-BE49-F238E27FC236}">
                <a16:creationId xmlns:a16="http://schemas.microsoft.com/office/drawing/2014/main" id="{AE7A2A1C-CA09-4567-A140-AB79ABCC5F51}"/>
              </a:ext>
            </a:extLst>
          </p:cNvPr>
          <p:cNvSpPr>
            <a:spLocks xmlns:a="http://schemas.openxmlformats.org/drawingml/2006/main" noGrp="1"/>
          </p:cNvSpPr>
          <p:nvPr/>
        </p:nvSpPr>
        <p:spPr>
          <a:xfrm xmlns:a="http://schemas.openxmlformats.org/drawingml/2006/main">
            <a:off x="548640" y="146304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1. Test Execution Engine</a:t>
            </a:r>
            <a:endParaRPr sz="1400"/>
          </a:p>
          <a:p xmlns:a="http://schemas.openxmlformats.org/drawingml/2006/main">
            <a:pPr marL="0" indent="0" algn="l">
              <a:spcAft>
                <a:spcPts val="600"/>
              </a:spcAft>
              <a:buNone/>
            </a:pPr>
            <a:r>
              <a:rPr sz="1600">
                <a:solidFill>
                  <a:schemeClr val="tx1"/>
                </a:solidFill>
                <a:latin typeface="Arial"/>
                <a:ea typeface="Arial"/>
                <a:cs typeface="Arial"/>
              </a:rPr>
              <a:t>Điều phối và thực thi bộ test.</a:t>
            </a:r>
            <a:endParaRPr sz="1400"/>
          </a:p>
          <a:p xmlns:a="http://schemas.openxmlformats.org/drawingml/2006/main">
            <a:pPr marL="0" indent="0" algn="l">
              <a:spcAft>
                <a:spcPts val="600"/>
              </a:spcAft>
              <a:buNone/>
            </a:pPr>
            <a:r>
              <a:rPr sz="1400" i="1">
                <a:solidFill>
                  <a:schemeClr val="tx1"/>
                </a:solidFill>
                <a:latin typeface="Arial"/>
                <a:ea typeface="Arial"/>
                <a:cs typeface="Arial"/>
              </a:rPr>
              <a:t>EShop: Jest (--runInBand)</a:t>
            </a:r>
            <a:endParaRPr sz="1400"/>
          </a:p>
        </p:txBody>
      </p:sp>
      <p:sp>
        <p:nvSpPr>
          <p:cNvPr id="5" name="Text 2">
            <a:extLst xmlns:a="http://schemas.openxmlformats.org/drawingml/2006/main">
              <a:ext uri="{FF2B5EF4-FFF2-40B4-BE49-F238E27FC236}">
                <a16:creationId xmlns:a16="http://schemas.microsoft.com/office/drawing/2014/main" id="{BC6C216F-833D-4A33-BABA-524F84E76D0F}"/>
              </a:ext>
            </a:extLst>
          </p:cNvPr>
          <p:cNvSpPr>
            <a:spLocks xmlns:a="http://schemas.openxmlformats.org/drawingml/2006/main" noGrp="1"/>
          </p:cNvSpPr>
          <p:nvPr/>
        </p:nvSpPr>
        <p:spPr>
          <a:xfrm xmlns:a="http://schemas.openxmlformats.org/drawingml/2006/main">
            <a:off x="6217920" y="146304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2. Test Data &amp; Fixtures</a:t>
            </a:r>
            <a:endParaRPr sz="1400"/>
          </a:p>
          <a:p xmlns:a="http://schemas.openxmlformats.org/drawingml/2006/main">
            <a:pPr marL="0" indent="0" algn="l">
              <a:spcAft>
                <a:spcPts val="600"/>
              </a:spcAft>
              <a:buNone/>
            </a:pPr>
            <a:r>
              <a:rPr sz="1600">
                <a:solidFill>
                  <a:schemeClr val="tx1"/>
                </a:solidFill>
                <a:latin typeface="Arial"/>
                <a:ea typeface="Arial"/>
                <a:cs typeface="Arial"/>
              </a:rPr>
              <a:t>Dữ liệu và trạng thái ban đầu cho mỗi lần chạy.</a:t>
            </a:r>
            <a:endParaRPr sz="1400"/>
          </a:p>
          <a:p xmlns:a="http://schemas.openxmlformats.org/drawingml/2006/main">
            <a:pPr marL="0" indent="0" algn="l">
              <a:spcAft>
                <a:spcPts val="600"/>
              </a:spcAft>
              <a:buNone/>
            </a:pPr>
            <a:r>
              <a:rPr sz="1400" i="1">
                <a:solidFill>
                  <a:schemeClr val="tx1"/>
                </a:solidFill>
                <a:latin typeface="Arial"/>
                <a:ea typeface="Arial"/>
                <a:cs typeface="Arial"/>
              </a:rPr>
              <a:t>DB init on load; hooks ở full suite</a:t>
            </a:r>
            <a:endParaRPr sz="1400"/>
          </a:p>
        </p:txBody>
      </p:sp>
      <p:sp>
        <p:nvSpPr>
          <p:cNvPr id="6" name="Text 3">
            <a:extLst xmlns:a="http://schemas.openxmlformats.org/drawingml/2006/main">
              <a:ext uri="{FF2B5EF4-FFF2-40B4-BE49-F238E27FC236}">
                <a16:creationId xmlns:a16="http://schemas.microsoft.com/office/drawing/2014/main" id="{AD6596F7-3CE9-4B61-B340-8C257FEE2B1D}"/>
              </a:ext>
            </a:extLst>
          </p:cNvPr>
          <p:cNvSpPr>
            <a:spLocks xmlns:a="http://schemas.openxmlformats.org/drawingml/2006/main" noGrp="1"/>
          </p:cNvSpPr>
          <p:nvPr/>
        </p:nvSpPr>
        <p:spPr>
          <a:xfrm xmlns:a="http://schemas.openxmlformats.org/drawingml/2006/main">
            <a:off x="548640" y="384048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3. Stubs &amp; Mocks</a:t>
            </a:r>
            <a:endParaRPr sz="1400"/>
          </a:p>
          <a:p xmlns:a="http://schemas.openxmlformats.org/drawingml/2006/main">
            <a:pPr marL="0" indent="0" algn="l">
              <a:spcAft>
                <a:spcPts val="600"/>
              </a:spcAft>
              <a:buNone/>
            </a:pPr>
            <a:r>
              <a:rPr sz="1600">
                <a:solidFill>
                  <a:schemeClr val="tx1"/>
                </a:solidFill>
                <a:latin typeface="Arial"/>
                <a:ea typeface="Arial"/>
                <a:cs typeface="Arial"/>
              </a:rPr>
              <a:t>Giả lập các phụ thuộc để test cô lập và lặp lại được.</a:t>
            </a:r>
            <a:endParaRPr sz="1400"/>
          </a:p>
          <a:p xmlns:a="http://schemas.openxmlformats.org/drawingml/2006/main">
            <a:pPr marL="0" indent="0" algn="l">
              <a:spcAft>
                <a:spcPts val="600"/>
              </a:spcAft>
              <a:buNone/>
            </a:pPr>
            <a:r>
              <a:rPr sz="1400" i="1">
                <a:solidFill>
                  <a:schemeClr val="tx1"/>
                </a:solidFill>
                <a:latin typeface="Arial"/>
                <a:ea typeface="Arial"/>
                <a:cs typeface="Arial"/>
              </a:rPr>
              <a:t>Coupon CI: unit test hàm thuần; không mock</a:t>
            </a:r>
            <a:endParaRPr sz="1400"/>
          </a:p>
        </p:txBody>
      </p:sp>
      <p:sp>
        <p:nvSpPr>
          <p:cNvPr id="7" name="Text 4">
            <a:extLst xmlns:a="http://schemas.openxmlformats.org/drawingml/2006/main">
              <a:ext uri="{FF2B5EF4-FFF2-40B4-BE49-F238E27FC236}">
                <a16:creationId xmlns:a16="http://schemas.microsoft.com/office/drawing/2014/main" id="{CE1C4FAE-791D-4D43-BFFA-A9F154792A5F}"/>
              </a:ext>
            </a:extLst>
          </p:cNvPr>
          <p:cNvSpPr>
            <a:spLocks xmlns:a="http://schemas.openxmlformats.org/drawingml/2006/main" noGrp="1"/>
          </p:cNvSpPr>
          <p:nvPr/>
        </p:nvSpPr>
        <p:spPr>
          <a:xfrm xmlns:a="http://schemas.openxmlformats.org/drawingml/2006/main">
            <a:off x="6217920" y="3840480"/>
            <a:ext cx="5394960" cy="21031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600"/>
              </a:spcAft>
              <a:buNone/>
            </a:pPr>
            <a:r>
              <a:rPr sz="2000" b="1">
                <a:solidFill>
                  <a:schemeClr val="tx1"/>
                </a:solidFill>
                <a:latin typeface="Arial"/>
                <a:ea typeface="Arial"/>
                <a:cs typeface="Arial"/>
              </a:rPr>
              <a:t>4. Results Logging &amp; Reporting</a:t>
            </a:r>
            <a:endParaRPr sz="1400"/>
          </a:p>
          <a:p xmlns:a="http://schemas.openxmlformats.org/drawingml/2006/main">
            <a:pPr marL="0" indent="0" algn="l">
              <a:spcAft>
                <a:spcPts val="600"/>
              </a:spcAft>
              <a:buNone/>
            </a:pPr>
            <a:r>
              <a:rPr sz="1600">
                <a:solidFill>
                  <a:schemeClr val="tx1"/>
                </a:solidFill>
                <a:latin typeface="Arial"/>
                <a:ea typeface="Arial"/>
                <a:cs typeface="Arial"/>
              </a:rPr>
              <a:t>Ghi nhận kết quả và xuất báo cáo.</a:t>
            </a:r>
            <a:endParaRPr sz="1400"/>
          </a:p>
          <a:p xmlns:a="http://schemas.openxmlformats.org/drawingml/2006/main">
            <a:pPr marL="0" indent="0" algn="l">
              <a:spcAft>
                <a:spcPts val="600"/>
              </a:spcAft>
              <a:buNone/>
            </a:pPr>
            <a:r>
              <a:rPr sz="1400" i="1">
                <a:solidFill>
                  <a:schemeClr val="tx1"/>
                </a:solidFill>
                <a:latin typeface="Arial"/>
                <a:ea typeface="Arial"/>
                <a:cs typeface="Arial"/>
              </a:rPr>
              <a:t>EShop: log CI, LCOV + JSON; không JUnit/HTML</a:t>
            </a:r>
            <a:endParaRPr sz="1400"/>
          </a:p>
        </p:txBody>
      </p:sp>
      <p:sp>
        <p:nvSpPr>
          <p:cNvPr id="25" name="Slide Number Placeholder 0">
            <a:extLst xmlns:a="http://schemas.openxmlformats.org/drawingml/2006/main">
              <a:ext uri="{FF2B5EF4-FFF2-40B4-BE49-F238E27FC236}">
                <a16:creationId xmlns:a16="http://schemas.microsoft.com/office/drawing/2014/main" id="{828E6D68-C550-4B29-9C15-9E88A8B6AB4F}"/>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6261596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8A9A645-CC2F-45D5-BC83-C1C1A5454F4F}"/>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Pipeline CI/CD và Quality Gates</a:t>
            </a:r>
            <a:endParaRPr sz="3600"/>
          </a:p>
        </p:txBody>
      </p:sp>
      <p:sp>
        <p:nvSpPr>
          <p:cNvPr id="4" name="Text 1">
            <a:extLst xmlns:a="http://schemas.openxmlformats.org/drawingml/2006/main">
              <a:ext uri="{FF2B5EF4-FFF2-40B4-BE49-F238E27FC236}">
                <a16:creationId xmlns:a16="http://schemas.microsoft.com/office/drawing/2014/main" id="{5371CB78-045C-4651-A7CE-EDC1DE825CD4}"/>
              </a:ext>
            </a:extLst>
          </p:cNvPr>
          <p:cNvSpPr>
            <a:spLocks xmlns:a="http://schemas.openxmlformats.org/drawingml/2006/main" noGrp="1"/>
          </p:cNvSpPr>
          <p:nvPr/>
        </p:nvSpPr>
        <p:spPr>
          <a:xfrm xmlns:a="http://schemas.openxmlformats.org/drawingml/2006/main">
            <a:off x="59436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Push / Pull Request</a:t>
            </a:r>
            <a:endParaRPr sz="1400"/>
          </a:p>
        </p:txBody>
      </p:sp>
      <p:sp>
        <p:nvSpPr>
          <p:cNvPr id="5" name="Shape 2">
            <a:extLst xmlns:a="http://schemas.openxmlformats.org/drawingml/2006/main">
              <a:ext uri="{FF2B5EF4-FFF2-40B4-BE49-F238E27FC236}">
                <a16:creationId xmlns:a16="http://schemas.microsoft.com/office/drawing/2014/main" id="{0F54141D-C865-4AF9-9339-AAD1E3942227}"/>
              </a:ext>
            </a:extLst>
          </p:cNvPr>
          <p:cNvSpPr>
            <a:spLocks xmlns:a="http://schemas.openxmlformats.org/drawingml/2006/main" noGrp="1"/>
          </p:cNvSpPr>
          <p:nvPr/>
        </p:nvSpPr>
        <p:spPr>
          <a:xfrm xmlns:a="http://schemas.openxmlformats.org/drawingml/2006/main">
            <a:off x="219456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6" name="Text 3">
            <a:extLst xmlns:a="http://schemas.openxmlformats.org/drawingml/2006/main">
              <a:ext uri="{FF2B5EF4-FFF2-40B4-BE49-F238E27FC236}">
                <a16:creationId xmlns:a16="http://schemas.microsoft.com/office/drawing/2014/main" id="{C09503D8-8D01-47D8-BE90-7FFD41543312}"/>
              </a:ext>
            </a:extLst>
          </p:cNvPr>
          <p:cNvSpPr>
            <a:spLocks xmlns:a="http://schemas.openxmlformats.org/drawingml/2006/main" noGrp="1"/>
          </p:cNvSpPr>
          <p:nvPr/>
        </p:nvSpPr>
        <p:spPr>
          <a:xfrm xmlns:a="http://schemas.openxmlformats.org/drawingml/2006/main">
            <a:off x="246888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Runner sạch</a:t>
            </a:r>
            <a:endParaRPr sz="1400"/>
          </a:p>
        </p:txBody>
      </p:sp>
      <p:sp>
        <p:nvSpPr>
          <p:cNvPr id="7" name="Shape 4">
            <a:extLst xmlns:a="http://schemas.openxmlformats.org/drawingml/2006/main">
              <a:ext uri="{FF2B5EF4-FFF2-40B4-BE49-F238E27FC236}">
                <a16:creationId xmlns:a16="http://schemas.microsoft.com/office/drawing/2014/main" id="{F01B5CCA-ADC5-45C1-8207-CAB0C83A8052}"/>
              </a:ext>
            </a:extLst>
          </p:cNvPr>
          <p:cNvSpPr>
            <a:spLocks xmlns:a="http://schemas.openxmlformats.org/drawingml/2006/main" noGrp="1"/>
          </p:cNvSpPr>
          <p:nvPr/>
        </p:nvSpPr>
        <p:spPr>
          <a:xfrm xmlns:a="http://schemas.openxmlformats.org/drawingml/2006/main">
            <a:off x="406908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8" name="Text 5">
            <a:extLst xmlns:a="http://schemas.openxmlformats.org/drawingml/2006/main">
              <a:ext uri="{FF2B5EF4-FFF2-40B4-BE49-F238E27FC236}">
                <a16:creationId xmlns:a16="http://schemas.microsoft.com/office/drawing/2014/main" id="{3864F19D-04BB-426F-844F-D0BAAC1A4700}"/>
              </a:ext>
            </a:extLst>
          </p:cNvPr>
          <p:cNvSpPr>
            <a:spLocks xmlns:a="http://schemas.openxmlformats.org/drawingml/2006/main" noGrp="1"/>
          </p:cNvSpPr>
          <p:nvPr/>
        </p:nvSpPr>
        <p:spPr>
          <a:xfrm xmlns:a="http://schemas.openxmlformats.org/drawingml/2006/main">
            <a:off x="434340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Cài đặt + cache</a:t>
            </a:r>
            <a:endParaRPr sz="1400"/>
          </a:p>
        </p:txBody>
      </p:sp>
      <p:sp>
        <p:nvSpPr>
          <p:cNvPr id="9" name="Shape 6">
            <a:extLst xmlns:a="http://schemas.openxmlformats.org/drawingml/2006/main">
              <a:ext uri="{FF2B5EF4-FFF2-40B4-BE49-F238E27FC236}">
                <a16:creationId xmlns:a16="http://schemas.microsoft.com/office/drawing/2014/main" id="{DD373C10-D0F1-4C3E-BB51-7C6704A2753B}"/>
              </a:ext>
            </a:extLst>
          </p:cNvPr>
          <p:cNvSpPr>
            <a:spLocks xmlns:a="http://schemas.openxmlformats.org/drawingml/2006/main" noGrp="1"/>
          </p:cNvSpPr>
          <p:nvPr/>
        </p:nvSpPr>
        <p:spPr>
          <a:xfrm xmlns:a="http://schemas.openxmlformats.org/drawingml/2006/main">
            <a:off x="594360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Text 7">
            <a:extLst xmlns:a="http://schemas.openxmlformats.org/drawingml/2006/main">
              <a:ext uri="{FF2B5EF4-FFF2-40B4-BE49-F238E27FC236}">
                <a16:creationId xmlns:a16="http://schemas.microsoft.com/office/drawing/2014/main" id="{27F8139D-E402-47D4-AC17-27504D7E94C5}"/>
              </a:ext>
            </a:extLst>
          </p:cNvPr>
          <p:cNvSpPr>
            <a:spLocks xmlns:a="http://schemas.openxmlformats.org/drawingml/2006/main" noGrp="1"/>
          </p:cNvSpPr>
          <p:nvPr/>
        </p:nvSpPr>
        <p:spPr>
          <a:xfrm xmlns:a="http://schemas.openxmlformats.org/drawingml/2006/main">
            <a:off x="621792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Jest Unit Test</a:t>
            </a:r>
            <a:endParaRPr sz="1400"/>
          </a:p>
        </p:txBody>
      </p:sp>
      <p:sp>
        <p:nvSpPr>
          <p:cNvPr id="11" name="Shape 8">
            <a:extLst xmlns:a="http://schemas.openxmlformats.org/drawingml/2006/main">
              <a:ext uri="{FF2B5EF4-FFF2-40B4-BE49-F238E27FC236}">
                <a16:creationId xmlns:a16="http://schemas.microsoft.com/office/drawing/2014/main" id="{40B27975-3ED8-4233-8E16-C55C8F39104C}"/>
              </a:ext>
            </a:extLst>
          </p:cNvPr>
          <p:cNvSpPr>
            <a:spLocks xmlns:a="http://schemas.openxmlformats.org/drawingml/2006/main" noGrp="1"/>
          </p:cNvSpPr>
          <p:nvPr/>
        </p:nvSpPr>
        <p:spPr>
          <a:xfrm xmlns:a="http://schemas.openxmlformats.org/drawingml/2006/main">
            <a:off x="781812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2" name="Text 9">
            <a:extLst xmlns:a="http://schemas.openxmlformats.org/drawingml/2006/main">
              <a:ext uri="{FF2B5EF4-FFF2-40B4-BE49-F238E27FC236}">
                <a16:creationId xmlns:a16="http://schemas.microsoft.com/office/drawing/2014/main" id="{05720538-E87B-4C43-B26D-DA5DCBBF057F}"/>
              </a:ext>
            </a:extLst>
          </p:cNvPr>
          <p:cNvSpPr>
            <a:spLocks xmlns:a="http://schemas.openxmlformats.org/drawingml/2006/main" noGrp="1"/>
          </p:cNvSpPr>
          <p:nvPr/>
        </p:nvSpPr>
        <p:spPr>
          <a:xfrm xmlns:a="http://schemas.openxmlformats.org/drawingml/2006/main">
            <a:off x="8092440" y="1554480"/>
            <a:ext cx="1600200" cy="1005840"/>
          </a:xfrm>
          <a:prstGeom xmlns:a="http://schemas.openxmlformats.org/drawingml/2006/main" prst="rect">
            <a:avLst/>
          </a:prstGeom>
          <a:solidFill xmlns:a="http://schemas.openxmlformats.org/drawingml/2006/main">
            <a:schemeClr val="bg2"/>
          </a:solidFill>
          <a:ln xmlns:a="http://schemas.openxmlformats.org/drawingml/2006/main" w="3810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b="1">
                <a:solidFill>
                  <a:schemeClr val="tx1"/>
                </a:solidFill>
                <a:latin typeface="Arial"/>
                <a:ea typeface="Arial"/>
                <a:cs typeface="Arial"/>
              </a:rPr>
              <a:t>Quality Gate</a:t>
            </a:r>
            <a:endParaRPr sz="1400"/>
          </a:p>
        </p:txBody>
      </p:sp>
      <p:sp>
        <p:nvSpPr>
          <p:cNvPr id="13" name="Shape 10">
            <a:extLst xmlns:a="http://schemas.openxmlformats.org/drawingml/2006/main">
              <a:ext uri="{FF2B5EF4-FFF2-40B4-BE49-F238E27FC236}">
                <a16:creationId xmlns:a16="http://schemas.microsoft.com/office/drawing/2014/main" id="{BC71037B-DD06-4004-920A-7EDD92E07F0F}"/>
              </a:ext>
            </a:extLst>
          </p:cNvPr>
          <p:cNvSpPr>
            <a:spLocks xmlns:a="http://schemas.openxmlformats.org/drawingml/2006/main" noGrp="1"/>
          </p:cNvSpPr>
          <p:nvPr/>
        </p:nvSpPr>
        <p:spPr>
          <a:xfrm xmlns:a="http://schemas.openxmlformats.org/drawingml/2006/main">
            <a:off x="9692640" y="205740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4" name="Text 11">
            <a:extLst xmlns:a="http://schemas.openxmlformats.org/drawingml/2006/main">
              <a:ext uri="{FF2B5EF4-FFF2-40B4-BE49-F238E27FC236}">
                <a16:creationId xmlns:a16="http://schemas.microsoft.com/office/drawing/2014/main" id="{0F08CC21-CB0B-4B62-83C7-212358F6FE49}"/>
              </a:ext>
            </a:extLst>
          </p:cNvPr>
          <p:cNvSpPr>
            <a:spLocks xmlns:a="http://schemas.openxmlformats.org/drawingml/2006/main" noGrp="1"/>
          </p:cNvSpPr>
          <p:nvPr/>
        </p:nvSpPr>
        <p:spPr>
          <a:xfrm xmlns:a="http://schemas.openxmlformats.org/drawingml/2006/main">
            <a:off x="9966960" y="155448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a:solidFill>
                  <a:schemeClr val="tx1"/>
                </a:solidFill>
                <a:latin typeface="Arial"/>
                <a:ea typeface="Arial"/>
                <a:cs typeface="Arial"/>
              </a:rPr>
              <a:t>Merge vào main</a:t>
            </a:r>
            <a:endParaRPr sz="1400"/>
          </a:p>
        </p:txBody>
      </p:sp>
      <p:sp>
        <p:nvSpPr>
          <p:cNvPr id="15" name="Shape 12">
            <a:extLst xmlns:a="http://schemas.openxmlformats.org/drawingml/2006/main">
              <a:ext uri="{FF2B5EF4-FFF2-40B4-BE49-F238E27FC236}">
                <a16:creationId xmlns:a16="http://schemas.microsoft.com/office/drawing/2014/main" id="{56ADB605-EC3E-46D3-918B-2D3E6225D1D1}"/>
              </a:ext>
            </a:extLst>
          </p:cNvPr>
          <p:cNvSpPr>
            <a:spLocks xmlns:a="http://schemas.openxmlformats.org/drawingml/2006/main" noGrp="1"/>
          </p:cNvSpPr>
          <p:nvPr/>
        </p:nvSpPr>
        <p:spPr>
          <a:xfrm xmlns:a="http://schemas.openxmlformats.org/drawingml/2006/main">
            <a:off x="8892540" y="2560320"/>
            <a:ext cx="0" cy="100584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6" name="Text 13">
            <a:extLst xmlns:a="http://schemas.openxmlformats.org/drawingml/2006/main">
              <a:ext uri="{FF2B5EF4-FFF2-40B4-BE49-F238E27FC236}">
                <a16:creationId xmlns:a16="http://schemas.microsoft.com/office/drawing/2014/main" id="{8F0D99F1-EEFA-4E90-BC8D-26961E27B5B9}"/>
              </a:ext>
            </a:extLst>
          </p:cNvPr>
          <p:cNvSpPr>
            <a:spLocks xmlns:a="http://schemas.openxmlformats.org/drawingml/2006/main" noGrp="1"/>
          </p:cNvSpPr>
          <p:nvPr/>
        </p:nvSpPr>
        <p:spPr>
          <a:xfrm xmlns:a="http://schemas.openxmlformats.org/drawingml/2006/main">
            <a:off x="8983980" y="2880360"/>
            <a:ext cx="731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tx1"/>
                </a:solidFill>
              </a:rPr>
              <a:t>Fail</a:t>
            </a:r>
            <a:endParaRPr sz="1400"/>
          </a:p>
        </p:txBody>
      </p:sp>
      <p:sp>
        <p:nvSpPr>
          <p:cNvPr id="17" name="Text 14">
            <a:extLst xmlns:a="http://schemas.openxmlformats.org/drawingml/2006/main">
              <a:ext uri="{FF2B5EF4-FFF2-40B4-BE49-F238E27FC236}">
                <a16:creationId xmlns:a16="http://schemas.microsoft.com/office/drawing/2014/main" id="{16EAC3E0-A87B-4268-89AE-C7ACA0CA708F}"/>
              </a:ext>
            </a:extLst>
          </p:cNvPr>
          <p:cNvSpPr>
            <a:spLocks xmlns:a="http://schemas.openxmlformats.org/drawingml/2006/main" noGrp="1"/>
          </p:cNvSpPr>
          <p:nvPr/>
        </p:nvSpPr>
        <p:spPr>
          <a:xfrm xmlns:a="http://schemas.openxmlformats.org/drawingml/2006/main">
            <a:off x="7703820" y="3566160"/>
            <a:ext cx="237744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400" b="1">
                <a:solidFill>
                  <a:schemeClr val="tx1"/>
                </a:solidFill>
                <a:latin typeface="Arial"/>
                <a:ea typeface="Arial"/>
                <a:cs typeface="Arial"/>
              </a:rPr>
              <a:t>Merge bị khóa</a:t>
            </a:r>
            <a:endParaRPr sz="1400"/>
          </a:p>
          <a:p xmlns:a="http://schemas.openxmlformats.org/drawingml/2006/main">
            <a:pPr marL="0" indent="0" algn="ctr">
              <a:buNone/>
            </a:pPr>
            <a:r>
              <a:rPr sz="1400" b="1">
                <a:solidFill>
                  <a:schemeClr val="tx1"/>
                </a:solidFill>
                <a:latin typeface="Arial"/>
                <a:ea typeface="Arial"/>
                <a:cs typeface="Arial"/>
              </a:rPr>
              <a:t/>
            </a:r>
            <a:endParaRPr sz="1400"/>
          </a:p>
        </p:txBody>
      </p:sp>
      <p:sp>
        <p:nvSpPr>
          <p:cNvPr id="18" name="Text 15">
            <a:extLst xmlns:a="http://schemas.openxmlformats.org/drawingml/2006/main">
              <a:ext uri="{FF2B5EF4-FFF2-40B4-BE49-F238E27FC236}">
                <a16:creationId xmlns:a16="http://schemas.microsoft.com/office/drawing/2014/main" id="{9DDAB71B-AB5D-432C-99E0-C782A5867C41}"/>
              </a:ext>
            </a:extLst>
          </p:cNvPr>
          <p:cNvSpPr>
            <a:spLocks xmlns:a="http://schemas.openxmlformats.org/drawingml/2006/main" noGrp="1"/>
          </p:cNvSpPr>
          <p:nvPr/>
        </p:nvSpPr>
        <p:spPr>
          <a:xfrm xmlns:a="http://schemas.openxmlformats.org/drawingml/2006/main">
            <a:off x="594360" y="3566160"/>
            <a:ext cx="6675120" cy="237744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2000" b="1">
                <a:solidFill>
                  <a:schemeClr val="tx1"/>
                </a:solidFill>
                <a:latin typeface="Arial"/>
                <a:ea typeface="Arial"/>
                <a:cs typeface="Arial"/>
              </a:rPr>
              <a:t>Tiêu chí Quality Gate</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100% test pass</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Line coverage module coupon &gt; 70%</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Branch Protection: có script cấu hình required checks</a:t>
            </a:r>
            <a:endParaRPr sz="1600"/>
          </a:p>
          <a:p xmlns:a="http://schemas.openxmlformats.org/drawingml/2006/main">
            <a:pPr marL="342900" indent="-342900" algn="l">
              <a:spcAft>
                <a:spcPts val="400"/>
              </a:spcAft>
              <a:buSzPct val="100000"/>
              <a:buChar char="•"/>
            </a:pPr>
            <a:r>
              <a:rPr sz="1600">
                <a:solidFill>
                  <a:schemeClr val="tx1"/>
                </a:solidFill>
                <a:latin typeface="Arial"/>
                <a:ea typeface="Arial"/>
                <a:cs typeface="Arial"/>
              </a:rPr>
              <a:t>Flow thật: Gitleaks → Test → Gate → Build; summary luôn chạy</a:t>
            </a:r>
            <a:endParaRPr sz="1600"/>
          </a:p>
        </p:txBody>
      </p:sp>
      <p:sp>
        <p:nvSpPr>
          <p:cNvPr id="25" name="Slide Number Placeholder 0">
            <a:extLst xmlns:a="http://schemas.openxmlformats.org/drawingml/2006/main">
              <a:ext uri="{FF2B5EF4-FFF2-40B4-BE49-F238E27FC236}">
                <a16:creationId xmlns:a16="http://schemas.microsoft.com/office/drawing/2014/main" id="{EB8DBD04-F690-4FB1-A929-8FC2E3442C31}"/>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3878787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1D65A6A-50A0-4FB6-8BF8-DEACEA85A18C}"/>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Lựa chọn công cụ</a:t>
            </a:r>
            <a:endParaRPr sz="3600"/>
          </a:p>
        </p:txBody>
      </p:sp>
      <p:graphicFrame>
        <p:nvGraphicFramePr>
          <p:cNvPr id="7" name="Table 0">
            <a:extLst xmlns:a="http://schemas.openxmlformats.org/drawingml/2006/main">
              <a:ext uri="{FF2B5EF4-FFF2-40B4-BE49-F238E27FC236}">
                <a16:creationId xmlns:a16="http://schemas.microsoft.com/office/drawing/2014/main" id="{9A1B5FAD-82EA-4472-953C-E26D6833B7EC}"/>
              </a:ext>
            </a:extLst>
          </p:cNvPr>
          <p:cNvGraphicFramePr/>
          <p:nvPr/>
        </p:nvGraphicFramePr>
        <p:xfrm>
          <a:off xmlns:a="http://schemas.openxmlformats.org/drawingml/2006/main" x="548640" y="1463040"/>
          <a:ext xmlns:a="http://schemas.openxmlformats.org/drawingml/2006/main" cx="11064240" cy="914400"/>
        </p:xfrm>
        <a:graphic xmlns:a="http://schemas.openxmlformats.org/drawingml/2006/main">
          <a:graphicData uri="http://schemas.openxmlformats.org/drawingml/2006/table">
            <a:tbl>
              <a:tblPr/>
              <a:tblGrid>
                <a:gridCol w="2651760"/>
                <a:gridCol w="3749040"/>
                <a:gridCol w="4663440"/>
              </a:tblGrid>
              <a:tr h="640080">
                <a:tc>
                  <a:txBody>
                    <a:bodyPr/>
                    <a:lstStyle/>
                    <a:p>
                      <a:pPr marL="0" indent="0" algn="l">
                        <a:buNone/>
                      </a:pPr>
                      <a:r>
                        <a:rPr sz="1200" b="1">
                          <a:solidFill>
                            <a:srgbClr val="FFFFFF"/>
                          </a:solidFill>
                        </a:rPr>
                        <a:t>Công cụ</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Vai trò</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Lý do</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640080">
                <a:tc>
                  <a:txBody>
                    <a:bodyPr/>
                    <a:lstStyle/>
                    <a:p>
                      <a:pPr marL="0" indent="0">
                        <a:buNone/>
                      </a:pPr>
                      <a:r>
                        <a:rPr sz="1400" b="1">
                          <a:solidFill>
                            <a:srgbClr val="000000"/>
                          </a:solidFill>
                        </a:rPr>
                        <a:t>GitHub Actions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Trọng tâm: điều phối pipeline, Quality Gates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Tích hợp sẵn repo EShop, không tốn hạ tầng, YAML trực quan, hỗ trợ matrix</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b="1">
                          <a:solidFill>
                            <a:srgbClr val="000000"/>
                          </a:solidFill>
                        </a:rPr>
                        <a:t>Jest</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Hỗ trợ: Test Engine cho backend Node.js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Chạy Unit Test, xuất Coverage Report cho Quality Gate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b="1">
                          <a:solidFill>
                            <a:srgbClr val="000000"/>
                          </a:solidFill>
                        </a:rPr>
                        <a:t>LLM Log Triage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Hỗ trợ: phân tích log lỗi bằng AI</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400">
                          <a:solidFill>
                            <a:srgbClr val="000000"/>
                          </a:solidFill>
                        </a:rPr>
                        <a:t>Chi phí thấp, triển khai tức thì, gợi ý hướng sửa</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640080">
                <a:tc>
                  <a:txBody>
                    <a:bodyPr/>
                    <a:lstStyle/>
                    <a:p>
                      <a:pPr marL="0" indent="0">
                        <a:buNone/>
                      </a:pPr>
                      <a:r>
                        <a:rPr sz="1400">
                          <a:solidFill>
                            <a:srgbClr val="000000"/>
                          </a:solidFill>
                        </a:rPr>
                        <a:t>Jenkins</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Không chọn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Self-hosted, tốn công bảo trì máy chủ</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r>
              <a:tr h="640080">
                <a:tc>
                  <a:txBody>
                    <a:bodyPr/>
                    <a:lstStyle/>
                    <a:p>
                      <a:pPr marL="0" indent="0">
                        <a:buNone/>
                      </a:pPr>
                      <a:r>
                        <a:rPr sz="1400">
                          <a:solidFill>
                            <a:srgbClr val="000000"/>
                          </a:solidFill>
                        </a:rPr>
                        <a:t>Datadog FTM / Launchable</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Không chọn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c>
                  <a:txBody>
                    <a:bodyPr/>
                    <a:lstStyle/>
                    <a:p>
                      <a:pPr marL="0" indent="0">
                        <a:buNone/>
                      </a:pPr>
                      <a:r>
                        <a:rPr sz="1400">
                          <a:solidFill>
                            <a:srgbClr val="000000"/>
                          </a:solidFill>
                        </a:rPr>
                        <a:t>Đắt đỏ, cần dữ liệu lịch sử lớn</a:t>
                      </a:r>
                      <a:endParaRPr sz="14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F2F2F2"/>
                    </a:solidFill>
                  </a:tcPr>
                </a:tc>
              </a:tr>
            </a:tbl>
          </a:graphicData>
        </a:graphic>
      </p:graphicFrame>
      <p:sp>
        <p:nvSpPr>
          <p:cNvPr id="5" name="Text 1">
            <a:extLst xmlns:a="http://schemas.openxmlformats.org/drawingml/2006/main">
              <a:ext uri="{FF2B5EF4-FFF2-40B4-BE49-F238E27FC236}">
                <a16:creationId xmlns:a16="http://schemas.microsoft.com/office/drawing/2014/main" id="{2559854E-88E4-4137-8F0A-E6E8D32E8DC9}"/>
              </a:ext>
            </a:extLst>
          </p:cNvPr>
          <p:cNvSpPr>
            <a:spLocks xmlns:a="http://schemas.openxmlformats.org/drawingml/2006/main" noGrp="1"/>
          </p:cNvSpPr>
          <p:nvPr/>
        </p:nvSpPr>
        <p:spPr>
          <a:xfrm xmlns:a="http://schemas.openxmlformats.org/drawingml/2006/main">
            <a:off x="548640" y="5669280"/>
            <a:ext cx="11064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tx1"/>
                </a:solidFill>
              </a:rPr>
              <a:t>5 tiêu chí: chi phí bản quyền · độ dốc học tập · phù hợp EShop · năng lực AI · cộng đồng và hệ sinh thái</a:t>
            </a:r>
            <a:endParaRPr sz="1400"/>
          </a:p>
        </p:txBody>
      </p:sp>
      <p:sp>
        <p:nvSpPr>
          <p:cNvPr id="25" name="Slide Number Placeholder 0">
            <a:extLst xmlns:a="http://schemas.openxmlformats.org/drawingml/2006/main">
              <a:ext uri="{FF2B5EF4-FFF2-40B4-BE49-F238E27FC236}">
                <a16:creationId xmlns:a16="http://schemas.microsoft.com/office/drawing/2014/main" id="{D92E696D-0958-436D-ACF0-E261003B1614}"/>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147656805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AC8065-226A-431A-B934-BD466D7A42DC}"/>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Kịch bản demo theo từng công cụ</a:t>
            </a:r>
            <a:endParaRPr sz="3600"/>
          </a:p>
        </p:txBody>
      </p:sp>
      <p:sp>
        <p:nvSpPr>
          <p:cNvPr id="4" name="Text 1">
            <a:extLst xmlns:a="http://schemas.openxmlformats.org/drawingml/2006/main">
              <a:ext uri="{FF2B5EF4-FFF2-40B4-BE49-F238E27FC236}">
                <a16:creationId xmlns:a16="http://schemas.microsoft.com/office/drawing/2014/main" id="{3217D760-08CF-450F-BB17-E6288733F9AA}"/>
              </a:ext>
            </a:extLst>
          </p:cNvPr>
          <p:cNvSpPr>
            <a:spLocks xmlns:a="http://schemas.openxmlformats.org/drawingml/2006/main" noGrp="1"/>
          </p:cNvSpPr>
          <p:nvPr/>
        </p:nvSpPr>
        <p:spPr>
          <a:xfrm xmlns:a="http://schemas.openxmlformats.org/drawingml/2006/main">
            <a:off x="548640" y="1463040"/>
            <a:ext cx="3566160" cy="42062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GitHub Actions</a:t>
            </a:r>
            <a:endParaRPr sz="1400"/>
          </a:p>
          <a:p xmlns:a="http://schemas.openxmlformats.org/drawingml/2006/main">
            <a:pPr marL="0" indent="0" algn="l">
              <a:buNone/>
            </a:pPr>
            <a:r>
              <a:rPr sz="1400" i="1">
                <a:solidFill>
                  <a:schemeClr val="tx1"/>
                </a:solidFill>
                <a:latin typeface="Arial"/>
                <a:ea typeface="Arial"/>
                <a:cs typeface="Arial"/>
              </a:rPr>
              <a:t>Trọng tâm</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Workflow eshop-ci.yml, tối ưu cache</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Commit lỗi: pipeline chặn merge, sửa lỗi, xanh lại</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Node.js 22; Branch Protection có script cấu hình</a:t>
            </a:r>
            <a:endParaRPr sz="1400"/>
          </a:p>
        </p:txBody>
      </p:sp>
      <p:sp>
        <p:nvSpPr>
          <p:cNvPr id="5" name="Text 2">
            <a:extLst xmlns:a="http://schemas.openxmlformats.org/drawingml/2006/main">
              <a:ext uri="{FF2B5EF4-FFF2-40B4-BE49-F238E27FC236}">
                <a16:creationId xmlns:a16="http://schemas.microsoft.com/office/drawing/2014/main" id="{FEC2ABB3-6CBB-4480-8D28-12B28E27C16B}"/>
              </a:ext>
            </a:extLst>
          </p:cNvPr>
          <p:cNvSpPr>
            <a:spLocks xmlns:a="http://schemas.openxmlformats.org/drawingml/2006/main" noGrp="1"/>
          </p:cNvSpPr>
          <p:nvPr/>
        </p:nvSpPr>
        <p:spPr>
          <a:xfrm xmlns:a="http://schemas.openxmlformats.org/drawingml/2006/main">
            <a:off x="4297680" y="1463040"/>
            <a:ext cx="3566160" cy="42062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Jest</a:t>
            </a:r>
            <a:endParaRPr sz="1400"/>
          </a:p>
          <a:p xmlns:a="http://schemas.openxmlformats.org/drawingml/2006/main">
            <a:pPr marL="0" indent="0" algn="l">
              <a:buNone/>
            </a:pPr>
            <a:r>
              <a:rPr sz="1400" i="1">
                <a:solidFill>
                  <a:schemeClr val="tx1"/>
                </a:solidFill>
                <a:latin typeface="Arial"/>
                <a:ea typeface="Arial"/>
                <a:cs typeface="Arial"/>
              </a:rPr>
              <a:t>Hỗ trợ</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--runInBand; hooks dùng ở full suite</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test.each phát hiện lỗi coupon</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Demo flaky delay async (fast / slow / random)</a:t>
            </a:r>
            <a:endParaRPr sz="1400"/>
          </a:p>
        </p:txBody>
      </p:sp>
      <p:sp>
        <p:nvSpPr>
          <p:cNvPr id="6" name="Text 3">
            <a:extLst xmlns:a="http://schemas.openxmlformats.org/drawingml/2006/main">
              <a:ext uri="{FF2B5EF4-FFF2-40B4-BE49-F238E27FC236}">
                <a16:creationId xmlns:a16="http://schemas.microsoft.com/office/drawing/2014/main" id="{84E46F22-5725-427B-94FD-67D5980DDDEC}"/>
              </a:ext>
            </a:extLst>
          </p:cNvPr>
          <p:cNvSpPr>
            <a:spLocks xmlns:a="http://schemas.openxmlformats.org/drawingml/2006/main" noGrp="1"/>
          </p:cNvSpPr>
          <p:nvPr/>
        </p:nvSpPr>
        <p:spPr>
          <a:xfrm xmlns:a="http://schemas.openxmlformats.org/drawingml/2006/main">
            <a:off x="8046720" y="1463040"/>
            <a:ext cx="3566160" cy="42062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buNone/>
            </a:pPr>
            <a:r>
              <a:rPr sz="2200" b="1">
                <a:solidFill>
                  <a:schemeClr val="tx1"/>
                </a:solidFill>
                <a:latin typeface="Arial"/>
                <a:ea typeface="Arial"/>
                <a:cs typeface="Arial"/>
              </a:rPr>
              <a:t>AI Log Triage</a:t>
            </a:r>
            <a:endParaRPr sz="1400"/>
          </a:p>
          <a:p xmlns:a="http://schemas.openxmlformats.org/drawingml/2006/main">
            <a:pPr marL="0" indent="0" algn="l">
              <a:buNone/>
            </a:pPr>
            <a:r>
              <a:rPr sz="1400" i="1">
                <a:solidFill>
                  <a:schemeClr val="tx1"/>
                </a:solidFill>
                <a:latin typeface="Arial"/>
                <a:ea typeface="Arial"/>
                <a:cs typeface="Arial"/>
              </a:rPr>
              <a:t>Hỗ trợ</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PR test fail + GEMINI_API_KEY trong Secrets</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Tóm tắt lỗi coupon từ log</a:t>
            </a:r>
            <a:endParaRPr sz="1400"/>
          </a:p>
          <a:p xmlns:a="http://schemas.openxmlformats.org/drawingml/2006/main">
            <a:pPr marL="342900" indent="-342900" algn="l">
              <a:spcBef>
                <a:spcPts val="1200"/>
              </a:spcBef>
              <a:buSzPct val="100000"/>
              <a:buFont typeface="+mj-lt"/>
              <a:buAutoNum type="arabicPeriod" startAt="1"/>
            </a:pPr>
            <a:r>
              <a:rPr sz="1800">
                <a:solidFill>
                  <a:schemeClr val="tx1"/>
                </a:solidFill>
                <a:latin typeface="Arial"/>
                <a:ea typeface="Arial"/>
                <a:cs typeface="Arial"/>
              </a:rPr>
              <a:t>Triage lỗi test coupon; dev kiểm chứng kết luận</a:t>
            </a:r>
            <a:endParaRPr sz="1400"/>
          </a:p>
        </p:txBody>
      </p:sp>
      <p:sp>
        <p:nvSpPr>
          <p:cNvPr id="25" name="Slide Number Placeholder 0">
            <a:extLst xmlns:a="http://schemas.openxmlformats.org/drawingml/2006/main">
              <a:ext uri="{FF2B5EF4-FFF2-40B4-BE49-F238E27FC236}">
                <a16:creationId xmlns:a16="http://schemas.microsoft.com/office/drawing/2014/main" id="{0AD77860-193A-45BC-9048-207148480729}"/>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198618967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34DD12F-A39D-462D-9EFA-C7BC95880E9F}"/>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Ba trụ cột kiểm thử tự động</a:t>
            </a:r>
            <a:endParaRPr sz="3600"/>
          </a:p>
        </p:txBody>
      </p:sp>
      <p:sp>
        <p:nvSpPr>
          <p:cNvPr id="4" name="Text 1">
            <a:extLst xmlns:a="http://schemas.openxmlformats.org/drawingml/2006/main">
              <a:ext uri="{FF2B5EF4-FFF2-40B4-BE49-F238E27FC236}">
                <a16:creationId xmlns:a16="http://schemas.microsoft.com/office/drawing/2014/main" id="{46D74D18-7A80-40D2-B7E6-153196E52929}"/>
              </a:ext>
            </a:extLst>
          </p:cNvPr>
          <p:cNvSpPr>
            <a:spLocks xmlns:a="http://schemas.openxmlformats.org/drawingml/2006/main" noGrp="1"/>
          </p:cNvSpPr>
          <p:nvPr/>
        </p:nvSpPr>
        <p:spPr>
          <a:xfrm xmlns:a="http://schemas.openxmlformats.org/drawingml/2006/main">
            <a:off x="548640" y="14630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Record &amp; Playback</a:t>
            </a:r>
            <a:endParaRPr sz="2000"/>
          </a:p>
        </p:txBody>
      </p:sp>
      <p:sp>
        <p:nvSpPr>
          <p:cNvPr id="5" name="Text 2">
            <a:extLst xmlns:a="http://schemas.openxmlformats.org/drawingml/2006/main">
              <a:ext uri="{FF2B5EF4-FFF2-40B4-BE49-F238E27FC236}">
                <a16:creationId xmlns:a16="http://schemas.microsoft.com/office/drawing/2014/main" id="{577ABE11-F5D1-4A3C-AC53-F382AE61114C}"/>
              </a:ext>
            </a:extLst>
          </p:cNvPr>
          <p:cNvSpPr>
            <a:spLocks xmlns:a="http://schemas.openxmlformats.org/drawingml/2006/main" noGrp="1"/>
          </p:cNvSpPr>
          <p:nvPr/>
        </p:nvSpPr>
        <p:spPr>
          <a:xfrm xmlns:a="http://schemas.openxmlformats.org/drawingml/2006/main">
            <a:off x="3931920" y="14630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Artifacts CI và re-run để đối chiếu log từng lần chạy</a:t>
            </a:r>
            <a:endParaRPr sz="1600"/>
          </a:p>
          <a:p xmlns:a="http://schemas.openxmlformats.org/drawingml/2006/main">
            <a:pPr marL="342900" indent="-342900">
              <a:spcAft>
                <a:spcPts val="600"/>
              </a:spcAft>
              <a:buSzPct val="100000"/>
              <a:buChar char="•"/>
            </a:pPr>
            <a:r>
              <a:rPr sz="1600">
                <a:solidFill>
                  <a:schemeClr val="tx1"/>
                </a:solidFill>
              </a:rPr>
              <a:t>SUT hiện không có Jest Snapshot (.snap)</a:t>
            </a:r>
            <a:endParaRPr sz="1600"/>
          </a:p>
        </p:txBody>
      </p:sp>
      <p:sp>
        <p:nvSpPr>
          <p:cNvPr id="6" name="Text 3">
            <a:extLst xmlns:a="http://schemas.openxmlformats.org/drawingml/2006/main">
              <a:ext uri="{FF2B5EF4-FFF2-40B4-BE49-F238E27FC236}">
                <a16:creationId xmlns:a16="http://schemas.microsoft.com/office/drawing/2014/main" id="{D74DAF2A-EC1C-47DF-8C4D-A43E76028B9A}"/>
              </a:ext>
            </a:extLst>
          </p:cNvPr>
          <p:cNvSpPr>
            <a:spLocks xmlns:a="http://schemas.openxmlformats.org/drawingml/2006/main" noGrp="1"/>
          </p:cNvSpPr>
          <p:nvPr/>
        </p:nvSpPr>
        <p:spPr>
          <a:xfrm xmlns:a="http://schemas.openxmlformats.org/drawingml/2006/main">
            <a:off x="548640" y="30632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Data-Driven</a:t>
            </a:r>
            <a:endParaRPr sz="2000"/>
          </a:p>
        </p:txBody>
      </p:sp>
      <p:sp>
        <p:nvSpPr>
          <p:cNvPr id="7" name="Text 4">
            <a:extLst xmlns:a="http://schemas.openxmlformats.org/drawingml/2006/main">
              <a:ext uri="{FF2B5EF4-FFF2-40B4-BE49-F238E27FC236}">
                <a16:creationId xmlns:a16="http://schemas.microsoft.com/office/drawing/2014/main" id="{12275D54-BAA8-4B4F-B8C9-8167AF0EB83B}"/>
              </a:ext>
            </a:extLst>
          </p:cNvPr>
          <p:cNvSpPr>
            <a:spLocks xmlns:a="http://schemas.openxmlformats.org/drawingml/2006/main" noGrp="1"/>
          </p:cNvSpPr>
          <p:nvPr/>
        </p:nvSpPr>
        <p:spPr>
          <a:xfrm xmlns:a="http://schemas.openxmlformats.org/drawingml/2006/main">
            <a:off x="3931920" y="30632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Tách logic test khỏi bộ dữ liệu tham số hóa</a:t>
            </a:r>
            <a:endParaRPr sz="1600"/>
          </a:p>
          <a:p xmlns:a="http://schemas.openxmlformats.org/drawingml/2006/main">
            <a:pPr marL="342900" indent="-342900">
              <a:spcAft>
                <a:spcPts val="600"/>
              </a:spcAft>
              <a:buSzPct val="100000"/>
              <a:buChar char="•"/>
            </a:pPr>
            <a:r>
              <a:rPr sz="1600">
                <a:solidFill>
                  <a:schemeClr val="tx1"/>
                </a:solidFill>
              </a:rPr>
              <a:t>API test ở coupon.test.js; CI chạy unit coupon-discount.js</a:t>
            </a:r>
            <a:endParaRPr sz="1600"/>
          </a:p>
        </p:txBody>
      </p:sp>
      <p:sp>
        <p:nvSpPr>
          <p:cNvPr id="8" name="Text 5">
            <a:extLst xmlns:a="http://schemas.openxmlformats.org/drawingml/2006/main">
              <a:ext uri="{FF2B5EF4-FFF2-40B4-BE49-F238E27FC236}">
                <a16:creationId xmlns:a16="http://schemas.microsoft.com/office/drawing/2014/main" id="{78F8CA09-EF4D-4DE3-B767-79D77BFA97D8}"/>
              </a:ext>
            </a:extLst>
          </p:cNvPr>
          <p:cNvSpPr>
            <a:spLocks xmlns:a="http://schemas.openxmlformats.org/drawingml/2006/main" noGrp="1"/>
          </p:cNvSpPr>
          <p:nvPr/>
        </p:nvSpPr>
        <p:spPr>
          <a:xfrm xmlns:a="http://schemas.openxmlformats.org/drawingml/2006/main">
            <a:off x="548640" y="4663440"/>
            <a:ext cx="3108960" cy="1371600"/>
          </a:xfrm>
          <a:prstGeom xmlns:a="http://schemas.openxmlformats.org/drawingml/2006/main" prst="rect">
            <a:avLst/>
          </a:prstGeom>
          <a:solidFill xmlns:a="http://schemas.openxmlformats.org/drawingml/2006/main">
            <a:schemeClr val="tx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bg1"/>
                </a:solidFill>
                <a:latin typeface="Arial"/>
                <a:ea typeface="Arial"/>
                <a:cs typeface="Arial"/>
              </a:rPr>
              <a:t>Checkpoints</a:t>
            </a:r>
            <a:endParaRPr sz="2000"/>
          </a:p>
        </p:txBody>
      </p:sp>
      <p:sp>
        <p:nvSpPr>
          <p:cNvPr id="9" name="Text 6">
            <a:extLst xmlns:a="http://schemas.openxmlformats.org/drawingml/2006/main">
              <a:ext uri="{FF2B5EF4-FFF2-40B4-BE49-F238E27FC236}">
                <a16:creationId xmlns:a16="http://schemas.microsoft.com/office/drawing/2014/main" id="{6282B439-AB12-4229-ACFB-43D9C7682C83}"/>
              </a:ext>
            </a:extLst>
          </p:cNvPr>
          <p:cNvSpPr>
            <a:spLocks xmlns:a="http://schemas.openxmlformats.org/drawingml/2006/main" noGrp="1"/>
          </p:cNvSpPr>
          <p:nvPr/>
        </p:nvSpPr>
        <p:spPr>
          <a:xfrm xmlns:a="http://schemas.openxmlformats.org/drawingml/2006/main">
            <a:off x="3931920" y="4663440"/>
            <a:ext cx="76809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spcAft>
                <a:spcPts val="600"/>
              </a:spcAft>
              <a:buSzPct val="100000"/>
              <a:buChar char="•"/>
            </a:pPr>
            <a:r>
              <a:rPr sz="1600">
                <a:solidFill>
                  <a:schemeClr val="tx1"/>
                </a:solidFill>
              </a:rPr>
              <a:t>API: expect(status)/body; DB coupon_usage (orders test ở suite khác)</a:t>
            </a:r>
            <a:endParaRPr sz="1600"/>
          </a:p>
          <a:p xmlns:a="http://schemas.openxmlformats.org/drawingml/2006/main">
            <a:pPr marL="342900" indent="-342900">
              <a:spcAft>
                <a:spcPts val="600"/>
              </a:spcAft>
              <a:buSzPct val="100000"/>
              <a:buChar char="•"/>
            </a:pPr>
            <a:r>
              <a:rPr sz="1600">
                <a:solidFill>
                  <a:schemeClr val="tx1"/>
                </a:solidFill>
              </a:rPr>
              <a:t>Gate fail thì Build dừng; Pipeline Summary vẫn chạy</a:t>
            </a:r>
            <a:endParaRPr sz="1600"/>
          </a:p>
        </p:txBody>
      </p:sp>
      <p:sp>
        <p:nvSpPr>
          <p:cNvPr id="25" name="Slide Number Placeholder 0">
            <a:extLst xmlns:a="http://schemas.openxmlformats.org/drawingml/2006/main">
              <a:ext uri="{FF2B5EF4-FFF2-40B4-BE49-F238E27FC236}">
                <a16:creationId xmlns:a16="http://schemas.microsoft.com/office/drawing/2014/main" id="{EF2A7248-0CEE-469D-A87A-9508E208EF78}"/>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33058833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0FABB69-4995-4893-9FC5-AD50284813EF}"/>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Failure Mode 2: lỗi công thức coupon</a:t>
            </a:r>
            <a:endParaRPr sz="3600"/>
          </a:p>
        </p:txBody>
      </p:sp>
      <p:sp>
        <p:nvSpPr>
          <p:cNvPr id="4" name="Text 1">
            <a:extLst xmlns:a="http://schemas.openxmlformats.org/drawingml/2006/main">
              <a:ext uri="{FF2B5EF4-FFF2-40B4-BE49-F238E27FC236}">
                <a16:creationId xmlns:a16="http://schemas.microsoft.com/office/drawing/2014/main" id="{7FF6BB84-04C2-4AC3-A4D6-A88423EC87FF}"/>
              </a:ext>
            </a:extLst>
          </p:cNvPr>
          <p:cNvSpPr>
            <a:spLocks xmlns:a="http://schemas.openxmlformats.org/drawingml/2006/main" noGrp="1"/>
          </p:cNvSpPr>
          <p:nvPr/>
        </p:nvSpPr>
        <p:spPr>
          <a:xfrm xmlns:a="http://schemas.openxmlformats.org/drawingml/2006/main">
            <a:off x="548640" y="1325880"/>
            <a:ext cx="5394960" cy="137160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1400" b="1">
                <a:solidFill>
                  <a:schemeClr val="tx1"/>
                </a:solidFill>
                <a:latin typeface="Arial"/>
                <a:ea typeface="Arial"/>
                <a:cs typeface="Arial"/>
              </a:rPr>
              <a:t>Fault injection (comment trong test)</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discount_amount =</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  Math.floor(total_amount * (1 - coupon.discount_value));</a:t>
            </a:r>
            <a:endParaRPr sz="1400"/>
          </a:p>
        </p:txBody>
      </p:sp>
      <p:sp>
        <p:nvSpPr>
          <p:cNvPr id="5" name="Text 2">
            <a:extLst xmlns:a="http://schemas.openxmlformats.org/drawingml/2006/main">
              <a:ext uri="{FF2B5EF4-FFF2-40B4-BE49-F238E27FC236}">
                <a16:creationId xmlns:a16="http://schemas.microsoft.com/office/drawing/2014/main" id="{E02B1CEF-BEEF-4AFD-862A-7869E6C2441A}"/>
              </a:ext>
            </a:extLst>
          </p:cNvPr>
          <p:cNvSpPr>
            <a:spLocks xmlns:a="http://schemas.openxmlformats.org/drawingml/2006/main" noGrp="1"/>
          </p:cNvSpPr>
          <p:nvPr/>
        </p:nvSpPr>
        <p:spPr>
          <a:xfrm xmlns:a="http://schemas.openxmlformats.org/drawingml/2006/main">
            <a:off x="6217920" y="1325880"/>
            <a:ext cx="5394960" cy="1371600"/>
          </a:xfrm>
          <a:prstGeom xmlns:a="http://schemas.openxmlformats.org/drawingml/2006/main" prst="rect">
            <a:avLst/>
          </a:prstGeom>
          <a:solidFill xmlns:a="http://schemas.openxmlformats.org/drawingml/2006/main">
            <a:schemeClr val="bg1"/>
          </a:solidFill>
          <a:ln xmlns:a="http://schemas.openxmlformats.org/drawingml/2006/main" w="38100">
            <a:solidFill>
              <a:schemeClr val="tx1"/>
            </a:solidFill>
            <a:prstDash val="solid"/>
          </a:ln>
        </p:spPr>
        <p:txBody>
          <a:bodyPr xmlns:a="http://schemas.openxmlformats.org/drawingml/2006/main" wrap="square" lIns="177800" tIns="177800" rIns="177800" bIns="177800" anchor="ctr"/>
          <a:lstStyle xmlns:a="http://schemas.openxmlformats.org/drawingml/2006/main"/>
          <a:p xmlns:a="http://schemas.openxmlformats.org/drawingml/2006/main">
            <a:pPr marL="0" indent="0" algn="l">
              <a:spcAft>
                <a:spcPts val="400"/>
              </a:spcAft>
              <a:buNone/>
            </a:pPr>
            <a:r>
              <a:rPr sz="1400" b="1">
                <a:solidFill>
                  <a:schemeClr val="tx1"/>
                </a:solidFill>
                <a:latin typeface="Arial"/>
                <a:ea typeface="Arial"/>
                <a:cs typeface="Arial"/>
              </a:rPr>
              <a:t>Sau khi sửa</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discount_amount =</a:t>
            </a:r>
            <a:endParaRPr sz="1400"/>
          </a:p>
          <a:p xmlns:a="http://schemas.openxmlformats.org/drawingml/2006/main">
            <a:pPr marL="0" indent="0" algn="l">
              <a:spcAft>
                <a:spcPts val="400"/>
              </a:spcAft>
              <a:buNone/>
            </a:pPr>
            <a:r>
              <a:rPr sz="1600">
                <a:solidFill>
                  <a:schemeClr val="tx1"/>
                </a:solidFill>
                <a:latin typeface="Courier New"/>
                <a:ea typeface="Courier New"/>
                <a:cs typeface="Courier New"/>
              </a:rPr>
              <a:t>  Math.floor(totalAmount * (coupon.discount_value / 100));</a:t>
            </a:r>
            <a:endParaRPr sz="1400"/>
          </a:p>
        </p:txBody>
      </p:sp>
      <p:graphicFrame>
        <p:nvGraphicFramePr>
          <p:cNvPr id="10" name="Table 0">
            <a:extLst xmlns:a="http://schemas.openxmlformats.org/drawingml/2006/main">
              <a:ext uri="{FF2B5EF4-FFF2-40B4-BE49-F238E27FC236}">
                <a16:creationId xmlns:a16="http://schemas.microsoft.com/office/drawing/2014/main" id="{7F8215EB-1567-4D76-AC21-22CDF933AACC}"/>
              </a:ext>
            </a:extLst>
          </p:cNvPr>
          <p:cNvGraphicFramePr/>
          <p:nvPr/>
        </p:nvGraphicFramePr>
        <p:xfrm>
          <a:off xmlns:a="http://schemas.openxmlformats.org/drawingml/2006/main" x="548640" y="2926080"/>
          <a:ext xmlns:a="http://schemas.openxmlformats.org/drawingml/2006/main" cx="11064240" cy="1234440"/>
        </p:xfrm>
        <a:graphic xmlns:a="http://schemas.openxmlformats.org/drawingml/2006/main">
          <a:graphicData uri="http://schemas.openxmlformats.org/drawingml/2006/table">
            <a:tbl>
              <a:tblPr/>
              <a:tblGrid>
                <a:gridCol w="4663440"/>
                <a:gridCol w="3200400"/>
                <a:gridCol w="3200400"/>
              </a:tblGrid>
              <a:tr h="411480">
                <a:tc>
                  <a:txBody>
                    <a:bodyPr/>
                    <a:lstStyle/>
                    <a:p>
                      <a:pPr marL="0" indent="0" algn="l">
                        <a:buNone/>
                      </a:pPr>
                      <a:r>
                        <a:rPr sz="1200" b="1">
                          <a:solidFill>
                            <a:srgbClr val="FFFFFF"/>
                          </a:solidFill>
                        </a:rPr>
                        <a:t>SAVE10 (10%), đơn 500,000 ₫</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discount_amount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final_amount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411480">
                <a:tc>
                  <a:txBody>
                    <a:bodyPr/>
                    <a:lstStyle/>
                    <a:p>
                      <a:pPr marL="0" indent="0" algn="l">
                        <a:buNone/>
                      </a:pPr>
                      <a:r>
                        <a:rPr sz="1600">
                          <a:solidFill>
                            <a:srgbClr val="000000"/>
                          </a:solidFill>
                        </a:rPr>
                        <a:t>Trước khi sửa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a:solidFill>
                            <a:srgbClr val="000000"/>
                          </a:solidFill>
                        </a:rPr>
                        <a:t>-4,500,000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a:solidFill>
                            <a:srgbClr val="000000"/>
                          </a:solidFill>
                        </a:rPr>
                        <a:t>5,000,000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411480">
                <a:tc>
                  <a:txBody>
                    <a:bodyPr/>
                    <a:lstStyle/>
                    <a:p>
                      <a:pPr marL="0" indent="0" algn="l">
                        <a:buNone/>
                      </a:pPr>
                      <a:r>
                        <a:rPr sz="1600" b="1">
                          <a:solidFill>
                            <a:srgbClr val="000000"/>
                          </a:solidFill>
                        </a:rPr>
                        <a:t>Sau khi sửa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b="1">
                          <a:solidFill>
                            <a:srgbClr val="000000"/>
                          </a:solidFill>
                        </a:rPr>
                        <a:t>50,000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lgn="ctr">
                        <a:buNone/>
                      </a:pPr>
                      <a:r>
                        <a:rPr sz="1600" b="1">
                          <a:solidFill>
                            <a:srgbClr val="000000"/>
                          </a:solidFill>
                        </a:rPr>
                        <a:t>450,000</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bl>
          </a:graphicData>
        </a:graphic>
      </p:graphicFrame>
      <p:sp>
        <p:nvSpPr>
          <p:cNvPr id="25" name="Slide Number Placeholder 0">
            <a:extLst xmlns:a="http://schemas.openxmlformats.org/drawingml/2006/main">
              <a:ext uri="{FF2B5EF4-FFF2-40B4-BE49-F238E27FC236}">
                <a16:creationId xmlns:a16="http://schemas.microsoft.com/office/drawing/2014/main" id="{622F9805-9281-42EB-A296-8B28054798C7}"/>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9</a:t>
            </a:fld>
            <a:endParaRPr/>
          </a:p>
        </p:txBody>
      </p:sp>
      <p:sp>
        <p:nvSpPr>
          <p:cNvPr id="26" name="Cause box">
            <a:extLst xmlns:a="http://schemas.openxmlformats.org/drawingml/2006/main">
              <a:ext uri="{FF2B5EF4-FFF2-40B4-BE49-F238E27FC236}">
                <a16:creationId xmlns:a16="http://schemas.microsoft.com/office/drawing/2014/main" id="{532E5539-BC99-4502-9585-07D722616D5D}"/>
              </a:ext>
            </a:extLst>
          </p:cNvPr>
          <p:cNvSpPr>
            <a:spLocks xmlns:a="http://schemas.openxmlformats.org/drawingml/2006/main" noGrp="1"/>
          </p:cNvSpPr>
          <p:nvPr/>
        </p:nvSpPr>
        <p:spPr>
          <a:xfrm xmlns:a="http://schemas.openxmlformats.org/drawingml/2006/main">
            <a:off x="548640" y="4389120"/>
            <a:ext cx="11064240" cy="91440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ln>
        </p:spPr>
        <p:txBody>
          <a:bodyPr xmlns:a="http://schemas.openxmlformats.org/drawingml/2006/main" wrap="square" lIns="109728" tIns="76809" rIns="109728" bIns="76809" anchor="ctr">
            <a:spAutoFit/>
          </a:bodyPr>
          <a:lstStyle xmlns:a="http://schemas.openxmlformats.org/drawingml/2006/main"/>
          <a:p xmlns:a="http://schemas.openxmlformats.org/drawingml/2006/main">
            <a:pPr>
              <a:spcAft>
                <a:spcPts val="400"/>
              </a:spcAft>
              <a:buNone/>
            </a:pPr>
            <a:r>
              <a:rPr sz="1600" b="1">
                <a:solidFill>
                  <a:schemeClr val="tx1"/>
                </a:solidFill>
                <a:latin typeface="Arial"/>
                <a:ea typeface="Arial"/>
                <a:cs typeface="Arial"/>
              </a:rPr>
              <a:t>Mã chạy dùng coupon.discount_value; phần trăm chia 100 và làm tròn xuống.</a:t>
            </a:r>
          </a:p>
          <a:p xmlns:a="http://schemas.openxmlformats.org/drawingml/2006/main">
            <a:pPr>
              <a:spcAft>
                <a:spcPts val="200"/>
              </a:spcAft>
              <a:buNone/>
            </a:pPr>
            <a:r>
              <a:rPr sz="1400" b="0">
                <a:solidFill>
                  <a:schemeClr val="tx1"/>
                </a:solidFill>
                <a:latin typeface="Arial"/>
                <a:ea typeface="Arial"/>
                <a:cs typeface="Arial"/>
              </a:rPr>
              <a:t>Công thức lỗi chỉ mô phỏng fault injection; implementation hiện tại nằm trong coupon-discount.js.</a:t>
            </a:r>
          </a:p>
        </p:txBody>
      </p:sp>
      <p:sp>
        <p:nvSpPr>
          <p:cNvPr id="27" name="Detection line">
            <a:extLst xmlns:a="http://schemas.openxmlformats.org/drawingml/2006/main">
              <a:ext uri="{FF2B5EF4-FFF2-40B4-BE49-F238E27FC236}">
                <a16:creationId xmlns:a16="http://schemas.microsoft.com/office/drawing/2014/main" id="{675FB293-92B2-4665-98DA-70D2A876529B}"/>
              </a:ext>
            </a:extLst>
          </p:cNvPr>
          <p:cNvSpPr>
            <a:spLocks xmlns:a="http://schemas.openxmlformats.org/drawingml/2006/main" noGrp="1"/>
          </p:cNvSpPr>
          <p:nvPr/>
        </p:nvSpPr>
        <p:spPr>
          <a:xfrm xmlns:a="http://schemas.openxmlformats.org/drawingml/2006/main">
            <a:off x="548640" y="5440680"/>
            <a:ext cx="110642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spcAft>
                <a:spcPts val="200"/>
              </a:spcAft>
              <a:buNone/>
            </a:pPr>
            <a:r>
              <a:rPr sz="1600" b="1">
                <a:solidFill>
                  <a:schemeClr val="tx1"/>
                </a:solidFill>
                <a:latin typeface="Arial"/>
                <a:ea typeface="Arial"/>
                <a:cs typeface="Arial"/>
              </a:rPr>
              <a:t>Phát hiện bằng test.each: </a:t>
            </a:r>
            <a:r>
              <a:rPr sz="1600" b="0">
                <a:solidFill>
                  <a:schemeClr val="tx1"/>
                </a:solidFill>
                <a:latin typeface="Arial"/>
                <a:ea typeface="Arial"/>
                <a:cs typeface="Arial"/>
              </a:rPr>
              <a:t>ca SAVE10 · 500,000 kỳ vọng discount_amount = 50,000, nhận −4,500,000 → test FAIL → Quality Gate chặn merge</a:t>
            </a:r>
          </a:p>
        </p:txBody>
      </p:sp>
    </p:spTree>
    <p:extLst>
      <p:ext uri="{BB962C8B-B14F-4D97-AF65-F5344CB8AC3E}">
        <p14:creationId xmlns:p14="http://schemas.microsoft.com/office/powerpoint/2010/main" val="81850378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8D30F4-F312-4425-896F-FB8484090ED1}"/>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Coupon tests: 21 ca API · 23 unit test CI</a:t>
            </a:r>
            <a:endParaRPr sz="3600"/>
          </a:p>
        </p:txBody>
      </p:sp>
      <p:sp>
        <p:nvSpPr>
          <p:cNvPr id="25" name="Slide Number Placeholder 0">
            <a:extLst xmlns:a="http://schemas.openxmlformats.org/drawingml/2006/main">
              <a:ext uri="{FF2B5EF4-FFF2-40B4-BE49-F238E27FC236}">
                <a16:creationId xmlns:a16="http://schemas.microsoft.com/office/drawing/2014/main" id="{C9B5C426-F631-4D30-8083-E42490D04050}"/>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10</a:t>
            </a:fld>
            <a:endParaRPr/>
          </a:p>
        </p:txBody>
      </p:sp>
      <p:graphicFrame>
        <p:nvGraphicFramePr>
          <p:cNvPr id="26" name="Matrix 21 cases">
            <a:extLst xmlns:a="http://schemas.openxmlformats.org/drawingml/2006/main">
              <a:ext uri="{FF2B5EF4-FFF2-40B4-BE49-F238E27FC236}">
                <a16:creationId xmlns:a16="http://schemas.microsoft.com/office/drawing/2014/main" id="{8B7292FB-CF22-44F0-82C7-4AFB3CB2AEEC}"/>
              </a:ext>
            </a:extLst>
          </p:cNvPr>
          <p:cNvGraphicFramePr/>
          <p:nvPr/>
        </p:nvGraphicFramePr>
        <p:xfrm>
          <a:off xmlns:a="http://schemas.openxmlformats.org/drawingml/2006/main" x="548640" y="1234440"/>
          <a:ext xmlns:a="http://schemas.openxmlformats.org/drawingml/2006/main" cx="11064240" cy="3547872"/>
        </p:xfrm>
        <a:graphic xmlns:a="http://schemas.openxmlformats.org/drawingml/2006/main">
          <a:graphicData uri="http://schemas.openxmlformats.org/drawingml/2006/table">
            <a:tbl>
              <a:tblPr/>
              <a:tblGrid>
                <a:gridCol w="2286000"/>
                <a:gridCol w="1463040"/>
                <a:gridCol w="1463040"/>
                <a:gridCol w="1463040"/>
                <a:gridCol w="1463040"/>
                <a:gridCol w="1463040"/>
                <a:gridCol w="1463040"/>
              </a:tblGrid>
              <a:tr h="365760">
                <a:tc>
                  <a:txBody>
                    <a:bodyPr/>
                    <a:lstStyle/>
                    <a:p>
                      <a:pPr algn="l">
                        <a:buNone/>
                      </a:pPr>
                      <a:r>
                        <a:rPr sz="1200" b="1">
                          <a:solidFill>
                            <a:srgbClr val="FFFFFF"/>
                          </a:solidFill>
                          <a:latin typeface="Arial"/>
                          <a:ea typeface="Arial"/>
                          <a:cs typeface="Arial"/>
                        </a:rPr>
                        <a:t>Nhóm test / phạm vi</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1</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2</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3</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5</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algn="ctr">
                        <a:buNone/>
                      </a:pPr>
                      <a:r>
                        <a:rPr sz="1200" b="1">
                          <a:solidFill>
                            <a:srgbClr val="FFFFFF"/>
                          </a:solidFill>
                          <a:latin typeface="Arial"/>
                          <a:ea typeface="Arial"/>
                          <a:cs typeface="Arial"/>
                        </a:rPr>
                        <a:t>Ca 6</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530352">
                <a:tc>
                  <a:txBody>
                    <a:bodyPr/>
                    <a:lstStyle/>
                    <a:p>
                      <a:pPr algn="l">
                        <a:buNone/>
                      </a:pPr>
                      <a:r>
                        <a:rPr sz="1100" b="1">
                          <a:solidFill>
                            <a:schemeClr val="tx1"/>
                          </a:solidFill>
                          <a:latin typeface="Arial"/>
                          <a:ea typeface="Arial"/>
                          <a:cs typeface="Arial"/>
                        </a:rPr>
                        <a:t>API hợp lệ (7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1M → 100k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SAVE10 500k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SAVE10 300k → 30k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600k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500k → 50k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VIP100 400k/300k → 100k</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530352">
                <a:tc>
                  <a:txBody>
                    <a:bodyPr/>
                    <a:lstStyle/>
                    <a:p>
                      <a:pPr algn="l">
                        <a:buNone/>
                      </a:pPr>
                      <a:r>
                        <a:rPr sz="1100" b="1">
                          <a:solidFill>
                            <a:schemeClr val="tx1"/>
                          </a:solidFill>
                          <a:latin typeface="Arial"/>
                          <a:ea typeface="Arial"/>
                          <a:cs typeface="Arial"/>
                        </a:rPr>
                        <a:t>Hết hạn (2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EXPIRED 200k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EXPIRED 5M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Dưới ngưỡng (4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SAVE10 299,999</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SAVE10 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BIGBUY 499,999</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VIP100 100,000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Mã không hợp lệ (5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Thiếu code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Code rỗng → 400</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NOPE → 404</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save10 → 404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Inactive → 404</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Bất biến percent (3 ca)</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2 ca: có/không user_id</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discount trong [0, total]</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final &lt; total</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r h="530352">
                <a:tc>
                  <a:txBody>
                    <a:bodyPr/>
                    <a:lstStyle/>
                    <a:p>
                      <a:pPr algn="l">
                        <a:buNone/>
                      </a:pPr>
                      <a:r>
                        <a:rPr sz="1100" b="1">
                          <a:solidFill>
                            <a:schemeClr val="tx1"/>
                          </a:solidFill>
                          <a:latin typeface="Arial"/>
                          <a:ea typeface="Arial"/>
                          <a:cs typeface="Arial"/>
                        </a:rPr>
                        <a:t>CI unit suite (23 test)</a:t>
                      </a:r>
                    </a:p>
                    <a:p>
                      <a:pPr algn="l">
                        <a:buNone/>
                      </a:pPr>
                      <a:r>
                        <a:rPr sz="10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coupon-discount.unit.test.js</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ctr">
                        <a:buNone/>
                      </a:pPr>
                      <a:r>
                        <a:rPr sz="1100" b="1">
                          <a:solidFill>
                            <a:schemeClr val="tx1"/>
                          </a:solidFill>
                          <a:latin typeface="Arial"/>
                          <a:ea typeface="Arial"/>
                          <a:cs typeface="Arial"/>
                        </a:rPr>
                        <a:t>Chọn bởi jest.demo.config.js</a:t>
                      </a:r>
                    </a:p>
                    <a:p>
                      <a:pPr algn="ctr">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algn="l">
                        <a:buNone/>
                      </a:pPr>
                      <a:r>
                        <a:rPr sz="1100" b="0">
                          <a:solidFill>
                            <a:schemeClr val="tx1"/>
                          </a:solidFill>
                          <a:latin typeface="Arial"/>
                          <a:ea typeface="Arial"/>
                          <a:cs typeface="Arial"/>
                        </a:rPr>
                        <a:t>Không gọi API</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c>
                  <a:txBody>
                    <a:bodyPr/>
                    <a:lstStyle/>
                    <a:p>
                      <a:pPr algn="l">
                        <a:buNone/>
                      </a:pPr>
                      <a:r>
                        <a:rPr sz="1100" b="0">
                          <a:solidFill>
                            <a:schemeClr val="tx1"/>
                          </a:solidFill>
                          <a:latin typeface="Arial"/>
                          <a:ea typeface="Arial"/>
                          <a:cs typeface="Arial"/>
                        </a:rPr>
                        <a:t/>
                      </a:r>
                    </a:p>
                  </a:txBody>
                  <a:tcPr marL="68580" marR="68580" marT="36000" marB="3600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chemeClr val="bg2"/>
                    </a:solidFill>
                  </a:tcPr>
                </a:tc>
              </a:tr>
            </a:tbl>
          </a:graphicData>
        </a:graphic>
      </p:graphicFrame>
      <p:sp>
        <p:nvSpPr>
          <p:cNvPr id="27" name="test.each snippet">
            <a:extLst xmlns:a="http://schemas.openxmlformats.org/drawingml/2006/main">
              <a:ext uri="{FF2B5EF4-FFF2-40B4-BE49-F238E27FC236}">
                <a16:creationId xmlns:a16="http://schemas.microsoft.com/office/drawing/2014/main" id="{9774397A-4332-46ED-AE41-C2D024C9357E}"/>
              </a:ext>
            </a:extLst>
          </p:cNvPr>
          <p:cNvSpPr>
            <a:spLocks xmlns:a="http://schemas.openxmlformats.org/drawingml/2006/main" noGrp="1"/>
          </p:cNvSpPr>
          <p:nvPr/>
        </p:nvSpPr>
        <p:spPr>
          <a:xfrm xmlns:a="http://schemas.openxmlformats.org/drawingml/2006/main">
            <a:off x="548640" y="4983480"/>
            <a:ext cx="11064240" cy="11887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ln>
        </p:spPr>
        <p:txBody>
          <a:bodyPr xmlns:a="http://schemas.openxmlformats.org/drawingml/2006/main" wrap="square" lIns="137160" tIns="96012" rIns="137160" bIns="96012" anchor="ctr">
            <a:spAutoFit/>
          </a:bodyPr>
          <a:lstStyle xmlns:a="http://schemas.openxmlformats.org/drawingml/2006/main"/>
          <a:p xmlns:a="http://schemas.openxmlformats.org/drawingml/2006/main">
            <a:pPr>
              <a:spcAft>
                <a:spcPts val="200"/>
              </a:spcAft>
              <a:buNone/>
            </a:pPr>
            <a:r>
              <a:rPr sz="1200" b="0">
                <a:solidFill>
                  <a:schemeClr val="tx1"/>
                </a:solidFill>
                <a:latin typeface="Courier New"/>
                <a:ea typeface="Courier New"/>
                <a:cs typeface="Courier New"/>
              </a:rPr>
              <a:t>CI unit suite: jest.demo.config.js → coupon-discount.unit.test.js (23 test)</a:t>
            </a:r>
          </a:p>
          <a:p xmlns:a="http://schemas.openxmlformats.org/drawingml/2006/main">
            <a:pPr>
              <a:spcAft>
                <a:spcPts val="0"/>
              </a:spcAft>
              <a:buNone/>
            </a:pPr>
            <a:r>
              <a:rPr sz="1200" b="0">
                <a:solidFill>
                  <a:schemeClr val="tx1"/>
                </a:solidFill>
                <a:latin typeface="Courier New"/>
                <a:ea typeface="Courier New"/>
                <a:cs typeface="Courier New"/>
              </a:rPr>
              <a:t>API suite riêng: backend/tests/coupon.test.js (21 ca; Supertest)</a:t>
            </a:r>
          </a:p>
          <a:p xmlns:a="http://schemas.openxmlformats.org/drawingml/2006/main">
            <a:pPr>
              <a:spcAft>
                <a:spcPts val="0"/>
              </a:spcAft>
              <a:buNone/>
            </a:pPr>
            <a:r>
              <a:rPr sz="1200" b="0">
                <a:solidFill>
                  <a:schemeClr val="tx1"/>
                </a:solidFill>
                <a:latin typeface="Courier New"/>
                <a:ea typeface="Courier New"/>
                <a:cs typeface="Courier New"/>
              </a:rPr>
              <a:t>Route POST /api/apply-coupon không gắn authenticateToken.</a:t>
            </a:r>
          </a:p>
          <a:p xmlns:a="http://schemas.openxmlformats.org/drawingml/2006/main">
            <a:pPr>
              <a:spcAft>
                <a:spcPts val="0"/>
              </a:spcAft>
              <a:buNone/>
            </a:pPr>
            <a:r>
              <a:rPr sz="1200" b="0">
                <a:solidFill>
                  <a:schemeClr val="tx1"/>
                </a:solidFill>
                <a:latin typeface="Courier New"/>
                <a:ea typeface="Courier New"/>
                <a:cs typeface="Courier New"/>
              </a:rPr>
              <a:t>API test suite tách biệt với CI unit suite.</a:t>
            </a:r>
          </a:p>
          <a:p xmlns:a="http://schemas.openxmlformats.org/drawingml/2006/main">
            <a:pPr>
              <a:spcAft>
                <a:spcPts val="0"/>
              </a:spcAft>
              <a:buNone/>
            </a:pPr>
            <a:r>
              <a:rPr sz="1200" b="0">
                <a:solidFill>
                  <a:schemeClr val="tx1"/>
                </a:solidFill>
                <a:latin typeface="Courier New"/>
                <a:ea typeface="Courier New"/>
                <a:cs typeface="Courier New"/>
              </a:rPr>
              <a:t/>
            </a:r>
          </a:p>
        </p:txBody>
      </p:sp>
    </p:spTree>
    <p:extLst>
      <p:ext uri="{BB962C8B-B14F-4D97-AF65-F5344CB8AC3E}">
        <p14:creationId xmlns:p14="http://schemas.microsoft.com/office/powerpoint/2010/main" val="16811597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FE84E5-E517-451A-8A25-6A861DBE767D}"/>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AI Log Triage khi PR có Backend Test fail</a:t>
            </a:r>
            <a:endParaRPr sz="3600"/>
          </a:p>
        </p:txBody>
      </p:sp>
      <p:sp>
        <p:nvSpPr>
          <p:cNvPr id="4" name="Text 1">
            <a:extLst xmlns:a="http://schemas.openxmlformats.org/drawingml/2006/main">
              <a:ext uri="{FF2B5EF4-FFF2-40B4-BE49-F238E27FC236}">
                <a16:creationId xmlns:a16="http://schemas.microsoft.com/office/drawing/2014/main" id="{917F364F-402A-4345-8236-9B3FB8F7F47F}"/>
              </a:ext>
            </a:extLst>
          </p:cNvPr>
          <p:cNvSpPr>
            <a:spLocks xmlns:a="http://schemas.openxmlformats.org/drawingml/2006/main" noGrp="1"/>
          </p:cNvSpPr>
          <p:nvPr/>
        </p:nvSpPr>
        <p:spPr>
          <a:xfrm xmlns:a="http://schemas.openxmlformats.org/drawingml/2006/main">
            <a:off x="59436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PR có test thất bại</a:t>
            </a:r>
            <a:endParaRPr sz="1300"/>
          </a:p>
        </p:txBody>
      </p:sp>
      <p:sp>
        <p:nvSpPr>
          <p:cNvPr id="5" name="Shape 2">
            <a:extLst xmlns:a="http://schemas.openxmlformats.org/drawingml/2006/main">
              <a:ext uri="{FF2B5EF4-FFF2-40B4-BE49-F238E27FC236}">
                <a16:creationId xmlns:a16="http://schemas.microsoft.com/office/drawing/2014/main" id="{D66D6CA5-139F-4AA9-97E5-57D195AE37C4}"/>
              </a:ext>
            </a:extLst>
          </p:cNvPr>
          <p:cNvSpPr>
            <a:spLocks xmlns:a="http://schemas.openxmlformats.org/drawingml/2006/main" noGrp="1"/>
          </p:cNvSpPr>
          <p:nvPr/>
        </p:nvSpPr>
        <p:spPr>
          <a:xfrm xmlns:a="http://schemas.openxmlformats.org/drawingml/2006/main">
            <a:off x="219456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6" name="Text 3">
            <a:extLst xmlns:a="http://schemas.openxmlformats.org/drawingml/2006/main">
              <a:ext uri="{FF2B5EF4-FFF2-40B4-BE49-F238E27FC236}">
                <a16:creationId xmlns:a16="http://schemas.microsoft.com/office/drawing/2014/main" id="{36E2886B-C972-4B99-B03E-F2F546A9FBBB}"/>
              </a:ext>
            </a:extLst>
          </p:cNvPr>
          <p:cNvSpPr>
            <a:spLocks xmlns:a="http://schemas.openxmlformats.org/drawingml/2006/main" noGrp="1"/>
          </p:cNvSpPr>
          <p:nvPr/>
        </p:nvSpPr>
        <p:spPr>
          <a:xfrm xmlns:a="http://schemas.openxmlformats.org/drawingml/2006/main">
            <a:off x="246888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Chỉ khi Backend Test fail</a:t>
            </a:r>
            <a:endParaRPr sz="1300"/>
          </a:p>
        </p:txBody>
      </p:sp>
      <p:sp>
        <p:nvSpPr>
          <p:cNvPr id="7" name="Shape 4">
            <a:extLst xmlns:a="http://schemas.openxmlformats.org/drawingml/2006/main">
              <a:ext uri="{FF2B5EF4-FFF2-40B4-BE49-F238E27FC236}">
                <a16:creationId xmlns:a16="http://schemas.microsoft.com/office/drawing/2014/main" id="{086403AB-8890-4E38-B6DC-969E86CBDB08}"/>
              </a:ext>
            </a:extLst>
          </p:cNvPr>
          <p:cNvSpPr>
            <a:spLocks xmlns:a="http://schemas.openxmlformats.org/drawingml/2006/main" noGrp="1"/>
          </p:cNvSpPr>
          <p:nvPr/>
        </p:nvSpPr>
        <p:spPr>
          <a:xfrm xmlns:a="http://schemas.openxmlformats.org/drawingml/2006/main">
            <a:off x="406908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8" name="Text 5">
            <a:extLst xmlns:a="http://schemas.openxmlformats.org/drawingml/2006/main">
              <a:ext uri="{FF2B5EF4-FFF2-40B4-BE49-F238E27FC236}">
                <a16:creationId xmlns:a16="http://schemas.microsoft.com/office/drawing/2014/main" id="{D946923B-6E5F-4C6D-B4C9-0567E2128DBB}"/>
              </a:ext>
            </a:extLst>
          </p:cNvPr>
          <p:cNvSpPr>
            <a:spLocks xmlns:a="http://schemas.openxmlformats.org/drawingml/2006/main" noGrp="1"/>
          </p:cNvSpPr>
          <p:nvPr/>
        </p:nvSpPr>
        <p:spPr>
          <a:xfrm xmlns:a="http://schemas.openxmlformats.org/drawingml/2006/main">
            <a:off x="434340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ai_triage.py</a:t>
            </a:r>
            <a:endParaRPr sz="1300"/>
          </a:p>
          <a:p xmlns:a="http://schemas.openxmlformats.org/drawingml/2006/main">
            <a:pPr marL="0" indent="0" algn="ctr">
              <a:buNone/>
            </a:pPr>
            <a:r>
              <a:rPr sz="1300">
                <a:solidFill>
                  <a:schemeClr val="tx1"/>
                </a:solidFill>
                <a:latin typeface="Arial"/>
                <a:ea typeface="Arial"/>
                <a:cs typeface="Arial"/>
              </a:rPr>
              <a:t>100 dòng log cuối</a:t>
            </a:r>
            <a:endParaRPr sz="1300"/>
          </a:p>
        </p:txBody>
      </p:sp>
      <p:sp>
        <p:nvSpPr>
          <p:cNvPr id="9" name="Shape 6">
            <a:extLst xmlns:a="http://schemas.openxmlformats.org/drawingml/2006/main">
              <a:ext uri="{FF2B5EF4-FFF2-40B4-BE49-F238E27FC236}">
                <a16:creationId xmlns:a16="http://schemas.microsoft.com/office/drawing/2014/main" id="{24F71A9E-50A8-416A-B017-98F4034863D2}"/>
              </a:ext>
            </a:extLst>
          </p:cNvPr>
          <p:cNvSpPr>
            <a:spLocks xmlns:a="http://schemas.openxmlformats.org/drawingml/2006/main" noGrp="1"/>
          </p:cNvSpPr>
          <p:nvPr/>
        </p:nvSpPr>
        <p:spPr>
          <a:xfrm xmlns:a="http://schemas.openxmlformats.org/drawingml/2006/main">
            <a:off x="594360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0" name="Text 7">
            <a:extLst xmlns:a="http://schemas.openxmlformats.org/drawingml/2006/main">
              <a:ext uri="{FF2B5EF4-FFF2-40B4-BE49-F238E27FC236}">
                <a16:creationId xmlns:a16="http://schemas.microsoft.com/office/drawing/2014/main" id="{0E632868-2DE4-4B94-A87B-6E32783E9088}"/>
              </a:ext>
            </a:extLst>
          </p:cNvPr>
          <p:cNvSpPr>
            <a:spLocks xmlns:a="http://schemas.openxmlformats.org/drawingml/2006/main" noGrp="1"/>
          </p:cNvSpPr>
          <p:nvPr/>
        </p:nvSpPr>
        <p:spPr>
          <a:xfrm xmlns:a="http://schemas.openxmlformats.org/drawingml/2006/main">
            <a:off x="621792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Gemini API</a:t>
            </a:r>
            <a:endParaRPr sz="1300"/>
          </a:p>
        </p:txBody>
      </p:sp>
      <p:sp>
        <p:nvSpPr>
          <p:cNvPr id="11" name="Shape 8">
            <a:extLst xmlns:a="http://schemas.openxmlformats.org/drawingml/2006/main">
              <a:ext uri="{FF2B5EF4-FFF2-40B4-BE49-F238E27FC236}">
                <a16:creationId xmlns:a16="http://schemas.microsoft.com/office/drawing/2014/main" id="{3DB56AA7-8E86-4389-BF7E-E9B1ED38C9E1}"/>
              </a:ext>
            </a:extLst>
          </p:cNvPr>
          <p:cNvSpPr>
            <a:spLocks xmlns:a="http://schemas.openxmlformats.org/drawingml/2006/main" noGrp="1"/>
          </p:cNvSpPr>
          <p:nvPr/>
        </p:nvSpPr>
        <p:spPr>
          <a:xfrm xmlns:a="http://schemas.openxmlformats.org/drawingml/2006/main">
            <a:off x="781812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2" name="Text 9">
            <a:extLst xmlns:a="http://schemas.openxmlformats.org/drawingml/2006/main">
              <a:ext uri="{FF2B5EF4-FFF2-40B4-BE49-F238E27FC236}">
                <a16:creationId xmlns:a16="http://schemas.microsoft.com/office/drawing/2014/main" id="{1DBD7394-BDCB-4D6F-94DA-5EA420BF8F16}"/>
              </a:ext>
            </a:extLst>
          </p:cNvPr>
          <p:cNvSpPr>
            <a:spLocks xmlns:a="http://schemas.openxmlformats.org/drawingml/2006/main" noGrp="1"/>
          </p:cNvSpPr>
          <p:nvPr/>
        </p:nvSpPr>
        <p:spPr>
          <a:xfrm xmlns:a="http://schemas.openxmlformats.org/drawingml/2006/main">
            <a:off x="809244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Hypothesis Tree</a:t>
            </a:r>
            <a:endParaRPr sz="1300"/>
          </a:p>
        </p:txBody>
      </p:sp>
      <p:sp>
        <p:nvSpPr>
          <p:cNvPr id="13" name="Shape 10">
            <a:extLst xmlns:a="http://schemas.openxmlformats.org/drawingml/2006/main">
              <a:ext uri="{FF2B5EF4-FFF2-40B4-BE49-F238E27FC236}">
                <a16:creationId xmlns:a16="http://schemas.microsoft.com/office/drawing/2014/main" id="{F1574210-7D39-4407-997B-FE154A0CF18D}"/>
              </a:ext>
            </a:extLst>
          </p:cNvPr>
          <p:cNvSpPr>
            <a:spLocks xmlns:a="http://schemas.openxmlformats.org/drawingml/2006/main" noGrp="1"/>
          </p:cNvSpPr>
          <p:nvPr/>
        </p:nvSpPr>
        <p:spPr>
          <a:xfrm xmlns:a="http://schemas.openxmlformats.org/drawingml/2006/main">
            <a:off x="9692640" y="1965960"/>
            <a:ext cx="274320" cy="0"/>
          </a:xfrm>
          <a:prstGeom xmlns:a="http://schemas.openxmlformats.org/drawingml/2006/main" prst="line">
            <a:avLst/>
          </a:prstGeom>
          <a:noFill xmlns:a="http://schemas.openxmlformats.org/drawingml/2006/main"/>
          <a:ln xmlns:a="http://schemas.openxmlformats.org/drawingml/2006/main" w="22225">
            <a:solidFill>
              <a:schemeClr val="tx1"/>
            </a:solidFill>
            <a:prstDash val="solid"/>
            <a:tailEnd type="triangle"/>
          </a:ln>
        </p:spPr>
      </p:sp>
      <p:sp>
        <p:nvSpPr>
          <p:cNvPr id="14" name="Text 11">
            <a:extLst xmlns:a="http://schemas.openxmlformats.org/drawingml/2006/main">
              <a:ext uri="{FF2B5EF4-FFF2-40B4-BE49-F238E27FC236}">
                <a16:creationId xmlns:a16="http://schemas.microsoft.com/office/drawing/2014/main" id="{86DD88DC-2454-4645-8FA0-0678002795C8}"/>
              </a:ext>
            </a:extLst>
          </p:cNvPr>
          <p:cNvSpPr>
            <a:spLocks xmlns:a="http://schemas.openxmlformats.org/drawingml/2006/main" noGrp="1"/>
          </p:cNvSpPr>
          <p:nvPr/>
        </p:nvSpPr>
        <p:spPr>
          <a:xfrm xmlns:a="http://schemas.openxmlformats.org/drawingml/2006/main">
            <a:off x="9966960" y="1463040"/>
            <a:ext cx="1600200" cy="100584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1300">
                <a:solidFill>
                  <a:schemeClr val="tx1"/>
                </a:solidFill>
                <a:latin typeface="Arial"/>
                <a:ea typeface="Arial"/>
                <a:cs typeface="Arial"/>
              </a:rPr>
              <a:t>GitHub Step Summary</a:t>
            </a:r>
            <a:endParaRPr sz="1300"/>
          </a:p>
        </p:txBody>
      </p:sp>
      <p:sp>
        <p:nvSpPr>
          <p:cNvPr id="15" name="Text 12">
            <a:extLst xmlns:a="http://schemas.openxmlformats.org/drawingml/2006/main">
              <a:ext uri="{FF2B5EF4-FFF2-40B4-BE49-F238E27FC236}">
                <a16:creationId xmlns:a16="http://schemas.microsoft.com/office/drawing/2014/main" id="{F27A1EEF-379C-454C-89AD-D2878F27EAC3}"/>
              </a:ext>
            </a:extLst>
          </p:cNvPr>
          <p:cNvSpPr>
            <a:spLocks xmlns:a="http://schemas.openxmlformats.org/drawingml/2006/main" noGrp="1"/>
          </p:cNvSpPr>
          <p:nvPr/>
        </p:nvSpPr>
        <p:spPr>
          <a:xfrm xmlns:a="http://schemas.openxmlformats.org/drawingml/2006/main">
            <a:off x="594360" y="2926080"/>
            <a:ext cx="3200400" cy="18288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4800" b="1">
                <a:solidFill>
                  <a:schemeClr val="tx1"/>
                </a:solidFill>
                <a:latin typeface="Arial"/>
                <a:ea typeface="Arial"/>
                <a:cs typeface="Arial"/>
              </a:rPr>
              <a:t>~2 phút</a:t>
            </a:r>
            <a:endParaRPr sz="1400"/>
          </a:p>
          <a:p xmlns:a="http://schemas.openxmlformats.org/drawingml/2006/main">
            <a:pPr marL="0" indent="0" algn="ctr">
              <a:buNone/>
            </a:pPr>
            <a:r>
              <a:rPr sz="1600">
                <a:solidFill>
                  <a:schemeClr val="tx1"/>
                </a:solidFill>
                <a:latin typeface="Arial"/>
                <a:ea typeface="Arial"/>
                <a:cs typeface="Arial"/>
              </a:rPr>
              <a:t>đọc log thủ công</a:t>
            </a:r>
            <a:endParaRPr sz="1400"/>
          </a:p>
        </p:txBody>
      </p:sp>
      <p:sp>
        <p:nvSpPr>
          <p:cNvPr id="16" name="Text 13">
            <a:extLst xmlns:a="http://schemas.openxmlformats.org/drawingml/2006/main">
              <a:ext uri="{FF2B5EF4-FFF2-40B4-BE49-F238E27FC236}">
                <a16:creationId xmlns:a16="http://schemas.microsoft.com/office/drawing/2014/main" id="{E83A97C7-ECFC-4EDA-BA66-537F9F03FE94}"/>
              </a:ext>
            </a:extLst>
          </p:cNvPr>
          <p:cNvSpPr>
            <a:spLocks xmlns:a="http://schemas.openxmlformats.org/drawingml/2006/main" noGrp="1"/>
          </p:cNvSpPr>
          <p:nvPr/>
        </p:nvSpPr>
        <p:spPr>
          <a:xfrm xmlns:a="http://schemas.openxmlformats.org/drawingml/2006/main">
            <a:off x="4023360" y="2926080"/>
            <a:ext cx="3200400" cy="182880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4800" b="1">
                <a:solidFill>
                  <a:schemeClr val="tx1"/>
                </a:solidFill>
                <a:latin typeface="Arial"/>
                <a:ea typeface="Arial"/>
                <a:cs typeface="Arial"/>
              </a:rPr>
              <a:t>~15 giây</a:t>
            </a:r>
            <a:endParaRPr sz="1400"/>
          </a:p>
          <a:p xmlns:a="http://schemas.openxmlformats.org/drawingml/2006/main">
            <a:pPr marL="0" indent="0" algn="ctr">
              <a:buNone/>
            </a:pPr>
            <a:r>
              <a:rPr sz="1600">
                <a:solidFill>
                  <a:schemeClr val="tx1"/>
                </a:solidFill>
                <a:latin typeface="Arial"/>
                <a:ea typeface="Arial"/>
                <a:cs typeface="Arial"/>
              </a:rPr>
              <a:t>AI Log Triage</a:t>
            </a:r>
            <a:endParaRPr sz="1400"/>
          </a:p>
        </p:txBody>
      </p:sp>
      <p:sp>
        <p:nvSpPr>
          <p:cNvPr id="17" name="Text 14">
            <a:extLst xmlns:a="http://schemas.openxmlformats.org/drawingml/2006/main">
              <a:ext uri="{FF2B5EF4-FFF2-40B4-BE49-F238E27FC236}">
                <a16:creationId xmlns:a16="http://schemas.microsoft.com/office/drawing/2014/main" id="{AA1FBA40-485E-4B7A-B5DE-A0D3091E1DBD}"/>
              </a:ext>
            </a:extLst>
          </p:cNvPr>
          <p:cNvSpPr>
            <a:spLocks xmlns:a="http://schemas.openxmlformats.org/drawingml/2006/main" noGrp="1"/>
          </p:cNvSpPr>
          <p:nvPr/>
        </p:nvSpPr>
        <p:spPr>
          <a:xfrm xmlns:a="http://schemas.openxmlformats.org/drawingml/2006/main">
            <a:off x="7498080" y="2926080"/>
            <a:ext cx="4114800" cy="1828800"/>
          </a:xfrm>
          <a:prstGeom xmlns:a="http://schemas.openxmlformats.org/drawingml/2006/main" prst="rect">
            <a:avLst/>
          </a:prstGeom>
          <a:solidFill xmlns:a="http://schemas.openxmlformats.org/drawingml/2006/main">
            <a:schemeClr val="bg1"/>
          </a:solidFill>
          <a:ln xmlns:a="http://schemas.openxmlformats.org/drawingml/2006/main" w="12700">
            <a:solidFill>
              <a:schemeClr val="tx1"/>
            </a:solidFill>
            <a:prstDash val="solid"/>
          </a:ln>
        </p:spPr>
        <p:txBody>
          <a:bodyPr xmlns:a="http://schemas.openxmlformats.org/drawingml/2006/main" wrap="square" lIns="152400" tIns="152400" rIns="152400" bIns="152400" anchor="ctr"/>
          <a:lstStyle xmlns:a="http://schemas.openxmlformats.org/drawingml/2006/main"/>
          <a:p xmlns:a="http://schemas.openxmlformats.org/drawingml/2006/main">
            <a:pPr marL="0" indent="0" algn="l">
              <a:spcAft>
                <a:spcPts val="400"/>
              </a:spcAft>
              <a:buNone/>
            </a:pPr>
            <a:r>
              <a:rPr sz="1800" b="1">
                <a:solidFill>
                  <a:schemeClr val="tx1"/>
                </a:solidFill>
                <a:latin typeface="Arial"/>
                <a:ea typeface="Arial"/>
                <a:cs typeface="Arial"/>
              </a:rPr>
              <a:t>Lưu ý</a:t>
            </a:r>
            <a:endParaRPr sz="1400"/>
          </a:p>
          <a:p xmlns:a="http://schemas.openxmlformats.org/drawingml/2006/main">
            <a:pPr marL="342900" indent="-342900" algn="l">
              <a:spcAft>
                <a:spcPts val="400"/>
              </a:spcAft>
              <a:buSzPct val="100000"/>
              <a:buChar char="•"/>
            </a:pPr>
            <a:r>
              <a:rPr sz="1400">
                <a:solidFill>
                  <a:schemeClr val="tx1"/>
                </a:solidFill>
                <a:latin typeface="Arial"/>
                <a:ea typeface="Arial"/>
                <a:cs typeface="Arial"/>
              </a:rPr>
              <a:t>Hypothesis Tree: Hiện tượng → Nguyên nhân → Hướng khắc phục</a:t>
            </a:r>
            <a:endParaRPr sz="1400"/>
          </a:p>
          <a:p xmlns:a="http://schemas.openxmlformats.org/drawingml/2006/main">
            <a:pPr marL="342900" indent="-342900" algn="l">
              <a:spcAft>
                <a:spcPts val="400"/>
              </a:spcAft>
              <a:buSzPct val="100000"/>
              <a:buChar char="•"/>
            </a:pPr>
            <a:r>
              <a:rPr sz="1400">
                <a:solidFill>
                  <a:schemeClr val="tx1"/>
                </a:solidFill>
                <a:latin typeface="Arial"/>
                <a:ea typeface="Arial"/>
                <a:cs typeface="Arial"/>
              </a:rPr>
              <a:t>Log bị cắt thiếu ngữ cảnh: AI có thể đoán sai (hallucination)</a:t>
            </a:r>
            <a:endParaRPr sz="1400"/>
          </a:p>
        </p:txBody>
      </p:sp>
      <p:sp>
        <p:nvSpPr>
          <p:cNvPr id="18" name="Text 15">
            <a:extLst xmlns:a="http://schemas.openxmlformats.org/drawingml/2006/main">
              <a:ext uri="{FF2B5EF4-FFF2-40B4-BE49-F238E27FC236}">
                <a16:creationId xmlns:a16="http://schemas.microsoft.com/office/drawing/2014/main" id="{3BCAD3BE-EC58-4B6C-B5E8-C7984CC886EE}"/>
              </a:ext>
            </a:extLst>
          </p:cNvPr>
          <p:cNvSpPr>
            <a:spLocks xmlns:a="http://schemas.openxmlformats.org/drawingml/2006/main" noGrp="1"/>
          </p:cNvSpPr>
          <p:nvPr/>
        </p:nvSpPr>
        <p:spPr>
          <a:xfrm xmlns:a="http://schemas.openxmlformats.org/drawingml/2006/main">
            <a:off x="594360" y="512064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tx1"/>
                </a:solidFill>
              </a:rPr>
              <a:t>Script: .github/scripts/ai_triage.py · tối đa 100 dòng log · GEMINI_API_KEY trong Secrets · chỉ chạy khi PR test fail</a:t>
            </a:r>
            <a:endParaRPr sz="1200"/>
          </a:p>
        </p:txBody>
      </p:sp>
      <p:sp>
        <p:nvSpPr>
          <p:cNvPr id="25" name="Slide Number Placeholder 0">
            <a:extLst xmlns:a="http://schemas.openxmlformats.org/drawingml/2006/main">
              <a:ext uri="{FF2B5EF4-FFF2-40B4-BE49-F238E27FC236}">
                <a16:creationId xmlns:a16="http://schemas.microsoft.com/office/drawing/2014/main" id="{4A85CA0D-7D25-49D8-827C-66C5A31C0571}"/>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11</a:t>
            </a:fld>
            <a:endParaRPr/>
          </a:p>
        </p:txBody>
      </p:sp>
    </p:spTree>
    <p:extLst>
      <p:ext uri="{BB962C8B-B14F-4D97-AF65-F5344CB8AC3E}">
        <p14:creationId xmlns:p14="http://schemas.microsoft.com/office/powerpoint/2010/main" val="102739293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8A95CB-813A-447A-8440-38BF4E41285B}"/>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Ước tính thời gian cache và AI triage</a:t>
            </a:r>
            <a:endParaRPr sz="3600"/>
          </a:p>
        </p:txBody>
      </p:sp>
      <p:graphicFrame>
        <p:nvGraphicFramePr>
          <p:cNvPr id="4" name="Chart 0">
            <a:extLst xmlns:a="http://schemas.openxmlformats.org/drawingml/2006/main">
              <a:ext uri="{FF2B5EF4-FFF2-40B4-BE49-F238E27FC236}">
                <a16:creationId xmlns:a16="http://schemas.microsoft.com/office/drawing/2014/main" id="{8E1E3DF3-CA95-4EF0-979C-9E1AAEA94D5C}"/>
              </a:ext>
            </a:extLst>
          </p:cNvPr>
          <p:cNvGraphicFramePr/>
          <p:nvPr/>
        </p:nvGraphicFramePr>
        <p:xfrm>
          <a:off xmlns:a="http://schemas.openxmlformats.org/drawingml/2006/main" x="548640" y="1371600"/>
          <a:ext xmlns:a="http://schemas.openxmlformats.org/drawingml/2006/main" cx="7132320" cy="4663440"/>
        </p:xfrm>
        <a:graphic xmlns:a="http://schemas.openxmlformats.org/drawingml/2006/main">
          <a:graphicData uri="http://schemas.openxmlformats.org/drawingml/2006/chart">
            <c:chart xmlns:r="http://schemas.openxmlformats.org/officeDocument/2006/relationships" xmlns:c="http://schemas.openxmlformats.org/drawingml/2006/chart" r:id="Rafdb61ccfc014f9a"/>
          </a:graphicData>
        </a:graphic>
      </p:graphicFrame>
      <p:sp>
        <p:nvSpPr>
          <p:cNvPr id="5" name="Text 1">
            <a:extLst xmlns:a="http://schemas.openxmlformats.org/drawingml/2006/main">
              <a:ext uri="{FF2B5EF4-FFF2-40B4-BE49-F238E27FC236}">
                <a16:creationId xmlns:a16="http://schemas.microsoft.com/office/drawing/2014/main" id="{553FFA16-5B4F-4453-AFF3-95EDC9884C36}"/>
              </a:ext>
            </a:extLst>
          </p:cNvPr>
          <p:cNvSpPr>
            <a:spLocks xmlns:a="http://schemas.openxmlformats.org/drawingml/2006/main" noGrp="1"/>
          </p:cNvSpPr>
          <p:nvPr/>
        </p:nvSpPr>
        <p:spPr>
          <a:xfrm xmlns:a="http://schemas.openxmlformats.org/drawingml/2006/main">
            <a:off x="8046720" y="1554480"/>
            <a:ext cx="3566160" cy="4206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1000"/>
              </a:spcAft>
              <a:buNone/>
            </a:pPr>
            <a:r>
              <a:rPr sz="2200" b="1">
                <a:solidFill>
                  <a:schemeClr val="tx1"/>
                </a:solidFill>
              </a:rPr>
              <a:t>Nhận xét</a:t>
            </a:r>
            <a:endParaRPr sz="1600"/>
          </a:p>
          <a:p xmlns:a="http://schemas.openxmlformats.org/drawingml/2006/main">
            <a:pPr marL="342900" indent="-342900">
              <a:spcAft>
                <a:spcPts val="1000"/>
              </a:spcAft>
              <a:buSzPct val="100000"/>
              <a:buChar char="•"/>
            </a:pPr>
            <a:r>
              <a:rPr sz="1600">
                <a:solidFill>
                  <a:schemeClr val="tx1"/>
                </a:solidFill>
              </a:rPr>
              <a:t>Cache rút bước cài đặt từ khoảng 60 giây xuống khoảng 5 giây</a:t>
            </a:r>
            <a:endParaRPr sz="1600"/>
          </a:p>
          <a:p xmlns:a="http://schemas.openxmlformats.org/drawingml/2006/main">
            <a:pPr marL="342900" indent="-342900">
              <a:spcAft>
                <a:spcPts val="1000"/>
              </a:spcAft>
              <a:buSzPct val="100000"/>
              <a:buChar char="•"/>
            </a:pPr>
            <a:r>
              <a:rPr sz="1600">
                <a:solidFill>
                  <a:schemeClr val="tx1"/>
                </a:solidFill>
              </a:rPr>
              <a:t>AI Log Triage rút thời gian điều tra từ khoảng 2 phút xuống khoảng 15 giây</a:t>
            </a:r>
            <a:endParaRPr sz="1600"/>
          </a:p>
          <a:p xmlns:a="http://schemas.openxmlformats.org/drawingml/2006/main">
            <a:pPr marL="0" indent="0">
              <a:spcAft>
                <a:spcPts val="1000"/>
              </a:spcAft>
              <a:buNone/>
            </a:pPr>
            <a:r>
              <a:rPr sz="1400" i="1">
                <a:solidFill>
                  <a:schemeClr val="tx1"/>
                </a:solidFill>
              </a:rPr>
              <a:t>Số liệu ước tính theo kế hoạch demo, cập nhật bằng số đo thực tế</a:t>
            </a:r>
            <a:endParaRPr sz="1600"/>
          </a:p>
        </p:txBody>
      </p:sp>
      <p:sp>
        <p:nvSpPr>
          <p:cNvPr id="25" name="Slide Number Placeholder 0">
            <a:extLst xmlns:a="http://schemas.openxmlformats.org/drawingml/2006/main">
              <a:ext uri="{FF2B5EF4-FFF2-40B4-BE49-F238E27FC236}">
                <a16:creationId xmlns:a16="http://schemas.microsoft.com/office/drawing/2014/main" id="{62523413-2FB6-4C2F-B007-6298626F9E9B}"/>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12</a:t>
            </a:fld>
            <a:endParaRPr/>
          </a:p>
        </p:txBody>
      </p:sp>
    </p:spTree>
    <p:extLst>
      <p:ext uri="{BB962C8B-B14F-4D97-AF65-F5344CB8AC3E}">
        <p14:creationId xmlns:p14="http://schemas.microsoft.com/office/powerpoint/2010/main" val="105727748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181D519-6CC2-43FF-9B2F-B314E28137B5}"/>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Độ bao phủ mã và phân quyền coupon</a:t>
            </a:r>
            <a:endParaRPr sz="3600"/>
          </a:p>
        </p:txBody>
      </p:sp>
      <p:sp>
        <p:nvSpPr>
          <p:cNvPr id="4" name="Text 1">
            <a:extLst xmlns:a="http://schemas.openxmlformats.org/drawingml/2006/main">
              <a:ext uri="{FF2B5EF4-FFF2-40B4-BE49-F238E27FC236}">
                <a16:creationId xmlns:a16="http://schemas.microsoft.com/office/drawing/2014/main" id="{673352D5-6F7F-4ACB-ACF8-3ADC1752C5C9}"/>
              </a:ext>
            </a:extLst>
          </p:cNvPr>
          <p:cNvSpPr>
            <a:spLocks xmlns:a="http://schemas.openxmlformats.org/drawingml/2006/main" noGrp="1"/>
          </p:cNvSpPr>
          <p:nvPr/>
        </p:nvSpPr>
        <p:spPr>
          <a:xfrm xmlns:a="http://schemas.openxmlformats.org/drawingml/2006/main">
            <a:off x="548640" y="1463040"/>
            <a:ext cx="5120640" cy="23774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6000" b="1">
                <a:solidFill>
                  <a:schemeClr val="tx1"/>
                </a:solidFill>
                <a:latin typeface="Arial"/>
                <a:ea typeface="Arial"/>
                <a:cs typeface="Arial"/>
              </a:rPr>
              <a:t>&gt; 70%</a:t>
            </a:r>
            <a:endParaRPr sz="1400"/>
          </a:p>
          <a:p xmlns:a="http://schemas.openxmlformats.org/drawingml/2006/main">
            <a:pPr marL="0" indent="0" algn="ctr">
              <a:buNone/>
            </a:pPr>
            <a:r>
              <a:rPr sz="1600">
                <a:solidFill>
                  <a:schemeClr val="tx1"/>
                </a:solidFill>
                <a:latin typeface="Arial"/>
                <a:ea typeface="Arial"/>
                <a:cs typeface="Arial"/>
              </a:rPr>
              <a:t>ngưỡng line coverage module coupon</a:t>
            </a:r>
            <a:endParaRPr sz="1400"/>
          </a:p>
        </p:txBody>
      </p:sp>
      <p:sp>
        <p:nvSpPr>
          <p:cNvPr id="5" name="Text 2">
            <a:extLst xmlns:a="http://schemas.openxmlformats.org/drawingml/2006/main">
              <a:ext uri="{FF2B5EF4-FFF2-40B4-BE49-F238E27FC236}">
                <a16:creationId xmlns:a16="http://schemas.microsoft.com/office/drawing/2014/main" id="{5C227E0E-6281-4757-9C91-39510A143A40}"/>
              </a:ext>
            </a:extLst>
          </p:cNvPr>
          <p:cNvSpPr>
            <a:spLocks xmlns:a="http://schemas.openxmlformats.org/drawingml/2006/main" noGrp="1"/>
          </p:cNvSpPr>
          <p:nvPr/>
        </p:nvSpPr>
        <p:spPr>
          <a:xfrm xmlns:a="http://schemas.openxmlformats.org/drawingml/2006/main">
            <a:off x="548640" y="4114800"/>
            <a:ext cx="5120640" cy="914400"/>
          </a:xfrm>
          <a:prstGeom xmlns:a="http://schemas.openxmlformats.org/drawingml/2006/main" prst="rect">
            <a:avLst/>
          </a:prstGeom>
          <a:solidFill xmlns:a="http://schemas.openxmlformats.org/drawingml/2006/main">
            <a:schemeClr val="bg1"/>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buNone/>
            </a:pPr>
            <a:r>
              <a:rPr sz="2000" b="1">
                <a:solidFill>
                  <a:schemeClr val="tx1"/>
                </a:solidFill>
                <a:latin typeface="Arial"/>
                <a:ea typeface="Arial"/>
                <a:cs typeface="Arial"/>
              </a:rPr>
              <a:t>Coverage thực tế: xem artifact CI của đúng commit</a:t>
            </a:r>
            <a:endParaRPr sz="2000"/>
          </a:p>
        </p:txBody>
      </p:sp>
      <p:sp>
        <p:nvSpPr>
          <p:cNvPr id="6" name="Text 3">
            <a:extLst xmlns:a="http://schemas.openxmlformats.org/drawingml/2006/main">
              <a:ext uri="{FF2B5EF4-FFF2-40B4-BE49-F238E27FC236}">
                <a16:creationId xmlns:a16="http://schemas.microsoft.com/office/drawing/2014/main" id="{E2048DCF-F886-4055-98C1-F1769DB7FA39}"/>
              </a:ext>
            </a:extLst>
          </p:cNvPr>
          <p:cNvSpPr>
            <a:spLocks xmlns:a="http://schemas.openxmlformats.org/drawingml/2006/main" noGrp="1"/>
          </p:cNvSpPr>
          <p:nvPr/>
        </p:nvSpPr>
        <p:spPr>
          <a:xfrm xmlns:a="http://schemas.openxmlformats.org/drawingml/2006/main">
            <a:off x="548640" y="530352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chemeClr val="tx1"/>
                </a:solidFill>
              </a:rPr>
              <a:t>Báo cáo LCOV</a:t>
            </a:r>
            <a:endParaRPr sz="1400"/>
          </a:p>
          <a:p xmlns:a="http://schemas.openxmlformats.org/drawingml/2006/main">
            <a:pPr marL="0" indent="0">
              <a:buNone/>
            </a:pPr>
            <a:r>
              <a:rPr sz="1300">
                <a:solidFill>
                  <a:schemeClr val="tx1"/>
                </a:solidFill>
                <a:latin typeface="Courier New"/>
                <a:ea typeface="Courier New"/>
                <a:cs typeface="Courier New"/>
              </a:rPr>
              <a:t>backend/coverage/lcov.info</a:t>
            </a:r>
            <a:endParaRPr sz="1400"/>
          </a:p>
        </p:txBody>
      </p:sp>
      <p:sp>
        <p:nvSpPr>
          <p:cNvPr id="7" name="Text 4">
            <a:extLst xmlns:a="http://schemas.openxmlformats.org/drawingml/2006/main">
              <a:ext uri="{FF2B5EF4-FFF2-40B4-BE49-F238E27FC236}">
                <a16:creationId xmlns:a16="http://schemas.microsoft.com/office/drawing/2014/main" id="{07DA696E-C381-49A1-8830-133919C8FA62}"/>
              </a:ext>
            </a:extLst>
          </p:cNvPr>
          <p:cNvSpPr>
            <a:spLocks xmlns:a="http://schemas.openxmlformats.org/drawingml/2006/main" noGrp="1"/>
          </p:cNvSpPr>
          <p:nvPr/>
        </p:nvSpPr>
        <p:spPr>
          <a:xfrm xmlns:a="http://schemas.openxmlformats.org/drawingml/2006/main">
            <a:off x="6126480" y="1463040"/>
            <a:ext cx="5486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chemeClr val="tx1"/>
                </a:solidFill>
              </a:rPr>
              <a:t>Phân quyền khi áp mã coupon</a:t>
            </a:r>
            <a:endParaRPr sz="2000"/>
          </a:p>
        </p:txBody>
      </p:sp>
      <p:graphicFrame>
        <p:nvGraphicFramePr>
          <p:cNvPr id="14" name="Table 0">
            <a:extLst xmlns:a="http://schemas.openxmlformats.org/drawingml/2006/main">
              <a:ext uri="{FF2B5EF4-FFF2-40B4-BE49-F238E27FC236}">
                <a16:creationId xmlns:a16="http://schemas.microsoft.com/office/drawing/2014/main" id="{E9CAA416-05B0-4456-BE9B-CA72A48833F8}"/>
              </a:ext>
            </a:extLst>
          </p:cNvPr>
          <p:cNvGraphicFramePr/>
          <p:nvPr/>
        </p:nvGraphicFramePr>
        <p:xfrm>
          <a:off xmlns:a="http://schemas.openxmlformats.org/drawingml/2006/main" x="6126480" y="2011680"/>
          <a:ext xmlns:a="http://schemas.openxmlformats.org/drawingml/2006/main" cx="5486400" cy="914400"/>
        </p:xfrm>
        <a:graphic xmlns:a="http://schemas.openxmlformats.org/drawingml/2006/main">
          <a:graphicData uri="http://schemas.openxmlformats.org/drawingml/2006/table">
            <a:tbl>
              <a:tblPr/>
              <a:tblGrid>
                <a:gridCol w="1188720"/>
                <a:gridCol w="1828800"/>
                <a:gridCol w="2468880"/>
              </a:tblGrid>
              <a:tr h="1051560">
                <a:tc>
                  <a:txBody>
                    <a:bodyPr/>
                    <a:lstStyle/>
                    <a:p>
                      <a:pPr marL="0" indent="0" algn="l">
                        <a:buNone/>
                      </a:pPr>
                      <a:r>
                        <a:rPr sz="1200" b="1">
                          <a:solidFill>
                            <a:srgbClr val="FFFFFF"/>
                          </a:solidFill>
                        </a:rPr>
                        <a:t>Vai trò</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Điều kiện</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c>
                  <a:txBody>
                    <a:bodyPr/>
                    <a:lstStyle/>
                    <a:p>
                      <a:pPr marL="0" indent="0" algn="l">
                        <a:buNone/>
                      </a:pPr>
                      <a:r>
                        <a:rPr sz="1200" b="1">
                          <a:solidFill>
                            <a:srgbClr val="FFFFFF"/>
                          </a:solidFill>
                        </a:rPr>
                        <a:t>Hành vi hiện tại trong SUT</a:t>
                      </a:r>
                      <a:endParaRPr sz="12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solidFill>
                      <a:srgbClr val="000000"/>
                    </a:solidFill>
                  </a:tcPr>
                </a:tc>
              </a:tr>
              <a:tr h="1051560">
                <a:tc>
                  <a:txBody>
                    <a:bodyPr/>
                    <a:lstStyle/>
                    <a:p>
                      <a:pPr marL="0" indent="0">
                        <a:buNone/>
                      </a:pPr>
                      <a:r>
                        <a:rPr sz="1600" b="1">
                          <a:solidFill>
                            <a:srgbClr val="000000"/>
                          </a:solidFill>
                        </a:rPr>
                        <a:t>Guest</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Không có token</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Mã hợp lệ vẫn được áp dụng</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1051560">
                <a:tc>
                  <a:txBody>
                    <a:bodyPr/>
                    <a:lstStyle/>
                    <a:p>
                      <a:pPr marL="0" indent="0">
                        <a:buNone/>
                      </a:pPr>
                      <a:r>
                        <a:rPr sz="1600" b="1">
                          <a:solidFill>
                            <a:srgbClr val="000000"/>
                          </a:solidFill>
                        </a:rPr>
                        <a:t>Guest</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Token sai</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Token không được kiểm tra</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r h="1051560">
                <a:tc>
                  <a:txBody>
                    <a:bodyPr/>
                    <a:lstStyle/>
                    <a:p>
                      <a:pPr marL="0" indent="0">
                        <a:buNone/>
                      </a:pPr>
                      <a:r>
                        <a:rPr sz="1600" b="1">
                          <a:solidFill>
                            <a:srgbClr val="000000"/>
                          </a:solidFill>
                        </a:rPr>
                        <a:t>User</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JWT hợp lệ</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c>
                  <a:txBody>
                    <a:bodyPr/>
                    <a:lstStyle/>
                    <a:p>
                      <a:pPr marL="0" indent="0">
                        <a:buNone/>
                      </a:pPr>
                      <a:r>
                        <a:rPr sz="1600">
                          <a:solidFill>
                            <a:srgbClr val="000000"/>
                          </a:solidFill>
                        </a:rPr>
                        <a:t>JWT không bắt buộc; user_id từ body</a:t>
                      </a:r>
                      <a:endParaRPr sz="1600"/>
                    </a:p>
                  </a:txBody>
                  <a:tcPr marL="91440" marR="91440" marT="45720" marB="45720" anchor="ctr">
                    <a:lnL w="12700" cmpd="sng">
                      <a:solidFill>
                        <a:srgbClr val="000000"/>
                      </a:solidFill>
                      <a:prstDash val="solid"/>
                    </a:lnL>
                    <a:lnR w="12700" cmpd="sng">
                      <a:solidFill>
                        <a:srgbClr val="000000"/>
                      </a:solidFill>
                      <a:prstDash val="solid"/>
                    </a:lnR>
                    <a:lnT w="12700" cmpd="sng">
                      <a:solidFill>
                        <a:srgbClr val="000000"/>
                      </a:solidFill>
                      <a:prstDash val="solid"/>
                    </a:lnT>
                    <a:lnB w="12700" cmpd="sng">
                      <a:solidFill>
                        <a:srgbClr val="000000"/>
                      </a:solidFill>
                      <a:prstDash val="solid"/>
                    </a:lnB>
                  </a:tcPr>
                </a:tc>
              </a:tr>
            </a:tbl>
          </a:graphicData>
        </a:graphic>
      </p:graphicFrame>
      <p:sp>
        <p:nvSpPr>
          <p:cNvPr id="25" name="Slide Number Placeholder 0">
            <a:extLst xmlns:a="http://schemas.openxmlformats.org/drawingml/2006/main">
              <a:ext uri="{FF2B5EF4-FFF2-40B4-BE49-F238E27FC236}">
                <a16:creationId xmlns:a16="http://schemas.microsoft.com/office/drawing/2014/main" id="{9E69757A-5EAE-41F7-8AB2-306F59FDC51A}"/>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13</a:t>
            </a:fld>
            <a:endParaRPr/>
          </a:p>
        </p:txBody>
      </p:sp>
    </p:spTree>
    <p:extLst>
      <p:ext uri="{BB962C8B-B14F-4D97-AF65-F5344CB8AC3E}">
        <p14:creationId xmlns:p14="http://schemas.microsoft.com/office/powerpoint/2010/main" val="76128610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0037E4-255B-486F-A27F-88BF6F345CD6}"/>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Demo video</a:t>
            </a:r>
            <a:endParaRPr sz="3600"/>
          </a:p>
        </p:txBody>
      </p:sp>
      <p:sp>
        <p:nvSpPr>
          <p:cNvPr id="4" name="Text 1">
            <a:extLst xmlns:a="http://schemas.openxmlformats.org/drawingml/2006/main">
              <a:ext uri="{FF2B5EF4-FFF2-40B4-BE49-F238E27FC236}">
                <a16:creationId xmlns:a16="http://schemas.microsoft.com/office/drawing/2014/main" id="{34C5BC14-0D5A-4D09-87EE-F08F7E49604C}"/>
              </a:ext>
            </a:extLst>
          </p:cNvPr>
          <p:cNvSpPr>
            <a:spLocks xmlns:a="http://schemas.openxmlformats.org/drawingml/2006/main" noGrp="1"/>
          </p:cNvSpPr>
          <p:nvPr/>
        </p:nvSpPr>
        <p:spPr>
          <a:xfrm xmlns:a="http://schemas.openxmlformats.org/drawingml/2006/main">
            <a:off x="548640" y="1554480"/>
            <a:ext cx="6583680" cy="4206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spcAft>
                <a:spcPts val="2200"/>
              </a:spcAft>
              <a:buSzPct val="100000"/>
              <a:buFont typeface="+mj-lt"/>
              <a:buAutoNum type="arabicPeriod" startAt="1"/>
            </a:pPr>
            <a:r>
              <a:rPr sz="2200">
                <a:solidFill>
                  <a:schemeClr val="tx1"/>
                </a:solidFill>
              </a:rPr>
              <a:t>Khởi tạo workflow eshop-ci.yml và tối ưu cache</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Commit lỗi: Quality Gate chặn merge, sửa lỗi, pipeline xanh</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Node.js 22; Branch Protection có script cấu hình</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Jest test.each phát hiện lỗi coupon</a:t>
            </a:r>
            <a:endParaRPr sz="2200"/>
          </a:p>
          <a:p xmlns:a="http://schemas.openxmlformats.org/drawingml/2006/main">
            <a:pPr marL="342900" indent="-342900">
              <a:spcAft>
                <a:spcPts val="2200"/>
              </a:spcAft>
              <a:buSzPct val="100000"/>
              <a:buFont typeface="+mj-lt"/>
              <a:buAutoNum type="arabicPeriod" startAt="1"/>
            </a:pPr>
            <a:r>
              <a:rPr sz="2200">
                <a:solidFill>
                  <a:schemeClr val="tx1"/>
                </a:solidFill>
              </a:rPr>
              <a:t>AI triage khi PR có Backend Test fail</a:t>
            </a:r>
            <a:endParaRPr sz="2200"/>
          </a:p>
        </p:txBody>
      </p:sp>
      <p:sp>
        <p:nvSpPr>
          <p:cNvPr id="5" name="Text 2">
            <a:extLst xmlns:a="http://schemas.openxmlformats.org/drawingml/2006/main">
              <a:ext uri="{FF2B5EF4-FFF2-40B4-BE49-F238E27FC236}">
                <a16:creationId xmlns:a16="http://schemas.microsoft.com/office/drawing/2014/main" id="{90ECA7BA-EDF8-4BFC-8D6C-1CFA6A6512C3}"/>
              </a:ext>
            </a:extLst>
          </p:cNvPr>
          <p:cNvSpPr>
            <a:spLocks xmlns:a="http://schemas.openxmlformats.org/drawingml/2006/main" noGrp="1"/>
          </p:cNvSpPr>
          <p:nvPr/>
        </p:nvSpPr>
        <p:spPr>
          <a:xfrm xmlns:a="http://schemas.openxmlformats.org/drawingml/2006/main">
            <a:off x="7589520" y="1645920"/>
            <a:ext cx="4023360" cy="3291840"/>
          </a:xfrm>
          <a:prstGeom xmlns:a="http://schemas.openxmlformats.org/drawingml/2006/main" prst="rect">
            <a:avLst/>
          </a:prstGeom>
          <a:solidFill xmlns:a="http://schemas.openxmlformats.org/drawingml/2006/main">
            <a:schemeClr val="bg2"/>
          </a:solidFill>
          <a:ln xmlns:a="http://schemas.openxmlformats.org/drawingml/2006/main" w="19050">
            <a:solidFill>
              <a:schemeClr val="tx1"/>
            </a:solidFill>
            <a:prstDash val="solid"/>
          </a:ln>
        </p:spPr>
        <p:txBody>
          <a:bodyPr xmlns:a="http://schemas.openxmlformats.org/drawingml/2006/main" wrap="square" lIns="76200" tIns="76200" rIns="76200" bIns="76200" anchor="ctr"/>
          <a:lstStyle xmlns:a="http://schemas.openxmlformats.org/drawingml/2006/main"/>
          <a:p xmlns:a="http://schemas.openxmlformats.org/drawingml/2006/main">
            <a:pPr marL="0" indent="0" algn="ctr">
              <a:spcAft>
                <a:spcPts val="1000"/>
              </a:spcAft>
              <a:buNone/>
            </a:pPr>
            <a:r>
              <a:rPr sz="1600">
                <a:solidFill>
                  <a:schemeClr val="tx1"/>
                </a:solidFill>
                <a:latin typeface="Arial"/>
                <a:ea typeface="Arial"/>
                <a:cs typeface="Arial"/>
              </a:rPr>
              <a:t>Link video:</a:t>
            </a:r>
            <a:endParaRPr sz="1400"/>
          </a:p>
          <a:p xmlns:a="http://schemas.openxmlformats.org/drawingml/2006/main">
            <a:pPr marL="0" indent="0" algn="ctr">
              <a:spcAft>
                <a:spcPts val="1000"/>
              </a:spcAft>
              <a:buNone/>
            </a:pPr>
            <a:r>
              <a:rPr sz="1800">
                <a:solidFill>
                  <a:schemeClr val="tx1"/>
                </a:solidFill>
                <a:latin typeface="Arial"/>
                <a:ea typeface="Arial"/>
                <a:cs typeface="Arial"/>
                <a:hlinkClick xmlns:r="http://schemas.openxmlformats.org/officeDocument/2006/relationships" r:id="R187f9876a4674346"/>
              </a:rPr>
              <a:t>Xem video trên YouTube</a:t>
            </a:r>
            <a:endParaRPr sz="1400"/>
          </a:p>
        </p:txBody>
      </p:sp>
      <p:sp>
        <p:nvSpPr>
          <p:cNvPr id="25" name="Slide Number Placeholder 0">
            <a:extLst xmlns:a="http://schemas.openxmlformats.org/drawingml/2006/main">
              <a:ext uri="{FF2B5EF4-FFF2-40B4-BE49-F238E27FC236}">
                <a16:creationId xmlns:a16="http://schemas.microsoft.com/office/drawing/2014/main" id="{6BA8AC6F-2BF3-47B9-9633-3835B5001527}"/>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14</a:t>
            </a:fld>
            <a:endParaRPr/>
          </a:p>
        </p:txBody>
      </p:sp>
    </p:spTree>
    <p:extLst>
      <p:ext uri="{BB962C8B-B14F-4D97-AF65-F5344CB8AC3E}">
        <p14:creationId xmlns:p14="http://schemas.microsoft.com/office/powerpoint/2010/main" val="199765604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77D1676-5295-4C28-AC66-B3E11347EDFE}"/>
              </a:ext>
            </a:extLst>
          </p:cNvPr>
          <p:cNvSpPr>
            <a:spLocks xmlns:a="http://schemas.openxmlformats.org/drawingml/2006/main" noGrp="1"/>
          </p:cNvSpPr>
          <p:nvPr>
            <p:ph type="title" idx="100" hasCustomPrompt="1"/>
          </p:nvPr>
        </p:nvSpPr>
        <p:spPr>
          <a:xfrm xmlns:a="http://schemas.openxmlformats.org/drawingml/2006/main">
            <a:off x="548640" y="365760"/>
            <a:ext cx="110642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600" b="1">
                <a:solidFill>
                  <a:schemeClr val="tx1"/>
                </a:solidFill>
              </a:rPr>
              <a:t>Kết luận và bài học</a:t>
            </a:r>
            <a:endParaRPr sz="3600"/>
          </a:p>
        </p:txBody>
      </p:sp>
      <p:sp>
        <p:nvSpPr>
          <p:cNvPr id="4" name="Text 1">
            <a:extLst xmlns:a="http://schemas.openxmlformats.org/drawingml/2006/main">
              <a:ext uri="{FF2B5EF4-FFF2-40B4-BE49-F238E27FC236}">
                <a16:creationId xmlns:a16="http://schemas.microsoft.com/office/drawing/2014/main" id="{84F16ACE-4E15-4313-86F2-DE89BD8CB2C9}"/>
              </a:ext>
            </a:extLst>
          </p:cNvPr>
          <p:cNvSpPr>
            <a:spLocks xmlns:a="http://schemas.openxmlformats.org/drawingml/2006/main" noGrp="1"/>
          </p:cNvSpPr>
          <p:nvPr/>
        </p:nvSpPr>
        <p:spPr>
          <a:xfrm xmlns:a="http://schemas.openxmlformats.org/drawingml/2006/main">
            <a:off x="548640" y="1463040"/>
            <a:ext cx="6583680" cy="3840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spcAft>
                <a:spcPts val="2400"/>
              </a:spcAft>
              <a:buSzPct val="100000"/>
              <a:buFont typeface="+mj-lt"/>
              <a:buAutoNum type="arabicPeriod" startAt="1"/>
            </a:pPr>
            <a:r>
              <a:rPr sz="2200">
                <a:solidFill>
                  <a:schemeClr val="tx1"/>
                </a:solidFill>
              </a:rPr>
              <a:t>CI chạy test và build; workflow hiện chưa deploy ứng dụng</a:t>
            </a:r>
            <a:endParaRPr sz="2200"/>
          </a:p>
          <a:p xmlns:a="http://schemas.openxmlformats.org/drawingml/2006/main">
            <a:pPr marL="342900" indent="-342900">
              <a:spcAft>
                <a:spcPts val="2400"/>
              </a:spcAft>
              <a:buSzPct val="100000"/>
              <a:buFont typeface="+mj-lt"/>
              <a:buAutoNum type="arabicPeriod" startAt="1"/>
            </a:pPr>
            <a:r>
              <a:rPr sz="2200">
                <a:solidFill>
                  <a:schemeClr val="tx1"/>
                </a:solidFill>
              </a:rPr>
              <a:t>Data-Driven Testing với test.each lộ lỗi coupon mà ca đơn lẻ dễ bỏ sót</a:t>
            </a:r>
            <a:endParaRPr sz="2200"/>
          </a:p>
          <a:p xmlns:a="http://schemas.openxmlformats.org/drawingml/2006/main">
            <a:pPr marL="342900" indent="-342900">
              <a:spcAft>
                <a:spcPts val="2400"/>
              </a:spcAft>
              <a:buSzPct val="100000"/>
              <a:buFont typeface="+mj-lt"/>
              <a:buAutoNum type="arabicPeriod" startAt="1"/>
            </a:pPr>
            <a:r>
              <a:rPr sz="2200">
                <a:solidFill>
                  <a:schemeClr val="tx1"/>
                </a:solidFill>
              </a:rPr>
              <a:t>AI Log Triage tăng tốc điều tra nhưng cần kiểm chứng với log đủ ngữ cảnh</a:t>
            </a:r>
            <a:endParaRPr sz="2200"/>
          </a:p>
        </p:txBody>
      </p:sp>
      <p:sp>
        <p:nvSpPr>
          <p:cNvPr id="5" name="Text 2">
            <a:extLst xmlns:a="http://schemas.openxmlformats.org/drawingml/2006/main">
              <a:ext uri="{FF2B5EF4-FFF2-40B4-BE49-F238E27FC236}">
                <a16:creationId xmlns:a16="http://schemas.microsoft.com/office/drawing/2014/main" id="{73DC3F86-EEBE-490B-8A91-4035E1C55361}"/>
              </a:ext>
            </a:extLst>
          </p:cNvPr>
          <p:cNvSpPr>
            <a:spLocks xmlns:a="http://schemas.openxmlformats.org/drawingml/2006/main" noGrp="1"/>
          </p:cNvSpPr>
          <p:nvPr/>
        </p:nvSpPr>
        <p:spPr>
          <a:xfrm xmlns:a="http://schemas.openxmlformats.org/drawingml/2006/main">
            <a:off x="7498080" y="1463040"/>
            <a:ext cx="4114800" cy="3474720"/>
          </a:xfrm>
          <a:prstGeom xmlns:a="http://schemas.openxmlformats.org/drawingml/2006/main" prst="rect">
            <a:avLst/>
          </a:prstGeom>
          <a:solidFill xmlns:a="http://schemas.openxmlformats.org/drawingml/2006/main">
            <a:schemeClr val="bg2"/>
          </a:solidFill>
          <a:ln xmlns:a="http://schemas.openxmlformats.org/drawingml/2006/main" w="12700">
            <a:solidFill>
              <a:schemeClr val="tx1"/>
            </a:solidFill>
            <a:prstDash val="solid"/>
          </a:ln>
        </p:spPr>
        <p:txBody>
          <a:bodyPr xmlns:a="http://schemas.openxmlformats.org/drawingml/2006/main" wrap="square" lIns="203200" tIns="203200" rIns="203200" bIns="203200" anchor="t"/>
          <a:lstStyle xmlns:a="http://schemas.openxmlformats.org/drawingml/2006/main"/>
          <a:p xmlns:a="http://schemas.openxmlformats.org/drawingml/2006/main">
            <a:pPr marL="0" indent="0" algn="l">
              <a:spcAft>
                <a:spcPts val="1200"/>
              </a:spcAft>
              <a:buNone/>
            </a:pPr>
            <a:r>
              <a:rPr sz="2000" b="1">
                <a:solidFill>
                  <a:schemeClr val="tx1"/>
                </a:solidFill>
                <a:latin typeface="Arial"/>
                <a:ea typeface="Arial"/>
                <a:cs typeface="Arial"/>
              </a:rPr>
              <a:t>Hạn chế</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Phụ thuộc hạ tầng GitHub</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Runner: ubuntu-latest (GitHub-hosted)</a:t>
            </a:r>
            <a:endParaRPr sz="1800"/>
          </a:p>
          <a:p xmlns:a="http://schemas.openxmlformats.org/drawingml/2006/main">
            <a:pPr marL="342900" indent="-342900" algn="l">
              <a:spcAft>
                <a:spcPts val="1200"/>
              </a:spcAft>
              <a:buSzPct val="100000"/>
              <a:buChar char="•"/>
            </a:pPr>
            <a:r>
              <a:rPr sz="1800">
                <a:solidFill>
                  <a:schemeClr val="tx1"/>
                </a:solidFill>
                <a:latin typeface="Arial"/>
                <a:ea typeface="Arial"/>
                <a:cs typeface="Arial"/>
              </a:rPr>
              <a:t>Log thiếu ngữ cảnh làm AI đoán sai</a:t>
            </a:r>
            <a:endParaRPr sz="1800"/>
          </a:p>
        </p:txBody>
      </p:sp>
      <p:sp>
        <p:nvSpPr>
          <p:cNvPr id="6" name="Text 3">
            <a:extLst xmlns:a="http://schemas.openxmlformats.org/drawingml/2006/main">
              <a:ext uri="{FF2B5EF4-FFF2-40B4-BE49-F238E27FC236}">
                <a16:creationId xmlns:a16="http://schemas.microsoft.com/office/drawing/2014/main" id="{1FF6C1BD-2523-45B8-BA4B-5D14120EABEC}"/>
              </a:ext>
            </a:extLst>
          </p:cNvPr>
          <p:cNvSpPr>
            <a:spLocks xmlns:a="http://schemas.openxmlformats.org/drawingml/2006/main" noGrp="1"/>
          </p:cNvSpPr>
          <p:nvPr/>
        </p:nvSpPr>
        <p:spPr>
          <a:xfrm xmlns:a="http://schemas.openxmlformats.org/drawingml/2006/main">
            <a:off x="548640" y="5577840"/>
            <a:ext cx="110642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chemeClr val="tx1"/>
                </a:solidFill>
              </a:rPr>
              <a:t>Mã nguồn: </a:t>
            </a:r>
            <a:r>
              <a:rPr sz="1800" u="sng">
                <a:solidFill>
                  <a:schemeClr val="tx1"/>
                </a:solidFill>
                <a:hlinkClick xmlns:r="http://schemas.openxmlformats.org/officeDocument/2006/relationships" r:id="R00237bd217ba4c42"/>
              </a:rPr>
              <a:t>github.com/SoftwareTesting-Group13/eshop-sut-seminar</a:t>
            </a:r>
            <a:endParaRPr sz="1800"/>
          </a:p>
        </p:txBody>
      </p:sp>
      <p:sp>
        <p:nvSpPr>
          <p:cNvPr id="25" name="Slide Number Placeholder 0">
            <a:extLst xmlns:a="http://schemas.openxmlformats.org/drawingml/2006/main">
              <a:ext uri="{FF2B5EF4-FFF2-40B4-BE49-F238E27FC236}">
                <a16:creationId xmlns:a16="http://schemas.microsoft.com/office/drawing/2014/main" id="{3334D437-A923-4999-BA78-91A356D8941A}"/>
              </a:ext>
            </a:extLst>
          </p:cNvPr>
          <p:cNvSpPr>
            <a:spLocks xmlns:a="http://schemas.openxmlformats.org/drawingml/2006/main" noGrp="1"/>
          </p:cNvSpPr>
          <p:nvPr>
            <p:ph type="sldNum" idx="4294967295"/>
          </p:nvPr>
        </p:nvSpPr>
        <p:spPr>
          <a:xfrm xmlns:a="http://schemas.openxmlformats.org/drawingml/2006/main">
            <a:off x="1106424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tx1"/>
                </a:solidFill>
              </a:defRPr>
            </a:lvl1pPr>
          </a:lstStyle>
          <a:p xmlns:a="http://schemas.openxmlformats.org/drawingml/2006/main">
            <a:pPr algn="r">
              <a:buNone/>
            </a:pPr>
            <a:fld id="{F7021451-1387-4CA6-816F-3879F97B5CBC}" type="slidenum">
              <a:rPr b="0"/>
              <a:t>15</a:t>
            </a:fld>
            <a:endParaRPr/>
          </a:p>
        </p:txBody>
      </p:sp>
    </p:spTree>
    <p:extLst>
      <p:ext uri="{BB962C8B-B14F-4D97-AF65-F5344CB8AC3E}">
        <p14:creationId xmlns:p14="http://schemas.microsoft.com/office/powerpoint/2010/main" val="1834536095"/>
      </p:ext>
    </p:extLst>
  </p:cSld>
</p:sld>
</file>

<file path=ppt/theme/theme1.xml><?xml version="1.0" encoding="utf-8"?>
<a:theme xmlns:a="http://schemas.openxmlformats.org/drawingml/2006/main" name="Mono Seminar">
  <a:themeElements>
    <a:clrScheme name="Mono Seminar">
      <a:dk1>
        <a:srgbClr val="000000"/>
      </a:dk1>
      <a:lt1>
        <a:srgbClr val="FFFFFF"/>
      </a:lt1>
      <a:dk2>
        <a:srgbClr val="404040"/>
      </a:dk2>
      <a:lt2>
        <a:srgbClr val="F2F2F2"/>
      </a:lt2>
      <a:accent1>
        <a:srgbClr val="000000"/>
      </a:accent1>
      <a:accent2>
        <a:srgbClr val="595959"/>
      </a:accent2>
      <a:accent3>
        <a:srgbClr val="7F7F7F"/>
      </a:accent3>
      <a:accent4>
        <a:srgbClr val="A6A6A6"/>
      </a:accent4>
      <a:accent5>
        <a:srgbClr val="D9D9D9"/>
      </a:accent5>
      <a:accent6>
        <a:srgbClr val="262626"/>
      </a:accent6>
      <a:hlink>
        <a:srgbClr val="000000"/>
      </a:hlink>
      <a:folHlink>
        <a:srgbClr val="404040"/>
      </a:folHlink>
    </a:clrScheme>
    <a:fontScheme name="Mono Semina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Mono Seminar">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2026-10-24T15:55:51.2130000Z</dcterms:created>
  <dcterms:modified xsi:type="dcterms:W3CDTF">2026-10-24T15:55:51.2130000Z</dcterms:modified>
</coreProperties>
</file>